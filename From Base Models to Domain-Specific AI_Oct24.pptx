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844"/>
    <p:restoredTop sz="86372"/>
  </p:normalViewPr>
  <p:slideViewPr>
    <p:cSldViewPr snapToGrid="0" snapToObjects="1">
      <p:cViewPr varScale="1">
        <p:scale>
          <a:sx n="212" d="100"/>
          <a:sy n="212" d="100"/>
        </p:scale>
        <p:origin x="1072"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9" d="100"/>
          <a:sy n="139" d="100"/>
        </p:scale>
        <p:origin x="61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350" b="1">
                <a:solidFill>
                  <a:srgbClr val="0D2137"/>
                </a:solidFill>
                <a:latin typeface="Calibri"/>
                <a:ea typeface="Calibri"/>
                <a:cs typeface="Calibri"/>
              </a:rPr>
              <a:t>T = 0.5 (more focused)</a:t>
            </a:r>
          </a:p>
        </c:rich>
      </c:tx>
      <c:overlay val="0"/>
    </c:title>
    <c:autoTitleDeleted val="0"/>
    <c:plotArea>
      <c:layout/>
      <c:barChart>
        <c:barDir val="col"/>
        <c:grouping val="clustered"/>
        <c:varyColors val="0"/>
        <c:ser>
          <c:idx val="0"/>
          <c:order val="0"/>
          <c:tx>
            <c:v>Probability</c:v>
          </c:tx>
          <c:spPr>
            <a:solidFill>
              <a:srgbClr val="3B82F6"/>
            </a:solidFill>
            <a:ln w="0">
              <a:noFill/>
            </a:ln>
          </c:spPr>
          <c:invertIfNegative val="1"/>
          <c:dPt>
            <c:idx val="0"/>
            <c:invertIfNegative val="0"/>
            <c:bubble3D val="0"/>
            <c:spPr>
              <a:solidFill>
                <a:srgbClr val="F59E0B"/>
              </a:solidFill>
              <a:ln w="0">
                <a:noFill/>
              </a:ln>
            </c:spPr>
            <c:extLst>
              <c:ext xmlns:c16="http://schemas.microsoft.com/office/drawing/2014/chart" uri="{C3380CC4-5D6E-409C-BE32-E72D297353CC}">
                <c16:uniqueId val="{00000001-C975-AF4E-B1A8-BDD8EDAC56BB}"/>
              </c:ext>
            </c:extLst>
          </c:dPt>
          <c:dLbls>
            <c:spPr>
              <a:noFill/>
              <a:ln>
                <a:noFill/>
              </a:ln>
              <a:effectLst/>
            </c:spPr>
            <c:txPr>
              <a:bodyPr anchorCtr="1"/>
              <a:lstStyle/>
              <a:p>
                <a:pPr>
                  <a:defRPr sz="1050">
                    <a:solidFill>
                      <a:srgbClr val="1E293B"/>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tired</c:v>
                </c:pt>
                <c:pt idx="1">
                  <c:v>hungry</c:v>
                </c:pt>
                <c:pt idx="2">
                  <c:v>cold</c:v>
                </c:pt>
                <c:pt idx="3">
                  <c:v>happy</c:v>
                </c:pt>
              </c:strCache>
            </c:strRef>
          </c:cat>
          <c:val>
            <c:numRef>
              <c:f>'Chart Data'!$B$2:$B$5</c:f>
              <c:numCache>
                <c:formatCode>0.0%</c:formatCode>
                <c:ptCount val="4"/>
                <c:pt idx="0">
                  <c:v>0.86495487679899996</c:v>
                </c:pt>
                <c:pt idx="1">
                  <c:v>0.117058913239</c:v>
                </c:pt>
                <c:pt idx="2">
                  <c:v>1.58422011785E-2</c:v>
                </c:pt>
                <c:pt idx="3">
                  <c:v>2.1440087835800001E-3</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2-C975-AF4E-B1A8-BDD8EDAC56BB}"/>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125">
                <a:solidFill>
                  <a:srgbClr val="334155"/>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5715">
              <a:solidFill>
                <a:srgbClr val="E2E8F0"/>
              </a:solidFill>
            </a:ln>
          </c:spPr>
        </c:majorGridlines>
        <c:numFmt formatCode="0.0%" sourceLinked="1"/>
        <c:majorTickMark val="none"/>
        <c:minorTickMark val="none"/>
        <c:tickLblPos val="nextTo"/>
        <c:spPr>
          <a:ln w="0">
            <a:noFill/>
          </a:ln>
        </c:spPr>
        <c:txPr>
          <a:bodyPr anchorCtr="1"/>
          <a:lstStyle/>
          <a:p>
            <a:pPr>
              <a:defRPr sz="900">
                <a:solidFill>
                  <a:srgbClr val="64748B"/>
                </a:solidFill>
                <a:latin typeface="Calibri"/>
                <a:ea typeface="Calibri"/>
                <a:cs typeface="Calibri"/>
              </a:defRPr>
            </a:pPr>
            <a:endParaRPr lang="en-US"/>
          </a:p>
        </c:txPr>
        <c:crossAx val="48650112"/>
        <c:crosses val="autoZero"/>
        <c:crossBetween val="between"/>
        <c:majorUnit val="0.5"/>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350" b="1">
                <a:solidFill>
                  <a:srgbClr val="0D2137"/>
                </a:solidFill>
                <a:latin typeface="Calibri"/>
                <a:ea typeface="Calibri"/>
                <a:cs typeface="Calibri"/>
              </a:rPr>
              <a:t>T = 1 (baseline)</a:t>
            </a:r>
          </a:p>
        </c:rich>
      </c:tx>
      <c:overlay val="0"/>
    </c:title>
    <c:autoTitleDeleted val="0"/>
    <c:plotArea>
      <c:layout/>
      <c:barChart>
        <c:barDir val="col"/>
        <c:grouping val="clustered"/>
        <c:varyColors val="0"/>
        <c:ser>
          <c:idx val="0"/>
          <c:order val="0"/>
          <c:tx>
            <c:v>Probability</c:v>
          </c:tx>
          <c:spPr>
            <a:solidFill>
              <a:srgbClr val="3B82F6"/>
            </a:solidFill>
            <a:ln w="0">
              <a:noFill/>
            </a:ln>
          </c:spPr>
          <c:invertIfNegative val="1"/>
          <c:dPt>
            <c:idx val="0"/>
            <c:invertIfNegative val="0"/>
            <c:bubble3D val="0"/>
            <c:spPr>
              <a:solidFill>
                <a:srgbClr val="F59E0B"/>
              </a:solidFill>
              <a:ln w="0">
                <a:noFill/>
              </a:ln>
            </c:spPr>
            <c:extLst>
              <c:ext xmlns:c16="http://schemas.microsoft.com/office/drawing/2014/chart" uri="{C3380CC4-5D6E-409C-BE32-E72D297353CC}">
                <c16:uniqueId val="{00000001-3784-4142-9107-D6A568972D08}"/>
              </c:ext>
            </c:extLst>
          </c:dPt>
          <c:dLbls>
            <c:spPr>
              <a:noFill/>
              <a:ln>
                <a:noFill/>
              </a:ln>
              <a:effectLst/>
            </c:spPr>
            <c:txPr>
              <a:bodyPr anchorCtr="1"/>
              <a:lstStyle/>
              <a:p>
                <a:pPr>
                  <a:defRPr sz="1050">
                    <a:solidFill>
                      <a:srgbClr val="1E293B"/>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tired</c:v>
                </c:pt>
                <c:pt idx="1">
                  <c:v>hungry</c:v>
                </c:pt>
                <c:pt idx="2">
                  <c:v>cold</c:v>
                </c:pt>
                <c:pt idx="3">
                  <c:v>happy</c:v>
                </c:pt>
              </c:strCache>
            </c:strRef>
          </c:cat>
          <c:val>
            <c:numRef>
              <c:f>'Chart Data'!$B$2:$B$5</c:f>
              <c:numCache>
                <c:formatCode>0.0%</c:formatCode>
                <c:ptCount val="4"/>
                <c:pt idx="0">
                  <c:v>0.643914259888</c:v>
                </c:pt>
                <c:pt idx="1">
                  <c:v>0.23688281809</c:v>
                </c:pt>
                <c:pt idx="2">
                  <c:v>8.7144318742000001E-2</c:v>
                </c:pt>
                <c:pt idx="3">
                  <c:v>3.2058603280099997E-2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2-3784-4142-9107-D6A568972D08}"/>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125">
                <a:solidFill>
                  <a:srgbClr val="334155"/>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5715">
              <a:solidFill>
                <a:srgbClr val="E2E8F0"/>
              </a:solidFill>
            </a:ln>
          </c:spPr>
        </c:majorGridlines>
        <c:numFmt formatCode="0.0%" sourceLinked="1"/>
        <c:majorTickMark val="none"/>
        <c:minorTickMark val="none"/>
        <c:tickLblPos val="nextTo"/>
        <c:spPr>
          <a:ln w="0">
            <a:noFill/>
          </a:ln>
        </c:spPr>
        <c:txPr>
          <a:bodyPr anchorCtr="1"/>
          <a:lstStyle/>
          <a:p>
            <a:pPr>
              <a:defRPr sz="900">
                <a:solidFill>
                  <a:srgbClr val="64748B"/>
                </a:solidFill>
                <a:latin typeface="Calibri"/>
                <a:ea typeface="Calibri"/>
                <a:cs typeface="Calibri"/>
              </a:defRPr>
            </a:pPr>
            <a:endParaRPr lang="en-US"/>
          </a:p>
        </c:txPr>
        <c:crossAx val="48650112"/>
        <c:crosses val="autoZero"/>
        <c:crossBetween val="between"/>
        <c:majorUnit val="0.5"/>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350" b="1">
                <a:solidFill>
                  <a:srgbClr val="0D2137"/>
                </a:solidFill>
                <a:latin typeface="Calibri"/>
                <a:ea typeface="Calibri"/>
                <a:cs typeface="Calibri"/>
              </a:rPr>
              <a:t>T = 2 (more varied)</a:t>
            </a:r>
          </a:p>
        </c:rich>
      </c:tx>
      <c:overlay val="0"/>
    </c:title>
    <c:autoTitleDeleted val="0"/>
    <c:plotArea>
      <c:layout/>
      <c:barChart>
        <c:barDir val="col"/>
        <c:grouping val="clustered"/>
        <c:varyColors val="0"/>
        <c:ser>
          <c:idx val="0"/>
          <c:order val="0"/>
          <c:tx>
            <c:v>Probability</c:v>
          </c:tx>
          <c:spPr>
            <a:solidFill>
              <a:srgbClr val="3B82F6"/>
            </a:solidFill>
            <a:ln w="0">
              <a:noFill/>
            </a:ln>
          </c:spPr>
          <c:invertIfNegative val="1"/>
          <c:dPt>
            <c:idx val="0"/>
            <c:invertIfNegative val="0"/>
            <c:bubble3D val="0"/>
            <c:spPr>
              <a:solidFill>
                <a:srgbClr val="F59E0B"/>
              </a:solidFill>
              <a:ln w="0">
                <a:noFill/>
              </a:ln>
            </c:spPr>
            <c:extLst>
              <c:ext xmlns:c16="http://schemas.microsoft.com/office/drawing/2014/chart" uri="{C3380CC4-5D6E-409C-BE32-E72D297353CC}">
                <c16:uniqueId val="{00000001-4D69-C446-90F7-B22F65410956}"/>
              </c:ext>
            </c:extLst>
          </c:dPt>
          <c:dLbls>
            <c:spPr>
              <a:noFill/>
              <a:ln>
                <a:noFill/>
              </a:ln>
              <a:effectLst/>
            </c:spPr>
            <c:txPr>
              <a:bodyPr anchorCtr="1"/>
              <a:lstStyle/>
              <a:p>
                <a:pPr>
                  <a:defRPr sz="1050">
                    <a:solidFill>
                      <a:srgbClr val="1E293B"/>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tired</c:v>
                </c:pt>
                <c:pt idx="1">
                  <c:v>hungry</c:v>
                </c:pt>
                <c:pt idx="2">
                  <c:v>cold</c:v>
                </c:pt>
                <c:pt idx="3">
                  <c:v>happy</c:v>
                </c:pt>
              </c:strCache>
            </c:strRef>
          </c:cat>
          <c:val>
            <c:numRef>
              <c:f>'Chart Data'!$B$2:$B$5</c:f>
              <c:numCache>
                <c:formatCode>0.0%</c:formatCode>
                <c:ptCount val="4"/>
                <c:pt idx="0">
                  <c:v>0.45505423392299998</c:v>
                </c:pt>
                <c:pt idx="1">
                  <c:v>0.27600434470700003</c:v>
                </c:pt>
                <c:pt idx="2">
                  <c:v>0.16740509727799999</c:v>
                </c:pt>
                <c:pt idx="3">
                  <c:v>0.101536324092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2-4D69-C446-90F7-B22F65410956}"/>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125">
                <a:solidFill>
                  <a:srgbClr val="334155"/>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5715">
              <a:solidFill>
                <a:srgbClr val="E2E8F0"/>
              </a:solidFill>
            </a:ln>
          </c:spPr>
        </c:majorGridlines>
        <c:numFmt formatCode="0.0%" sourceLinked="1"/>
        <c:majorTickMark val="none"/>
        <c:minorTickMark val="none"/>
        <c:tickLblPos val="nextTo"/>
        <c:spPr>
          <a:ln w="0">
            <a:noFill/>
          </a:ln>
        </c:spPr>
        <c:txPr>
          <a:bodyPr anchorCtr="1"/>
          <a:lstStyle/>
          <a:p>
            <a:pPr>
              <a:defRPr sz="900">
                <a:solidFill>
                  <a:srgbClr val="64748B"/>
                </a:solidFill>
                <a:latin typeface="Calibri"/>
                <a:ea typeface="Calibri"/>
                <a:cs typeface="Calibri"/>
              </a:defRPr>
            </a:pPr>
            <a:endParaRPr lang="en-US"/>
          </a:p>
        </c:txPr>
        <c:crossAx val="48650112"/>
        <c:crosses val="autoZero"/>
        <c:crossBetween val="between"/>
        <c:majorUnit val="0.5"/>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approximately 1 minute. Welcome a mixed audience of students and professionals. Explain that the session connects familiar model names to the tensors, attention computations and training steps inside Qwen2.5-0.5B-Instruct. The final demonstration runs in Google Colab and compares responses before and after LoRA fine-tuning. Visual template and robot artwork: user-supplied AI_Productivity_IEEE_Session_S3_June.pptx.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approximately 1 minute. The first 27 minutes include introductions, a first look at model configurations, mental models, tokens and embeddings. Minutes 27–63 cover architecture history, attention, Qwen internals and learning versus generation, including Transformer Explainer. Minutes 63–80 explain LoRA and revisit model configuration. Reserve minutes 80–115 for Colab: load Qwen, inspect tokens and weights, inspect attention, save baseline responses, train adapters and evaluate the result. Close with 5 minutes of takeaways and questions. Timings follow the agreed 120-minute workshop plan. Template and artwork: user-supplied reference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Introduction, approximately 3 minutes. Biography supplied by Venkatesh Mohanram for this workshop: IEEE Senior Member and Consulting Member of Technical Staff at Oracle Corporation, with more than 18 years of experience in enterprise integration, cloud platforms, distributed systems and high-availability software. One of the founding engineers of Oracle Integration Cloud, contributing to core orchestration and platform capabilities, cloud-native modernization and AI-assisted integration features. Holds seven granted U.S. patents, including intelligent flow auto-completion and next-step or next-object prediction for integration workflows. Technical Paper Reviewer for IEEE iGET 2026 and IEEE eLearning Peer Reviewer. Invited speaker for the IEEE Orange County Computer Society GET-AI Series on AI-assisted software engineering and developer productivity. Broader work includes reliability engineering, enterprise platform design and mentoring through architecture and design reviews. Connect this experience to the workshop: understanding what models compute and what fine-tuning actually changes. Source: speaker-provided biography and 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DELIVERY (about 5 minutes)</a:t>
            </a:r>
          </a:p>
          <a:p>
            <a:r>
              <a:t>This is the audience's first encounter with model internals. Let them recognize the model names, then notice that each model has a different architecture. Avoid explaining every term now. Say: "These numbers describe the model's structure. The learned weights fill that structure. We will unpack these terms and return to the same configurations later." Highlight Qwen as the model that will run in our Colab demonstration. B means billion parameters. Parameter counts here are approximate and are not a quality ranking.</a:t>
            </a:r>
          </a:p>
          <a:p>
            <a:endParaRPr/>
          </a:p>
          <a:p>
            <a:r>
              <a:t>CONFIGURATION VALUES AND MEANINGS</a:t>
            </a:r>
          </a:p>
          <a:p>
            <a:r>
              <a:t>Hidden width: dimensions in each token's residual representation. Qwen 896, Llama 16384, GPT-oss 2880.</a:t>
            </a:r>
          </a:p>
          <a:p>
            <a:r>
              <a:t>MLP intermediate width: Qwen 4864, Llama 53248. GPT-oss 2880 PER EXPERT. These are intermediate gated feed-forward widths, not all MLP parameter counts or the concatenated gate/up projection width.</a:t>
            </a:r>
          </a:p>
          <a:p>
            <a:r>
              <a:t>Query heads: Qwen14, Llama128, GPT-oss64. K/V heads: Qwen2, Llama8, GPT-oss8. Head width: Qwen64, Llama128, GPT-oss64. Heads do not have preassigned noun or verb roles.</a:t>
            </a:r>
          </a:p>
          <a:p>
            <a:r>
              <a:t>Transformer blocks: Qwen24, Llama126, GPT-oss36. Each block includes attention and feed-forward computation with normalization and residual paths.</a:t>
            </a:r>
          </a:p>
          <a:p>
            <a:r>
              <a:t>Maximum position embeddings: Qwen32768, Llama131072, GPT-oss131072. These are configured token-position/context limits. They are not word counts, a promised useful recall length, or output-only limits. A serving implementation and generation settings may impose additional limits. Do not confuse GPT-oss's local attention window128 with its overall131072-token context.</a:t>
            </a:r>
          </a:p>
          <a:p>
            <a:endParaRPr/>
          </a:p>
          <a:p>
            <a:r>
              <a:t>IMPORTANT GPT-OSS DISTINCTIONS</a:t>
            </a:r>
          </a:p>
          <a:p>
            <a:r>
              <a:t>GPT-oss has 128 experts per MoE layer and selects4 per token. Approximately117B total parameters and5.1B active parameters per token. A smaller residual width does not imply fewer total parameters, since experts add many parameters. The head width is explicitly64:64 query heads ×64 =4096 query projection dimensions, which differs from hidden width2880. Therefore hidden width divided by query heads is not a universal equation. That shortcut happens to work for the Qwen and Llama configurations here. GPT-oss alternates sliding and full attention. Save the MoE mechanics for later questions or appendix detail.</a:t>
            </a:r>
          </a:p>
          <a:p>
            <a:endParaRPr/>
          </a:p>
          <a:p>
            <a:r>
              <a:t>MODEL IDENTITIES AND LLAMA VARIANT</a:t>
            </a:r>
          </a:p>
          <a:p>
            <a:r>
              <a:t>Qwen/Qwen2.5-0.5B-Instruct, about494 million parameters.</a:t>
            </a:r>
          </a:p>
          <a:p>
            <a:r>
              <a:t>meta-llama/Llama-3.1-405B-Instruct, standard Transformers checkpoint / Meta BF16-mp8 architecture with8KV heads. Meta's original BF16-mp16 representation lists16KV heads, so do not generalize this row to every checkpoint conversion. Llama3.1 405B is the large released dense Llama chosen for this comparison. Llama4 Maverick is a separate MoE architecture. Behemoth was previewed rather than used here.</a:t>
            </a:r>
          </a:p>
          <a:p>
            <a:r>
              <a:t>openai/gpt-oss-120b, about116.8B total (rounded117B on slide), about5.1B active per token. This open-weight model's internals do not disclose the architecture of proprietary GPT models. Use "open-weight models with published architectures" for this group rather than implying identical licensing or fully public training data.</a:t>
            </a:r>
          </a:p>
          <a:p>
            <a:endParaRPr/>
          </a:p>
          <a:p>
            <a:r>
              <a:t>PRIMARY SOURCES</a:t>
            </a:r>
          </a:p>
          <a:p>
            <a:r>
              <a:t>Qwen exact configuration:</a:t>
            </a:r>
          </a:p>
          <a:p>
            <a:r>
              <a:t>https://huggingface.co/Qwen/Qwen2.5-0.5B-Instruct/blob/main/config.json</a:t>
            </a:r>
          </a:p>
          <a:p>
            <a:r>
              <a:t>Qwen model card / parameter count:</a:t>
            </a:r>
          </a:p>
          <a:p>
            <a:r>
              <a:t>https://huggingface.co/Qwen/Qwen2.5-0.5B-Instruct</a:t>
            </a:r>
          </a:p>
          <a:p>
            <a:r>
              <a:t>Llama model card:</a:t>
            </a:r>
          </a:p>
          <a:p>
            <a:r>
              <a:t>https://huggingface.co/meta-llama/Llama-3.1-405B-Instruct</a:t>
            </a:r>
          </a:p>
          <a:p>
            <a:r>
              <a:t>Meta architecture values including MLP53248 and context131072:</a:t>
            </a:r>
          </a:p>
          <a:p>
            <a:r>
              <a:t>https://github.com/meta-pytorch/gpt-fast/blob/main/model.py</a:t>
            </a:r>
          </a:p>
          <a:p>
            <a:r>
              <a:t>Meta checkpoint variant definitions:</a:t>
            </a:r>
          </a:p>
          <a:p>
            <a:r>
              <a:t>https://github.com/meta-llama/llama-models/blob/main/models/sku_list.py</a:t>
            </a:r>
          </a:p>
          <a:p>
            <a:r>
              <a:t>Llama paper:</a:t>
            </a:r>
          </a:p>
          <a:p>
            <a:r>
              <a:t>https://arxiv.org/abs/2407.21783</a:t>
            </a:r>
          </a:p>
          <a:p>
            <a:r>
              <a:t>OpenAI exact configuration:</a:t>
            </a:r>
          </a:p>
          <a:p>
            <a:r>
              <a:t>https://huggingface.co/openai/gpt-oss-120b/blob/main/config.json</a:t>
            </a:r>
          </a:p>
          <a:p>
            <a:r>
              <a:t>OpenAI model card:</a:t>
            </a:r>
          </a:p>
          <a:p>
            <a:r>
              <a:t>https://arxiv.org/abs/2508.10925</a:t>
            </a:r>
          </a:p>
          <a:p>
            <a:r>
              <a:t>Official OpenAI model documentation:</a:t>
            </a:r>
          </a:p>
          <a:p>
            <a:r>
              <a:t>https://developers.openai.com/api/docs/models/gpt-oss-120b</a:t>
            </a:r>
          </a:p>
          <a:p>
            <a:endParaRPr/>
          </a:p>
          <a:p>
            <a:r>
              <a:t>LOGO SOURCES</a:t>
            </a:r>
          </a:p>
          <a:p>
            <a:r>
              <a:t>Original organization avatar assets, used for identification and kept in their original proportions:</a:t>
            </a:r>
          </a:p>
          <a:p>
            <a:r>
              <a:t>Qwen: https://huggingface.co/Qwen</a:t>
            </a:r>
          </a:p>
          <a:p>
            <a:r>
              <a:t>https://cdn-avatars.huggingface.co/v1/production/uploads/6215ca5692c0ecfba9186921/hrRM50-6XcdWgg2AKpENG.jpeg</a:t>
            </a:r>
          </a:p>
          <a:p>
            <a:r>
              <a:t>Meta Llama: https://huggingface.co/meta-llama</a:t>
            </a:r>
          </a:p>
          <a:p>
            <a:r>
              <a:t>https://cdn-avatars.huggingface.co/v1/production/uploads/646cf8084eefb026fb8fd8bc/oCTqufkdTkjyGodsx1vo1.png</a:t>
            </a:r>
          </a:p>
          <a:p>
            <a:r>
              <a:t>OpenAI: https://huggingface.co/openai</a:t>
            </a:r>
          </a:p>
          <a:p>
            <a:r>
              <a:t>https://cdn-avatars.huggingface.co/v1/production/uploads/68783facef79a05727260de3/UPX5RQxiPGA-ZbBmArIKq.png</a:t>
            </a:r>
          </a:p>
          <a:p>
            <a:r>
              <a:t>Sources checked18October2026.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PACING (about 5 minutes)</a:t>
            </a:r>
          </a:p>
          <a:p>
            <a:r>
              <a:t>Connect the configuration numbers on the previous slide to the broader meaning of a model. Open with an everyday mental model: "When I see dark clouds, I expect rain." This is an informal expectation based on experience. Mathematical and machine learning models make particular relationships explicit and computable. The four sections give a teaching progression in specificity, not a claim that four technologies replaced each other.</a:t>
            </a:r>
          </a:p>
          <a:p>
            <a:endParaRPr/>
          </a:p>
          <a:p>
            <a:r>
              <a:t>HUMAN-DEVELOPED MATHEMATICAL MODELS</a:t>
            </a:r>
          </a:p>
          <a:p>
            <a:r>
              <a:t>Humans formulate equations to describe relationships under stated assumptions. Net force = mass × acceleration is Newton's second law for constant mass in an inertial frame in classical mechanics. Distance = speed × time assumes constant speed, or uses the appropriate average speed for the interval. Example: 60 miles per hour for 2 hours gives 120 miles when that speed holds. E = mc² is the rest-energy relationship, where m is rest mass and c is the speed of light. Do not present it as the total energy of any moving object. The emphasis is on people choosing the form of a mathematical relationship, supplying inputs, and calculating outputs. Human-developed equations can also use measurements and fitted constants, so "human-developed" does not mean "without data."</a:t>
            </a:r>
          </a:p>
          <a:p>
            <a:endParaRPr/>
          </a:p>
          <a:p>
            <a:r>
              <a:t>MACHINE LEARNING MODELS</a:t>
            </a:r>
          </a:p>
          <a:p>
            <a:r>
              <a:t>Humans choose the architecture, data, objective and training procedure. Training adjusts parameters using examples. Uber uses machine learning to refine estimated arrival times based on historical and real-time information. Zillow's Zestimate estimates home market value from property and market data. Netflix recommends content a member may enjoy using interaction history and other signals. These are examples of tasks and real systems, not claims that each company uses one simple model or a linear equation. We intentionally omit y = wx + b here to avoid suggesting all these applications are linear regression. A simple linear model can be introduced later to explain learned weights.</a:t>
            </a:r>
          </a:p>
          <a:p>
            <a:endParaRPr/>
          </a:p>
          <a:p>
            <a:r>
              <a:t>LANGUAGE MODELS</a:t>
            </a:r>
          </a:p>
          <a:p>
            <a:r>
              <a:t>A language model assigns probabilities to sequences of language. For our autoregressive workshop example, the preceding tokens condition a distribution over possible next tokens. Ask the audience to complete "The cat slept because it was ..." before revealing the possible continuations. "Tired," "sleepy" and "exhausted" are illustrative plausible completions, not measured rankings or probabilities. Each word can span one or more tokenizer tokens. The slide presents possible word completions for readability, while the caption introduces the exact computational unit, a token. We will inspect Qwen's actual tokenizer and distributions later. Earlier language models can use statistical counts, while modern neural language models learn representations.</a:t>
            </a:r>
          </a:p>
          <a:p>
            <a:endParaRPr/>
          </a:p>
          <a:p>
            <a:r>
              <a:t>LARGE LANGUAGE MODELS</a:t>
            </a:r>
          </a:p>
          <a:p>
            <a:r>
              <a:t>LLMs are large neural language models trained on extensive data. Qwen, Llama and gpt-oss connect to the previous slide. In instruction-tuned versions, additional training helps the model respond to requests such as "Explain why the cat might be tired." Underlying generation still produces tokens conditioned on context. The prompt is illustrative, not a captured model output. Scaling and instruction tuning help enable uses such as explaining concepts, summarizing text and generating code. No universal parameter-count threshold defines "large." Fluent output does not guarantee truth or reliable reasoning.</a:t>
            </a:r>
          </a:p>
          <a:p>
            <a:endParaRPr/>
          </a:p>
          <a:p>
            <a:r>
              <a:t>CATEGORY RELATIONSHIPS AND TRANSITION</a:t>
            </a:r>
          </a:p>
          <a:p>
            <a:r>
              <a:t>LLMs are a type of language model. Neural language models are a type of machine learning model. These categories overlap. Classical count-based language models also estimate distributions from data. Human scientific models and learned models coexist and can work together. Avoid a straight evolutionary replacement story or implying that all machine learning models process language. Close with: "A model represents relationships so we can explain or predict something. Next we will see how text becomes numbers that a language model can process."</a:t>
            </a:r>
          </a:p>
          <a:p>
            <a:endParaRPr/>
          </a:p>
          <a:p>
            <a:r>
              <a:t>SOURCE LINKS</a:t>
            </a:r>
          </a:p>
          <a:p>
            <a:r>
              <a:t>Uber Engineering, DeepETA:</a:t>
            </a:r>
          </a:p>
          <a:p>
            <a:r>
              <a:t>https://www.uber.com/au/en/blog/deepeta-how-uber-predicts-arrival-times/</a:t>
            </a:r>
          </a:p>
          <a:p>
            <a:r>
              <a:t>Zillow, What is a Zestimate?:</a:t>
            </a:r>
          </a:p>
          <a:p>
            <a:r>
              <a:t>https://www.zillow.com/zestimate/</a:t>
            </a:r>
          </a:p>
          <a:p>
            <a:r>
              <a:t>Netflix, How recommendations work:</a:t>
            </a:r>
          </a:p>
          <a:p>
            <a:r>
              <a:t>https://help.netflix.com/en/node/100639/</a:t>
            </a:r>
          </a:p>
          <a:p>
            <a:r>
              <a:t>Jurafsky and Martin, Speech and Language Processing, language modeling chapters:</a:t>
            </a:r>
          </a:p>
          <a:p>
            <a:r>
              <a:t>https://web.stanford.edu/~jurafsky/slp3/</a:t>
            </a:r>
          </a:p>
          <a:p>
            <a:r>
              <a:t>Qwen workshop model:</a:t>
            </a:r>
          </a:p>
          <a:p>
            <a:r>
              <a:t>https://huggingface.co/Qwen/Qwen2.5-0.5B-Instruct</a:t>
            </a:r>
          </a:p>
          <a:p>
            <a:r>
              <a:t>Llama comparison model:</a:t>
            </a:r>
          </a:p>
          <a:p>
            <a:r>
              <a:t>https://huggingface.co/meta-llama/Llama-3.1-405B-Instruct</a:t>
            </a:r>
          </a:p>
          <a:p>
            <a:r>
              <a:t>OpenAI comparison model:</a:t>
            </a:r>
          </a:p>
          <a:p>
            <a:r>
              <a:t>https://huggingface.co/openai/gpt-oss-120b</a:t>
            </a:r>
          </a:p>
          <a:p>
            <a:endParaRPr/>
          </a:p>
          <a:p>
            <a:r>
              <a:t>Design reference: user-supplied AI_Productivity_IEEE_Session_S3_June.pptx. Four-section content arrangement follows the user's attached reference image. Product examples verified against official company sources. No product claims or model responses on this slide represent live evaluation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DELIVERY (about 2–3 minutes)</a:t>
            </a:r>
          </a:p>
          <a:p>
            <a:r>
              <a:t>Explain that a tokenizer turns text into a sequence of integer IDs before the model looks up embeddings. A token can represent a whole word, part of a word, punctuation, whitespace, or a special marker. Tokenization depends on the model's tokenizer, exact text, capitalization, spaces, and surrounding context.</a:t>
            </a:r>
          </a:p>
          <a:p>
            <a:endParaRPr/>
          </a:p>
          <a:p>
            <a:r>
              <a:t>WORKED QWEN EXAMPLE</a:t>
            </a:r>
          </a:p>
          <a:p>
            <a:r>
              <a:t>Input is exactly: The cat slept because it was tired.</a:t>
            </a:r>
          </a:p>
          <a:p>
            <a:r>
              <a:t>No quotation marks are part of the actual input. No special tokens were inserted for this plain-text example.</a:t>
            </a:r>
          </a:p>
          <a:p>
            <a:r>
              <a:t>Official Qwen2.5-0.5B-Instruct tokenizer vocabulary and byte-pair merge rules give these pieces and IDs:</a:t>
            </a:r>
          </a:p>
          <a:p>
            <a:r>
              <a:t>The = 785</a:t>
            </a:r>
          </a:p>
          <a:p>
            <a:r>
              <a:t>Ġcat = 8251</a:t>
            </a:r>
          </a:p>
          <a:p>
            <a:r>
              <a:t>Ġslept = 45398</a:t>
            </a:r>
          </a:p>
          <a:p>
            <a:r>
              <a:t>Ġbecause = 1576</a:t>
            </a:r>
          </a:p>
          <a:p>
            <a:r>
              <a:t>Ġit = 432</a:t>
            </a:r>
          </a:p>
          <a:p>
            <a:r>
              <a:t>Ġwas = 572</a:t>
            </a:r>
          </a:p>
          <a:p>
            <a:r>
              <a:t>Ġtired = 19227</a:t>
            </a:r>
          </a:p>
          <a:p>
            <a:r>
              <a:t>. = 13</a:t>
            </a:r>
          </a:p>
          <a:p>
            <a:r>
              <a:t>That is seven words and eight tokens in this particular sentence. Do not turn this into a general rule that each word is one token. In the tokenizer's internal byte-level display, Ġ represents the space byte. The actual decoded piece is a leading space followed by the word. It is not an extra character added to the sentence and is not a universal beginning-of-word special token.</a:t>
            </a:r>
          </a:p>
          <a:p>
            <a:r>
              <a:t>For a subword example, the standalone text tokenization splits into token (ID5839) and ization (ID2022). Adding a space or changing context can change the pieces. Token IDs index vocabulary entries and do not themselves encode semantic meaning or rank importance. The next slide will show how an embedding lookup maps an ID to a learned vector.</a:t>
            </a:r>
          </a:p>
          <a:p>
            <a:endParaRPr/>
          </a:p>
          <a:p>
            <a:r>
              <a:t>VERIFICATION SCOPE</a:t>
            </a:r>
          </a:p>
          <a:p>
            <a:r>
              <a:t>Pieces were derived from the downloaded official tokenizer.json vocabulary and ranked BPE merges, using the file's byte-level encoding. For the simple ASCII-letter, spaces and punctuation examples shown here, a matching restricted pretokenization was used. This was not a run of Hugging Face AutoTokenizer or the training notebook. Before the workshop, demonstrate the same sentence with AutoTokenizer.from_pretrained and add_special_tokens=False in Colab, using convert_ids_to_tokens for the displayed internal pieces.</a:t>
            </a:r>
          </a:p>
          <a:p>
            <a:endParaRPr/>
          </a:p>
          <a:p>
            <a:r>
              <a:t>CHAT TEMPLATE VISUAL</a:t>
            </a:r>
          </a:p>
          <a:p>
            <a:r>
              <a:t>The slide shows a simplified one-user-message prompt followed by the assistant generation prefix:</a:t>
            </a:r>
          </a:p>
          <a:p>
            <a:r>
              <a:t>&lt;|im_start|&gt;user</a:t>
            </a:r>
          </a:p>
          <a:p>
            <a:r>
              <a:t>Hello&lt;|im_end|&gt;</a:t>
            </a:r>
          </a:p>
          <a:p>
            <a:r>
              <a:t>&lt;|im_start|&gt;assistant</a:t>
            </a:r>
          </a:p>
          <a:p>
            <a:endParaRPr/>
          </a:p>
          <a:p>
            <a:r>
              <a:t>Line breaks in this display represent actual newlines, which also tokenize. The eight-token count applies only to the sentence above, not to this chat example. &lt;|im_start|&gt; is one special token with ID151644 and opens a chat message. &lt;|im_end|&gt; is one special token with ID151645, closes a message and serves as this tokenizer's EOS token. user and assistant are ordinary text labels, not special-token IDs. The assistant line prepares the model to generate a reply. The actual default chat template can also supply a system message when one is not given; we omit that message in the visual to focus on boundaries. These markers are Qwen-specific examples, not a universal format shared by every LLM.</a:t>
            </a:r>
          </a:p>
          <a:p>
            <a:endParaRPr/>
          </a:p>
          <a:p>
            <a:r>
              <a:t>ADDITIONAL SPECIAL-TOKEN NOTES</a:t>
            </a:r>
          </a:p>
          <a:p>
            <a:r>
              <a:t>&lt;|endoftext|&gt;, ID151643, is the tokenizer's padding token and appears as bos_token_id in model configuration. However add_bos_token=False and bos_token=None in tokenizer configuration mean we should not teach that Qwen automatically prepends this token to each input. Added tokens are not all special tokens: some tool-related added entries have special=False. Shared tokenizer vision markers do not make this Qwen checkpoint a vision model.</a:t>
            </a:r>
          </a:p>
          <a:p>
            <a:endParaRPr/>
          </a:p>
          <a:p>
            <a:r>
              <a:t>VOCABULARY SIZE</a:t>
            </a:r>
          </a:p>
          <a:p>
            <a:r>
              <a:t>The model configuration sets vocab_size151936, which sizes its embedding/output vocabulary slots. The ordinary BPE vocabulary has151643 entries and the tokenizer defines additional named tokens. Model vocabulary slots can include special entries and spare/padded slots. Therefore vocab_size is not the number of natural-language words, not the number of languages, and need not equal the tokenizer's count of explicitly named entries. Context length is a different setting from vocabulary size. Avoid estimating the vocabulary as a dictionary of complete words.</a:t>
            </a:r>
          </a:p>
          <a:p>
            <a:endParaRPr/>
          </a:p>
          <a:p>
            <a:r>
              <a:t>SOURCES</a:t>
            </a:r>
          </a:p>
          <a:p>
            <a:r>
              <a:t>Exact tokenizer vocabulary, merge rules and pretokenizer:</a:t>
            </a:r>
          </a:p>
          <a:p>
            <a:r>
              <a:t>https://huggingface.co/Qwen/Qwen2.5-0.5B-Instruct/blob/main/tokenizer.json</a:t>
            </a:r>
          </a:p>
          <a:p>
            <a:r>
              <a:t>Special-token definitions and chat template:</a:t>
            </a:r>
          </a:p>
          <a:p>
            <a:r>
              <a:t>https://huggingface.co/Qwen/Qwen2.5-0.5B-Instruct/blob/main/tokenizer_config.json</a:t>
            </a:r>
          </a:p>
          <a:p>
            <a:r>
              <a:t>Model vocabulary slots and EOS/BOS metadata:</a:t>
            </a:r>
          </a:p>
          <a:p>
            <a:r>
              <a:t>https://huggingface.co/Qwen/Qwen2.5-0.5B-Instruct/blob/main/config.json</a:t>
            </a:r>
          </a:p>
          <a:p>
            <a:r>
              <a:t>Hugging Face tokenizer explanation:</a:t>
            </a:r>
          </a:p>
          <a:p>
            <a:r>
              <a:t>https://huggingface.co/learn/llm-course/en/chapter2/4</a:t>
            </a:r>
          </a:p>
          <a:p>
            <a:endParaRPr/>
          </a:p>
          <a:p>
            <a:r>
              <a:t>Design follows the user's sample PowerPoint. Token strip and chat example remain editable native slide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ORDER (about 2 minutes)</a:t>
            </a:r>
          </a:p>
          <a:p>
            <a:r>
              <a:t>This slide now comes immediately after Tokens and special tokens, before Vectors, matrices, and weights. It supplies the motivation for the numerical transformations on the next slide. Say: "A token ID is an index. The model uses it to look up an ordered list of learned numbers. That list is the token's embedding vector. Next we will see how a learned matrix transforms such a vector."</a:t>
            </a:r>
          </a:p>
          <a:p>
            <a:endParaRPr/>
          </a:p>
          <a:p>
            <a:r>
              <a:t>LOOKUP EXAMPLE</a:t>
            </a:r>
          </a:p>
          <a:p>
            <a:r>
              <a:t>The preceding slide shows the token displayed as Ġcat with ID8251. Its decoded text is a leading space followed by cat, hence the visible example " cat". Qwen's embedding table has151936 rows and896 columns. Its row8251 supplies896 floating-point values. The diagram shows only selected rows and dimensions. All decimal values on this slide are illustrative teaching numbers, not extracted values from the checkpoint. We index token IDs and rows from zero. ID785 is The and45398 is the leading-space slept piece.</a:t>
            </a:r>
          </a:p>
          <a:p>
            <a:r>
              <a:t>An embedding lookup selects a row. It does not multiply the numeric token ID by a vector. A mathematically equivalent one-hot-vector multiplication could select the row, but implementations normally use an efficient lookup. The diagram is a native editable table, and the selected row is amber.</a:t>
            </a:r>
          </a:p>
          <a:p>
            <a:endParaRPr/>
          </a:p>
          <a:p>
            <a:r>
              <a:t>HIDDEN WIDTH</a:t>
            </a:r>
          </a:p>
          <a:p>
            <a:r>
              <a:t>hidden_size896 means each token's residual representation in this Qwen checkpoint contains896 numbers. It is not896 tokens,896 words,896 layers, or896 total parameters. The embedding matrix stores151936×896 =136134656 parameter values. This checkpoint ties input embeddings and its output projection, so those shared weights should not be counted twice when calculating unique model parameters. Avoid overwhelming the audience with parameter arithmetic unless asked. Qwen uses151936 model vocabulary slots, which need not equal the tokenizer's count of named ordinary and special entries.</a:t>
            </a:r>
          </a:p>
          <a:p>
            <a:endParaRPr/>
          </a:p>
          <a:p>
            <a:r>
              <a:t>INTERPRETING THE EMBEDDING SPACE IMAGE</a:t>
            </a:r>
          </a:p>
          <a:p>
            <a:r>
              <a:t>The illustration shows groups of related token labels: cat/dog/kitten, tea/coffee/milk and car/bus/train. It conveys the idea that learned vector geometry can reflect relationships. It is an AI-generated conceptual illustration, not a measured projection of Qwen embeddings, not a claim that all related words always cluster neatly, and not a scientific plot. The labels are readable word examples, not an assertion about their precise tokenization. In actual tokenizer space, spelling, whitespace, token fragments and usage all affect representations. The axes do not mean animal, vehicle or any other predefined human concept. Individual coordinates usually do not have simple named semantic meanings. A real2D/3D projection can discard or distort relationships from the full space. Do not suggest that we inspected all896 dimensions visually.</a:t>
            </a:r>
          </a:p>
          <a:p>
            <a:endParaRPr/>
          </a:p>
          <a:p>
            <a:r>
              <a:t>STATIC INPUT EMBEDDINGS AND CONTEXT</a:t>
            </a:r>
          </a:p>
          <a:p>
            <a:r>
              <a:t>For fixed weights, a given token ID selects the same initial embedding row at each occurrence. Later Transformer layers compute context-dependent hidden states. Position information and contextual representations will be discussed separately. The input embedding table itself contains learned parameters, while the lookup outputs are activations. Training can update the embedding weights when they are trainable. In our specific LoRA setup targeting q_proj and v_proj, the base embedding table stays frozen. Related-token groupings are not hand-coded rules.</a:t>
            </a:r>
          </a:p>
          <a:p>
            <a:endParaRPr/>
          </a:p>
          <a:p>
            <a:r>
              <a:t>TRANSITION TO MATRIX MULTIPLICATION</a:t>
            </a:r>
          </a:p>
          <a:p>
            <a:r>
              <a:t>On the next slide, x represents a token-like vector of activations and W represents learned weights. The three-number x there is a toy substitute for this real896-number vector. Learned projections combine the input dimensions to make new representations. This ordering explains why matrix multiplication matters before showing its arithmetic.</a:t>
            </a:r>
          </a:p>
          <a:p>
            <a:endParaRPr/>
          </a:p>
          <a:p>
            <a:r>
              <a:t>SOURCES</a:t>
            </a:r>
          </a:p>
          <a:p>
            <a:r>
              <a:t>Qwen exact hidden width, vocabulary slots and tied embeddings:</a:t>
            </a:r>
          </a:p>
          <a:p>
            <a:r>
              <a:t>https://huggingface.co/Qwen/Qwen2.5-0.5B-Instruct/blob/main/config.json</a:t>
            </a:r>
          </a:p>
          <a:p>
            <a:r>
              <a:t>Qwen token pieces and IDs:</a:t>
            </a:r>
          </a:p>
          <a:p>
            <a:r>
              <a:t>https://huggingface.co/Qwen/Qwen2.5-0.5B-Instruct/blob/main/tokenizer.json</a:t>
            </a:r>
          </a:p>
          <a:p>
            <a:r>
              <a:t>PyTorch Embedding documentation, lookup and weight shape:</a:t>
            </a:r>
          </a:p>
          <a:p>
            <a:r>
              <a:t>https://docs.pytorch.org/docs/stable/generated/torch.nn.Embedding.html</a:t>
            </a:r>
          </a:p>
          <a:p>
            <a:r>
              <a:t>Image: generated specifically for this workshop using the built-in image generation tool. Prompt and asset metadata are retained in the local private build directory. No actual Qwen embedding extraction or dimensionality reduction was run for the illustration.</a:t>
            </a:r>
          </a:p>
          <a:p>
            <a:r>
              <a:t>Design follows the sample PowerPoint provided by the presenter.</a:t>
            </a:r>
          </a:p>
          <a:p>
            <a:endParaRPr/>
          </a:p>
          <a:p>
            <a:endParaRPr/>
          </a:p>
          <a:p>
            <a:r>
              <a:t>CONTEXT BRIDGE ADDED FOR THE PRESENTER</a:t>
            </a:r>
          </a:p>
          <a:p>
            <a:r>
              <a:t>Use the two phrases below the embedding image: river bank and savings bank. Ask what bank means in each phrase. The preceding word supplies different contextual clues, which also respects Qwen's causal attention: a token can attend to earlier positions, not later positions. For the same bank token ID, the initial embedding lookup selects the same row in both phrases. Attention mixes information from accessible context into the token's representation. The MLP then transforms each token's contextual representation using its learned nonlinear mapping. Together, successive blocks can produce different contextual hidden states for the bank position. The MLP does not directly attend across token positions. These are computed activation changes during inference, not changes to the stored embedding row or weights. During training, optimizer updates can change eligible parameters. Word-level examples are illustrative; actual token IDs depend on tokenization and whitespace. The image remains a conceptual illustration, not extracted bank vectors or measured Qwen coordinates. Save the detailed explanation for the attention and MLP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DELIVERY (about 2 minutes)</a:t>
            </a:r>
          </a:p>
          <a:p>
            <a:r>
              <a:t>The presenter requested the simpler additive position-embedding mechanism as an introductory illustration, with Qwen's different mechanism explicitly stated at the bottom. Open by saying: "This diagram illustrates one common way to include position. Qwen uses a different mechanism called RoPE, which we will revisit inside attention."</a:t>
            </a:r>
          </a:p>
          <a:p>
            <a:endParaRPr/>
          </a:p>
          <a:p>
            <a:r>
              <a:t>READ EACH COLUMN VERTICALLY</a:t>
            </a:r>
          </a:p>
          <a:p>
            <a:r>
              <a:t>The word examples are The, dog, chased, the, cat, assigned illustrative positions0 through4. These are word-level teaching positions, not actual Qwen tokenizer segmentation or token IDs. Each word stands for a token-like item in this simplified diagram. The and the have different capitalization, so the example does not give them identical initial vectors.</a:t>
            </a:r>
          </a:p>
          <a:p>
            <a:r>
              <a:t>Every input vector contains two numbers. Add the token vector and the position vector component by component. Dog: [0.6,0.1]+[0.1,0.2]=[0.7,0.3]. Cat: [0.8,0.2]+[0.4,0.8]=[1.2,1.0]. The output still contains two numbers. Position information is added to existing coordinates, not appended as a new coordinate. If a word/token moved to another position, its token embedding could remain the same for the same token ID, while the position vector would change.</a:t>
            </a:r>
          </a:p>
          <a:p>
            <a:r>
              <a:t>All vector values and position offsets are chosen for easy arithmetic. They are not actual learned embeddings, sinusoidal values, Qwen values, or a claim that real position embeddings progress by0.1 and0.2. Some architectures use learned additive position vectors and others use fixed functions. A combined vector is a position-aware input representation, not yet a fully contextual hidden state. For a model using additive positional embeddings, a896-dimensional token vector plus a896-dimensional position vector yields a896-dimensional representation.</a:t>
            </a:r>
          </a:p>
          <a:p>
            <a:endParaRPr/>
          </a:p>
          <a:p>
            <a:r>
              <a:t>CONTEXT AND THE BANK EXAMPLE</a:t>
            </a:r>
          </a:p>
          <a:p>
            <a:r>
              <a:t>River bank and savings bank show that accessible surrounding text changes interpretation. The same bank token ID has the same initial embedding for fixed weights. Attention mixes information from current and preceding positions in a causal model, and the MLP transforms the per-position contextual representation. The MLP does not directly mix across token positions. Later layers can therefore compute different contextual hidden states. Do not imply that merely adding position resolves the semantic ambiguity or updates the stored embedding row during inference.</a:t>
            </a:r>
          </a:p>
          <a:p>
            <a:endParaRPr/>
          </a:p>
          <a:p>
            <a:r>
              <a:t>QWEN DISTINCTION</a:t>
            </a:r>
          </a:p>
          <a:p>
            <a:r>
              <a:t>Qwen2.5-0.5B-Instruct uses the Qwen2 decoder implementation and RoPE. It does not add the position vectors shown in the main diagram to its input token embeddings. RoPE applies position-dependent rotations to query and key vectors before attention score computation. It does not append dimensions and it does not rotate the value vectors in this implementation. The main illustration teaches the need for position and the distinction between addition and concatenation, not the literal Qwen computation. Qwen residual hidden width remains896. Save the rotation equations for the attention section.</a:t>
            </a:r>
          </a:p>
          <a:p>
            <a:endParaRPr/>
          </a:p>
          <a:p>
            <a:r>
              <a:t>TRANSITION</a:t>
            </a:r>
          </a:p>
          <a:p>
            <a:r>
              <a:t>The next slide explains how weight matrices transform vectors. Connect it with: "We now have numbers representing token identity and, in this illustrative architecture, position. Next we will see how learned weights transform those representations."</a:t>
            </a:r>
          </a:p>
          <a:p>
            <a:endParaRPr/>
          </a:p>
          <a:p>
            <a:r>
              <a:t>SOURCES</a:t>
            </a:r>
          </a:p>
          <a:p>
            <a:r>
              <a:t>Original Transformer, additive positional encoding:</a:t>
            </a:r>
          </a:p>
          <a:p>
            <a:r>
              <a:t>https://arxiv.org/abs/1706.03762</a:t>
            </a:r>
          </a:p>
          <a:p>
            <a:r>
              <a:t>Qwen implementation, query/key RoPE:</a:t>
            </a:r>
          </a:p>
          <a:p>
            <a:r>
              <a:t>https://github.com/huggingface/transformers/blob/main/src/transformers/models/qwen2/modeling_qwen2.py</a:t>
            </a:r>
          </a:p>
          <a:p>
            <a:r>
              <a:t>RoFormer paper:</a:t>
            </a:r>
          </a:p>
          <a:p>
            <a:r>
              <a:t>https://arxiv.org/abs/2104.09864</a:t>
            </a:r>
          </a:p>
          <a:p>
            <a:r>
              <a:t>Qwen checkpoint configuration:</a:t>
            </a:r>
          </a:p>
          <a:p>
            <a:r>
              <a:t>https://huggingface.co/Qwen/Qwen2.5-0.5B-Instruct/blob/main/config.json</a:t>
            </a:r>
          </a:p>
          <a:p>
            <a:endParaRPr/>
          </a:p>
          <a:p>
            <a:r>
              <a:t>Native editable table. Illustrative arithmetic, not measured model outputs. Sample PowerPoint typography and colors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DELIVERY (about 90 seconds)</a:t>
            </a:r>
          </a:p>
          <a:p>
            <a:r>
              <a:t>A vector is an ordered list of numbers. A matrix arranges numbers in rows and columns. A learned weight matrix tells a layer how to combine the input's numbers. This small illustration isolates one linear transformation. It is a teaching example, not an extraction of actual Qwen weights.</a:t>
            </a:r>
          </a:p>
          <a:p>
            <a:endParaRPr/>
          </a:p>
          <a:p>
            <a:r>
              <a:t>READ THE EXAMPLE</a:t>
            </a:r>
          </a:p>
          <a:p>
            <a:r>
              <a:t>We use column-vector notation y = Wx. W has2 rows and3 columns. x contains3 numbers arranged as a3-by-1 column vector. Each row of W combines all3 input numbers to make one output number, so y contains2 numbers.</a:t>
            </a:r>
          </a:p>
          <a:p>
            <a:r>
              <a:t>W = [[1,0,2],[0,1,-1]], x = [1,2,3]^T.</a:t>
            </a:r>
          </a:p>
          <a:p>
            <a:r>
              <a:t>First output:1×1 +0×2 +2×3 =7.</a:t>
            </a:r>
          </a:p>
          <a:p>
            <a:r>
              <a:t>Second output:0×1 +1×2 +(-1)×3 =-1.</a:t>
            </a:r>
          </a:p>
          <a:p>
            <a:r>
              <a:t>The six entries in W illustrate learned weights. A weight can be positive, negative or zero. Values do not directly correspond to a readable rule such as "noun" or "verb." We selected simple integers to make arithmetic easy. Real models generally have many more entries and use finite-precision numeric storage.</a:t>
            </a:r>
          </a:p>
          <a:p>
            <a:endParaRPr/>
          </a:p>
          <a:p>
            <a:r>
              <a:t>PARAMETERS VERSUS ACTIVATIONS</a:t>
            </a:r>
          </a:p>
          <a:p>
            <a:r>
              <a:t>Weights are model parameters retained across requests. Training computes gradients and an optimizer can update trainable parameters. During ordinary inference, the weights stay fixed while computed activations depend on the input. x and y here are input/output activations. Calling the example's entries "learned weights" identifies their role in a trained model; we have not actually trained these illustrative numbers. In LoRA training, base weights remain frozen and the adapter matrices receive the updates. We will cover that distinction later.</a:t>
            </a:r>
          </a:p>
          <a:p>
            <a:r>
              <a:t>Biases, when a layer uses them, are also parameters. The general affine form is y=Wx+b. We omit b from this visual to keep the matrix multiplication clear. A full neural network also contains nonlinear functions and other operations. This one linear transformation is not the entire model. Matrices are2D tensors, vectors are1D mathematical objects, and software can package them with additional batch/sequence axes. We display vectors as column matrices so multiplication is explicit.</a:t>
            </a:r>
          </a:p>
          <a:p>
            <a:endParaRPr/>
          </a:p>
          <a:p>
            <a:r>
              <a:t>CONNECTION TO QWEN AND THE PREVIOUS SLIDE</a:t>
            </a:r>
          </a:p>
          <a:p>
            <a:r>
              <a:t>The preceding token IDs are integer indices. An embedding lookup converts an ID into a floating-point vector. Do not feed token ID8251 itself into this toy input or imply that its digits are the vector. In our Qwen model, the hidden vector has896 entries. Some learned projections preserve that width while others change it. In PyTorch, a Linear layer stores weight as output_features by input_features, matching W here. Batched row-vector code often writes XW^T rather than Wx. This is a notation convention, not a different computation. Defer full Q/K/V projection dimensions to the attention section.</a:t>
            </a:r>
          </a:p>
          <a:p>
            <a:endParaRPr/>
          </a:p>
          <a:p>
            <a:r>
              <a:t>SOURCES</a:t>
            </a:r>
          </a:p>
          <a:p>
            <a:r>
              <a:t>PyTorch Linear documentation for weights, bias, shapes and affine transformation:</a:t>
            </a:r>
          </a:p>
          <a:p>
            <a:r>
              <a:t>https://docs.pytorch.org/docs/stable/generated/torch.nn.Linear.html</a:t>
            </a:r>
          </a:p>
          <a:p>
            <a:r>
              <a:t>Qwen configuration connecting hidden width896 to the workshop model:</a:t>
            </a:r>
          </a:p>
          <a:p>
            <a:r>
              <a:t>https://huggingface.co/Qwen/Qwen2.5-0.5B-Instruct/blob/main/config.json</a:t>
            </a:r>
          </a:p>
          <a:p>
            <a:r>
              <a:t>Arithmetic and small matrices on this slide are illustrative teaching values.</a:t>
            </a:r>
          </a:p>
          <a:p>
            <a:endParaRPr/>
          </a:p>
          <a:p>
            <a:r>
              <a:t>Design follows the supplied reference deck. All matrix entries and explanatory text remain native editable PowerPoint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AND PACING (about 3 minutes)</a:t>
            </a:r>
          </a:p>
          <a:p>
            <a:r>
              <a:t>Explain one attention head before discussing head counts and dimensions. Start with the sentence, then the highlighted it row. Follow with query/key matching and value mixing. This is a single illustrative head, not a claim that Qwen has only one head. Its actual configuration has14 query heads and2 key/value heads; dimensions are intentionally deferred.</a:t>
            </a:r>
          </a:p>
          <a:p>
            <a:endParaRPr/>
          </a:p>
          <a:p>
            <a:r>
              <a:t>READING THE HEATMAP</a:t>
            </a:r>
          </a:p>
          <a:p>
            <a:r>
              <a:t>The labels correspond to the eight Qwen token positions previously shown: The, leading-space cat, slept, because, it, was, tired and the full stop. Leading-space display markers are omitted here for legibility. Rows are query positions gathering information. Columns are key/value positions they can read. The top-right region is blocked by the causal mask. A query can attend to itself and earlier positions, not later ones. Masked probabilities are zero. Each unmasked row's probabilities sum to1. This attention map is generally asymmetric, not a matrix of pairwise semantic similarity.</a:t>
            </a:r>
          </a:p>
          <a:p>
            <a:r>
              <a:t>Every color and probability here is an illustrative teaching value, not extracted from Qwen. Darker cells mean greater attention weight for this head and input, not stronger semantic meaning, proof of a grammatical relationship, or a complete explanation of a model's decision. The chosen55% attention from it to cat makes an easy reference example but is not an empirically observed Qwen pattern.</a:t>
            </a:r>
          </a:p>
          <a:p>
            <a:endParaRPr/>
          </a:p>
          <a:p>
            <a:r>
              <a:t>HIGHLIGHTED QUERY ROW</a:t>
            </a:r>
          </a:p>
          <a:p>
            <a:r>
              <a:t>At it, the accessible positions are The, cat, slept, because and it. The probabilities shown are5%,55%,10%,10%,20%, respectively, summing to100%. Was, tired and the full stop are future positions and remain blocked. Use this row to connect the heatmap with the weighted value combination at right.</a:t>
            </a:r>
          </a:p>
          <a:p>
            <a:endParaRPr/>
          </a:p>
          <a:p>
            <a:r>
              <a:t>QUERY, KEY AND VALUE</a:t>
            </a:r>
          </a:p>
          <a:p>
            <a:r>
              <a:t>A learned projection of the current token representation supplies a query. Learned projections of the accessible token representations supply keys and values. These are numeric vectors, not literal questions, keywords or dictionary meanings. Query and key dot products, scaled by the square root of head dimension, produce scores. A causal mask excludes future positions, and softmax converts the scores to row probabilities. Use the search-like wording only as an intuition.</a:t>
            </a:r>
          </a:p>
          <a:p>
            <a:r>
              <a:t>The probabilities weight the corresponding VALUE vectors. The output for the illustrated it position is0.05v(The)+0.55v(cat)+0.10v(slept)+0.10v(because)+0.20v(it). v(name) denotes that token position's value vector, not its token ID, raw word, key vector or initial embedding. No actual value coordinates are shown. For one head, output width equals its value-head width. Head outputs later combine through an output projection and a residual connection. Stored model parameters do not change when this input produces different attention activations.</a:t>
            </a:r>
          </a:p>
          <a:p>
            <a:endParaRPr/>
          </a:p>
          <a:p>
            <a:r>
              <a:t>MULTIPLE HEADS</a:t>
            </a:r>
          </a:p>
          <a:p>
            <a:r>
              <a:t>Multiple heads can learn different or overlapping patterns, including syntax, semantic associations and links across distant token positions. They have no preassigned noun, verb or meaning roles. A head can vary its behavior with input. Grouped-query attention shares key/value heads across groups of query heads, which we can explain on the later Qwen dimensions slide.</a:t>
            </a:r>
          </a:p>
          <a:p>
            <a:endParaRPr/>
          </a:p>
          <a:p>
            <a:r>
              <a:t>HISTORICAL SIGNIFICANCE</a:t>
            </a:r>
          </a:p>
          <a:p>
            <a:r>
              <a:t>Suggested presenter highlight: "Attention changed how sequence models could access context. The Transformer made attention central to its architecture and enabled much more parallel computation during training."</a:t>
            </a:r>
          </a:p>
          <a:p>
            <a:r>
              <a:t>Attention existed before the2017 Transformer. Bahdanau, Cho and Bengio introduced an influential neural translation attention approach in2014. The2017 Transformer used attention without recurrence or convolutions in its sequence-processing architecture, while retaining feed-forward sublayers. The parallelism claim concerns computation over known training/prompt positions. Autoregressive generation still proceeds token by token. Do not claim attention by itself solves all context, meaning or long-range reasoning problems.</a:t>
            </a:r>
          </a:p>
          <a:p>
            <a:endParaRPr/>
          </a:p>
          <a:p>
            <a:r>
              <a:t>SOURCES</a:t>
            </a:r>
          </a:p>
          <a:p>
            <a:r>
              <a:t>Attention Is All You Need:</a:t>
            </a:r>
          </a:p>
          <a:p>
            <a:r>
              <a:t>https://arxiv.org/abs/1706.03762</a:t>
            </a:r>
          </a:p>
          <a:p>
            <a:r>
              <a:t>Earlier neural machine translation attention:</a:t>
            </a:r>
          </a:p>
          <a:p>
            <a:r>
              <a:t>https://arxiv.org/abs/1409.0473</a:t>
            </a:r>
          </a:p>
          <a:p>
            <a:r>
              <a:t>Qwen attention implementation (projection, RoPE, mask, softmax and values):</a:t>
            </a:r>
          </a:p>
          <a:p>
            <a:r>
              <a:t>https://github.com/huggingface/transformers/blob/main/src/transformers/models/qwen2/modeling_qwen2.py</a:t>
            </a:r>
          </a:p>
          <a:p>
            <a:r>
              <a:t>Qwen model configuration:</a:t>
            </a:r>
          </a:p>
          <a:p>
            <a:r>
              <a:t>https://huggingface.co/Qwen/Qwen2.5-0.5B-Instruct/blob/main/config.json</a:t>
            </a:r>
          </a:p>
          <a:p>
            <a:r>
              <a:t>Transformer Explainer for the later live visual walkthrough (GPT-2, not Qwen):</a:t>
            </a:r>
          </a:p>
          <a:p>
            <a:r>
              <a:t>https://poloclub.github.io/transformer-explainer/</a:t>
            </a:r>
          </a:p>
          <a:p>
            <a:endParaRPr/>
          </a:p>
          <a:p>
            <a:r>
              <a:t>All heatmap cells, labels and numeric probabilities remain native editable PowerPoint content. Design follows the supplied sample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NEURAL-NETWORK VISUAL REVISION</a:t>
            </a:r>
          </a:p>
          <a:p>
            <a:r>
              <a:t>The presenter requested a familiar neuron-and-connection illustration to identify learned parameters. The main image is a GENERIC MLP with several hidden layers, not the literal full Qwen gated computational graph. Vertical ellipses in the neuron columns indicate omitted units. The horizontal ellipsis between hidden-layer columns indicates omitted layers. Neither ellipsis gives a numerical count. The separate caption connects back to Qwen's real widths896,4864,896. Do not assign4864 to every hidden layer in a generic MLP or interpret the additional columns as extra layers inside each Qwen MLP. Qwen's actual two-branch gate is retained in the detailed technical notes below.</a:t>
            </a:r>
          </a:p>
          <a:p>
            <a:endParaRPr/>
          </a:p>
          <a:p>
            <a:r>
              <a:t>Suggested narration: "Each circle represents a computed activation value. Each connection represents a learned weight. Collectively these weights are model parameters. Training adjusts the parameters that are trainable so the network's outputs better match its objective. For each new input, it computes new activation values using those weights." Point to the highlighted orange connection as one example weight. Do not describe an input or hidden activation as a trainable weight. The representative connection has no numerical value assigned. The circles are mathematical units, not biological neurons.</a:t>
            </a:r>
          </a:p>
          <a:p>
            <a:r>
              <a:t>Weights are parameters. Other architectures and layers can also have bias and normalization parameters. The Qwen MLP projections shown conceptually here have no biases. During ordinary inference these stored weights stay fixed. In our LoRA demo, the base MLP weights stay frozen because only q_proj and v_proj adapters are targeted. The phrase "learned weights" refers to their role after training, not an assertion that this illustration came from an actual training run.</a:t>
            </a:r>
          </a:p>
          <a:p>
            <a:r>
              <a:t>The generated image is a conceptual educational illustration made with the built-in image generation tool. Its prompt and source asset are stored in the private build directory. All headings, dimensions, captions and the expert-routing inset remain editable slide objects.</a:t>
            </a:r>
          </a:p>
          <a:p>
            <a:endParaRPr/>
          </a:p>
          <a:p>
            <a:r>
              <a:t>DETAILED TECHNICAL NOTES FROM THE GATED MLP SLIDE</a:t>
            </a:r>
          </a:p>
          <a:p>
            <a:r>
              <a:t>PURPOSE AND PACING (about 2 minutes)</a:t>
            </a:r>
          </a:p>
          <a:p>
            <a:r>
              <a:t>The MLP, or multilayer perceptron/feed-forward sublayer, is a neural-network component inside every Qwen Transformer block. It is not the backbone of every machine learning model. The entire Transformer is a neural network, and attention is also learned neural-network computation. This slide focuses on the transformation within one token position.</a:t>
            </a:r>
          </a:p>
          <a:p>
            <a:endParaRPr/>
          </a:p>
          <a:p>
            <a:r>
              <a:t>READ THE QWEN DIAGRAM</a:t>
            </a:r>
          </a:p>
          <a:p>
            <a:r>
              <a:t>The input labeled it represents that token position's already contextual hidden state after attention and the appropriate RMS normalization. It has896 entries. Normalization and residual addition are omitted from this isolated MLP view and will be shown in the block slide.</a:t>
            </a:r>
          </a:p>
          <a:p>
            <a:r>
              <a:t>The SAME896-number vector feeds two learned projections. up_proj maps896 to4864 values. gate_proj also maps896 to4864 values, then SiLU applies a nonlinear function component by component. The two4864-number results multiply component by component. This is elementwise multiplication, not a dot product and not matrix multiplication between those intermediate vectors. The combined intermediate representation still has4864 entries. down_proj maps it back to896 values. This is a gated MLP, commonly described as SwiGLU, and is the actual structural pattern in Qwen2.5-0.5B-Instruct.</a:t>
            </a:r>
          </a:p>
          <a:p>
            <a:r>
              <a:t>The intermediate width means4864 dimensions for each token, not4864 tokens or heads. The expansion allows more intermediate feature combinations. Avoid claiming that each dimension has a fixed named meaning, or that expansion alone creates knowledge. The nonlinear gate means the computation cannot generally collapse into one fixed linear matrix.</a:t>
            </a:r>
          </a:p>
          <a:p>
            <a:endParaRPr/>
          </a:p>
          <a:p>
            <a:r>
              <a:t>FORMULA AND WEIGHT SHAPES</a:t>
            </a:r>
          </a:p>
          <a:p>
            <a:r>
              <a:t>MLP(x) = W_down [SiLU(W_gate x) elementwise_multiply (W_up x)].</a:t>
            </a:r>
          </a:p>
          <a:p>
            <a:r>
              <a:t>This uses column-vector notation. PyTorch stores gate_proj and up_proj weights as[4864,896] and down_proj as[896,4864], with no bias in these Qwen MLP projections. SiLU(z) = z times sigmoid(z). All dimensions and sizes refer to this exact checkpoint, not every Qwen model. The two4864-wide branches do not make intermediate_size9728; they represent separate projected features that multiply together.</a:t>
            </a:r>
          </a:p>
          <a:p>
            <a:endParaRPr/>
          </a:p>
          <a:p>
            <a:r>
              <a:t>PARAMETERS AND ACTIVATIONS</a:t>
            </a:r>
          </a:p>
          <a:p>
            <a:r>
              <a:t>Within one block, all token positions use the SAME MLP weight matrices, while their input and output activations differ. Different Transformer blocks normally have their own MLP weights. There is not a separately trained MLP for each vocabulary token or each position. The MLP itself does not mix information across token positions. Attention has already brought accessible context into the representation being transformed.</a:t>
            </a:r>
          </a:p>
          <a:p>
            <a:r>
              <a:t>The output is an896-dimensional MLP update before it is added back through the block's residual connection. Do not confuse it with vocabulary logits or a generated token. It is possible to process positions in parallel during training/prompt processing because the MLP acts independently on each position. Autoregressive generation still produces tokens sequentially. In our LoRA demonstration targeting q_proj and v_proj, these base MLP matrices remain frozen, although other LoRA configurations can target MLP projections.</a:t>
            </a:r>
          </a:p>
          <a:p>
            <a:endParaRPr/>
          </a:p>
          <a:p>
            <a:r>
              <a:t>SMALL GPT-OSS INSET</a:t>
            </a:r>
          </a:p>
          <a:p>
            <a:r>
              <a:t>GPT-oss-120b uses a mixture-of-experts feed-forward design. Within each MoE layer, a learned router selects4 of128 expert MLPs for each token and their outputs combine using routing weights. The inset shows this selection at a high level, not the full router implementation or output dimension. Expert roles are learned, not predefined categories such as grammar or finance. The previous model comparison lists GPT-oss intermediate_size2880 PER EXPERT; do not apply Qwen's4864 width to GPT-oss. Total parameters and per-token active parameters are different measures. This inset is a contrast with Qwen's dense MLP, not a statement that Qwen selects experts.</a:t>
            </a:r>
          </a:p>
          <a:p>
            <a:endParaRPr/>
          </a:p>
          <a:p>
            <a:r>
              <a:t>TRANSITION</a:t>
            </a:r>
          </a:p>
          <a:p>
            <a:r>
              <a:t>Attention mixes context across accessible positions. The MLP transforms that contextual representation at each position. Next show how normalization and residual connections fit these sublayers into a repeating Transformer block.</a:t>
            </a:r>
          </a:p>
          <a:p>
            <a:endParaRPr/>
          </a:p>
          <a:p>
            <a:r>
              <a:t>PRIMARY SOURCES</a:t>
            </a:r>
          </a:p>
          <a:p>
            <a:r>
              <a:t>Qwen MLP implementation, gate/up/down projections and nonlinear gating:</a:t>
            </a:r>
          </a:p>
          <a:p>
            <a:r>
              <a:t>https://github.com/huggingface/transformers/blob/main/src/transformers/models/qwen2/modeling_qwen2.py</a:t>
            </a:r>
          </a:p>
          <a:p>
            <a:r>
              <a:t>Exact Qwen configuration:</a:t>
            </a:r>
          </a:p>
          <a:p>
            <a:r>
              <a:t>https://huggingface.co/Qwen/Qwen2.5-0.5B-Instruct/blob/main/config.json</a:t>
            </a:r>
          </a:p>
          <a:p>
            <a:r>
              <a:t>GLU Variants Improve Transformer:</a:t>
            </a:r>
          </a:p>
          <a:p>
            <a:r>
              <a:t>https://arxiv.org/abs/2002.05202</a:t>
            </a:r>
          </a:p>
          <a:p>
            <a:r>
              <a:t>GPT-oss exact expert configuration:</a:t>
            </a:r>
          </a:p>
          <a:p>
            <a:r>
              <a:t>https://huggingface.co/openai/gpt-oss-120b/blob/main/config.json</a:t>
            </a:r>
          </a:p>
          <a:p>
            <a:r>
              <a:t>GPT-oss model card:</a:t>
            </a:r>
          </a:p>
          <a:p>
            <a:r>
              <a:t>https://arxiv.org/abs/2508.10925</a:t>
            </a:r>
          </a:p>
          <a:p>
            <a:endParaRPr/>
          </a:p>
          <a:p>
            <a:r>
              <a:t>All computational nodes and connectors are native editable diagram objects. The diagram is structural, not a depiction of measured activation values. Reference PowerPoint styling retained.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TRANSFORMER BLOCKS AND STABLE COMPUTATION</a:t>
            </a:r>
          </a:p>
          <a:p>
            <a:r>
              <a:t>Suggested timing: 3–4 minutes. Connect the attention and MLP visuals to the preceding two slides. Trace the main path from left to right, then trace the two residual bypass paths.</a:t>
            </a:r>
          </a:p>
          <a:p>
            <a:endParaRPr/>
          </a:p>
          <a:p>
            <a:r>
              <a:t>This is a simplified view of a Qwen2.5-0.5B-Instruct decoder block. The causal heatmap and neural-network miniature are conceptual reminders, not measured attention values or a literal rendering of every Qwen neuron. Qwen uses grouped-query attention with RoPE and a gated SiLU MLP. The MLP icon compresses the actual two parallel gate/up projections and down projection into a familiar neural-network symbol. The dotted rectangle encloses one block. Qwen repeats this structure 24 times with separately learned parameters in each block, rather than reusing the exact same weights across all 24 blocks. Within each block, its weights are shared across token positions.</a:t>
            </a:r>
          </a:p>
          <a:p>
            <a:endParaRPr/>
          </a:p>
          <a:p>
            <a:r>
              <a:t>Exact order for this model, using X for the sequence of token representations:</a:t>
            </a:r>
          </a:p>
          <a:p>
            <a:r>
              <a:t>Y = X + Attention(RMSNorm_1(X))</a:t>
            </a:r>
          </a:p>
          <a:p>
            <a:r>
              <a:t>Z = Y + MLP(RMSNorm_2(Y))</a:t>
            </a:r>
          </a:p>
          <a:p>
            <a:r>
              <a:t>Attention includes its output projection. Each RMSNorm is a separate module with its own learned scale parameters. The residual bypass starts before normalization and joins after its corresponding attention or MLP computation. There is no additional third input-to-output addition around the entire block. The two equations apply to the whole sequence; the MLP and RMSNorm operate separately on each token's representation, while attention mixes information among permitted token positions.</a:t>
            </a:r>
          </a:p>
          <a:p>
            <a:endParaRPr/>
          </a:p>
          <a:p>
            <a:r>
              <a:t>RESIDUAL CONNECTION</a:t>
            </a:r>
          </a:p>
          <a:p>
            <a:r>
              <a:t>Say: "The sublayer computes an update. We add that update back to the representation that entered the sublayer." This preserves a direct path for information and creates a direct gradient path during backpropagation, which helps optimization of deep networks. It does not guarantee that every original feature remains recoverable, nor does it mean that values cannot change substantially.</a:t>
            </a:r>
          </a:p>
          <a:p>
            <a:r>
              <a:t>An optional toy example spoken aloud: [0.2,0.5] + [0.1,-0.2] = [0.3,0.3]. These are illustrative values, not Qwen activations. Addition requires matching dimensions. The residual stream has hidden width896 at each token position before and after both additions. The MLP expands internally to4864 and projects back to896 before adding its update.</a:t>
            </a:r>
          </a:p>
          <a:p>
            <a:endParaRPr/>
          </a:p>
          <a:p>
            <a:r>
              <a:t>RMS NORMALIZATION</a:t>
            </a:r>
          </a:p>
          <a:p>
            <a:r>
              <a:t>For one896-dimensional token vector x, RMSNorm(x)_i = gamma_i * x_i / sqrt(mean_j(x_j^2) + epsilon). Qwen's rms_norm_eps=1e-6, and gamma is a learned vector of896scale parameters. RMSNorm controls activation scale before each sublayer and helps stable optimization. It does not subtract the mean, append dimensions, normalize across the batch, or force the final output RMS to1 after the learned scaling. This is pre-normalization. The architecture also applies a final RMSNorm after the stack of24blocks, outside the block shown here. Embedding lookup and the final language-model output head are outside the dotted rectangle and omitted from this focused view.</a:t>
            </a:r>
          </a:p>
          <a:p>
            <a:endParaRPr/>
          </a:p>
          <a:p>
            <a:r>
              <a:t>DROPOUT (OPTIONAL PRESENTER DETAIL)</a:t>
            </a:r>
          </a:p>
          <a:p>
            <a:r>
              <a:t>Dropout can randomly zero selected activations or attention weights during training as regularization; exact placement and probability depend on the architecture. Standard dropout disables masking during evaluation. This checkpoint's attention_dropout is0.0, so an active dropout operation is not a required stage of this diagram. Avoid implying that all Transformer models use the same dropout settings.</a:t>
            </a:r>
          </a:p>
          <a:p>
            <a:endParaRPr/>
          </a:p>
          <a:p>
            <a:r>
              <a:t>CONFIGURATION CONNECTION</a:t>
            </a:r>
          </a:p>
          <a:p>
            <a:r>
              <a:t>num_hidden_layers=24 counts whole Transformer blocks, each containing attention and an MLP. It does not count every visible sub-operation or the number of circles/layers in the neural-network miniature. hidden_size=896 is the residual-stream width and intermediate_size=4864 is the internal MLP expansion. The parameters do not change during ordinary inference. During our chosen q_proj/v_proj LoRA fine-tuning, the base block weights including MLP and normalization parameters stay frozen unless training configuration explicitly says otherwise.</a:t>
            </a:r>
          </a:p>
          <a:p>
            <a:endParaRPr/>
          </a:p>
          <a:p>
            <a:r>
              <a:t>SOURCES</a:t>
            </a:r>
          </a:p>
          <a:p>
            <a:r>
              <a:t>Qwen model configuration (num_hidden_layers24, hidden_size896, intermediate_size4864, rms_norm_eps1e-6, attention_dropout0.0): https://huggingface.co/Qwen/Qwen2.5-0.5B-Instruct/blob/main/config.json</a:t>
            </a:r>
          </a:p>
          <a:p>
            <a:r>
              <a:t>Hugging Face reference implementation, Qwen2DecoderLayer.forward and Qwen2RMSNorm: https://github.com/huggingface/transformers/blob/main/src/transformers/models/qwen2/modeling_qwen2.py</a:t>
            </a:r>
          </a:p>
          <a:p>
            <a:r>
              <a:t>RMSNorm original paper: https://arxiv.org/abs/1910.07467</a:t>
            </a:r>
          </a:p>
          <a:p>
            <a:r>
              <a:t>Residual learning original paper: https://arxiv.org/abs/1512.03385</a:t>
            </a:r>
          </a:p>
          <a:p>
            <a:r>
              <a:t>Diagram source: conceptual educational illustration generated with the built-in image generation tool for this workshop. It does not show actual model measurements. Source asset and prompt metadata remain in the private build directory.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LOGITS, PROBABILITIES, AND TEMPERATURE</a:t>
            </a:r>
          </a:p>
          <a:p>
            <a:r>
              <a:t>Suggested timing: 3–4 minutes. The running sentence has no space-token or punctuation added after 'was' in this schematic. Token labels stand for vocabulary tokens that can include a leading space. All diagram values and chart logits are illustrative, not results from a Qwen inference run.</a:t>
            </a:r>
          </a:p>
          <a:p>
            <a:endParaRPr/>
          </a:p>
          <a:p>
            <a:r>
              <a:t>TRACE THE FOUR STAGES</a:t>
            </a:r>
          </a:p>
          <a:p>
            <a:r>
              <a:t>1. After all 24 Transformer blocks and final RMSNorm, use the last input position's final 896-dimensional hidden vector h to predict the next token. Do not take the original static embedding as the final prediction vector.</a:t>
            </a:r>
          </a:p>
          <a:p>
            <a:r>
              <a:t>2. The learned language-model output projection maps h into vocabulary logits: z = W_out h, with W_out shape [151936,896] and z shape [151936]. This projection has no bias in the Qwen reference implementation. Qwen2.5-0.5B-Instruct ties the output projection weights to the input embedding matrix. Those same stored parameters serve two roles, rather than constituting two independently learned copies. A logit is a raw real-valued score. It can be positive, zero, or negative and is not itself a probability. Vocabulary slots include subword tokens, punctuation and special tokens, not 151936 language words.</a:t>
            </a:r>
          </a:p>
          <a:p>
            <a:r>
              <a:t>3. For positive temperature T, p_i = exp(z_i/T) / sum_j exp(z_j/T). Every probability is nonnegative and they sum to one over the vocabulary. A numerically stable implementation subtracts the maximum scaled logit before exponentiation. The hidden-vector/score-column lengths and bars in the generated flow picture are schematic, not quantitative. The three charts below contain the actual calculated toy probabilities.</a:t>
            </a:r>
          </a:p>
          <a:p>
            <a:r>
              <a:t>4. Sampling draws a token according to the chosen distribution. 'tired' is one example sampled continuation, not a guarantee. Append the selected token to the context and predict again until a stop condition. The new context changes subsequent logits. Standard autoregressive decoding chooses tokens sequentially, using a KV cache to reuse attention computations.</a:t>
            </a:r>
          </a:p>
          <a:p>
            <a:endParaRPr/>
          </a:p>
          <a:p>
            <a:r>
              <a:t>CHARTS: AN EXPLICIT FOUR-TOKEN TOY VOCABULARY</a:t>
            </a:r>
          </a:p>
          <a:p>
            <a:r>
              <a:t>Use the same logits [2,1,0,-1] for tokens [tired,hungry,cold,happy]. This toy vocabulary contains exactly four tokens. These charts are not Qwen probabilities and do not claim that four candidates cover Qwen's full vocabulary. At each temperature the four bars sum to 100% before display rounding. Every chart uses the identical 0–100% vertical scale and candidate order.</a:t>
            </a:r>
          </a:p>
          <a:p>
            <a:r>
              <a:t>T=0.5: approximately [86.4955%,11.7059%,1.5842%,0.2144%].</a:t>
            </a:r>
          </a:p>
          <a:p>
            <a:r>
              <a:t>T=1: approximately [64.3914%,23.6883%,8.7144%,3.2059%].</a:t>
            </a:r>
          </a:p>
          <a:p>
            <a:r>
              <a:t>T=2: approximately [45.5054%,27.6004%,16.7405%,10.1536%].</a:t>
            </a:r>
          </a:p>
          <a:p>
            <a:r>
              <a:t>Values on the slide round to one decimal place, so displayed totals can differ slightly from 100%. The amber bar marks the highest-scoring candidate consistently, not a different model or actual training result. A negative logit still gets a positive probability.</a:t>
            </a:r>
          </a:p>
          <a:p>
            <a:endParaRPr/>
          </a:p>
          <a:p>
            <a:r>
              <a:t>TEMPERATURE AND DECODING</a:t>
            </a:r>
          </a:p>
          <a:p>
            <a:r>
              <a:t>Lower positive T sharpens a nonuniform distribution and makes sampling more concentrated. T=1 gives the unscaled softmax distribution, without additional processors. Higher T spreads probability more evenly. For fixed logits and positive T, token ranking stays the same. Temperature changes the probabilities used for sampling without updating model weights. It does not improve factual knowledge or guarantee better answers, creativity, or coherence. Future outputs can differ because a different sampled token changes the subsequent context.</a:t>
            </a:r>
          </a:p>
          <a:p>
            <a:r>
              <a:t>Greedy decoding chooses argmax(z), rather than drawing a random token. For a unique maximum, the softmax distribution approaches a point mass as T approaches zero from above. Do not substitute literal T=0 into z/T. Some serving APIs special-case temperature=0 as greedy decoding. In Hugging Face Transformers, use do_sample=False for greedy decoding with num_beams=1, and use do_sample=True with positive temperature for sampling. Temperature by itself does not turn sampling on. Ties can remain ties even as T approaches zero. High T tends toward uniform over finite unmasked logits, not necessarily every vocabulary item when other filters suppress candidates.</a:t>
            </a:r>
          </a:p>
          <a:p>
            <a:r>
              <a:t>Real generation may also use top_k, top_p, repetition penalties and token suppression. Those filters are omitted from this slide to isolate temperature. In a controlled notebook comparison, explicitly disable top-k/top-p truncation (for example top_k=0 and top_p=1.0 where supported) and hold the prompt/logits fixed when demonstrating just temperature. Check the notebook/library version's behavior.</a:t>
            </a:r>
          </a:p>
          <a:p>
            <a:endParaRPr/>
          </a:p>
          <a:p>
            <a:r>
              <a:t>TRAINING BRIDGE</a:t>
            </a:r>
          </a:p>
          <a:p>
            <a:r>
              <a:t>During supervised next-token training, a standard objective minimizes cross entropy: loss = -log p(correct next token). Optimization adjusts the trainable parameters to reduce this loss over examples. Generation chooses tokens using fixed parameters. The training objective can raise target-token probability for a particular example, but any individual optimizer step is not a guarantee that every training example improves. Temperature here is an inference sampling setting, separate from our training learning rate. Our LoRA demonstration freezes the base weights and trains selected adapter parameters.</a:t>
            </a:r>
          </a:p>
          <a:p>
            <a:endParaRPr/>
          </a:p>
          <a:p>
            <a:r>
              <a:t>SOURCES</a:t>
            </a:r>
          </a:p>
          <a:p>
            <a:r>
              <a:t>Qwen configuration (hidden_size896, vocab_size151936, tie_word_embeddings=true): https://huggingface.co/Qwen/Qwen2.5-0.5B-Instruct/blob/main/config.json</a:t>
            </a:r>
          </a:p>
          <a:p>
            <a:r>
              <a:t>Qwen reference output head and tied embedding implementation: https://github.com/huggingface/transformers/blob/main/src/transformers/models/qwen2/modeling_qwen2.py</a:t>
            </a:r>
          </a:p>
          <a:p>
            <a:r>
              <a:t>Hugging Face GenerationConfig parameters, do_sample, temperature, top_k and top_p: https://huggingface.co/docs/transformers/main/en/main_classes/text_generation</a:t>
            </a:r>
          </a:p>
          <a:p>
            <a:r>
              <a:t>Hugging Face TemperatureLogitsWarper documentation: https://huggingface.co/docs/transformers/main/en/internal/generation_utils#transformers.TemperatureLogitsWarper</a:t>
            </a:r>
          </a:p>
          <a:p>
            <a:r>
              <a:t>PyTorch Softmax definition: https://docs.pytorch.org/docs/stable/generated/torch.nn.Softmax.html</a:t>
            </a:r>
          </a:p>
          <a:p>
            <a:r>
              <a:t>Visual source: conceptual illustration generated with the built-in image generation tool. It is not a measured model visualization. Charts are native editable PowerPoint charts calculated from the four stated toy logits. Source prompts and numerical records remain in the private build directory.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TRANSFORMER ARCHITECTURE</a:t>
            </a:r>
          </a:p>
          <a:p>
            <a:r>
              <a:t>This is a standalone topic slide, following the Foundation of LLM sequence. Suggested timing: 2–3 minutes on the architecture figure and 7–8 minutes in Transformer Explainer. The audience has now learned each component; use this slide to place those components within a complete model. The subtitle's next-token prediction system refers to the decoder generation path, not a claim that every Transformer is decoder-only.</a:t>
            </a:r>
          </a:p>
          <a:p>
            <a:endParaRPr/>
          </a:p>
          <a:p>
            <a:r>
              <a:t>ORIGINAL FIGURE</a:t>
            </a:r>
          </a:p>
          <a:p>
            <a:r>
              <a:t>The image is the original unmodified Figure 1, The Transformer—model architecture, from Attention Is All You Need, Vaswani et al., first published in2017. This is an encoder–decoder architecture for sequence-to-sequence tasks such as machine translation. Read the image from bottom to top. The encoder (left) transforms source-token representations with self-attention and feed-forward layers. The decoder (right) uses masked self-attention over the target prefix, encoder–decoder cross-attention over encoder outputs, and feed-forward layers. Its final linear projection and softmax produce target-token probabilities. The decoder consumes target tokens shifted right during teacher-forced training. During generation, it consumes the known/generated prefix and predicts tokens autoregressively. The N× annotation repeats each stack's layer structure; it does not mean that all repeated layers share the same learned weights.</a:t>
            </a:r>
          </a:p>
          <a:p>
            <a:r>
              <a:t>Suggested narration: "We have seen embeddings, attention, MLPs, residual connections and normalization separately. Here they form a complete architecture. The left stack reads a source sequence. The right stack generates a target sequence and can consult the source through cross-attention." Point out the cross-attention connection from the left stack into the middle attention sublayer on the right.</a:t>
            </a:r>
          </a:p>
          <a:p>
            <a:r>
              <a:t>The original base configuration uses6encoder layers and6decoder layers with width512. Those are properties of the paper's original model, not our Qwen model. This historical figure uses post-normalization, with Add &amp; Norm after sublayers, and additive positional encodings. The figure is not a literal Qwen architecture diagram. Attention mechanisms existed before2017; the paper's contribution was the attention-based Transformer architecture without recurrent or convolutional sequence layers.</a:t>
            </a:r>
          </a:p>
          <a:p>
            <a:endParaRPr/>
          </a:p>
          <a:p>
            <a:r>
              <a:t>CONNECT TO QWEN</a:t>
            </a:r>
          </a:p>
          <a:p>
            <a:r>
              <a:t>Qwen2.5-0.5B-Instruct is decoder-only, with24blocks, hidden width896,14query heads and2key/value heads. Its blocks have causal self-attention and a gated MLP. It has no separate encoder stack and no encoder–decoder cross-attention sublayer. Do not simply equate the entire right-hand stack in the paper with Qwen: Qwen also changes normalization placement and type, positional representation, attention sharing and the MLP. Specifically: pre-RMSNorm rather than the paper's post-LayerNorm, RoPE in Q/K rather than additive positional vectors, grouped-query attention rather than equal numbers of Q/K/V heads, and a gated SiLU MLP rather than the paper's two-matrix ReLU feed-forward network. Qwen's residual additions were shown on the previous Transformer-block slide. Keep these detailed differences for questions rather than crowding the main slide.</a:t>
            </a:r>
          </a:p>
          <a:p>
            <a:endParaRPr/>
          </a:p>
          <a:p>
            <a:r>
              <a:t>LIVE WALKTHROUGH: TRANSFORMER EXPLAINER</a:t>
            </a:r>
          </a:p>
          <a:p>
            <a:r>
              <a:t>Click Open Transformer Explainer on the slide in slideshow mode. The full URL is https://poloclub.github.io/transformer-explainer/ . Pre-open the site and let its model finish loading before the workshop so the switch is smooth. This site runs a pretrained GPT-2 small model in the browser, with124million parameters,12blocks, hidden width768 and learned additive positional embeddings. It is an educational generation/inference demonstration, not Qwen and not a live optimizer/training demonstration. Its model numbers should not be copied into the Qwen configuration. The actual generated token or attention pattern can differ from our illustrative slides. Avoid promising that 'tired' will be the top prediction.</a:t>
            </a:r>
          </a:p>
          <a:p>
            <a:r>
              <a:t>Suggested 7–8-minute path:</a:t>
            </a:r>
          </a:p>
          <a:p>
            <a:r>
              <a:t>1. 0:00–1:00. Enter exactly 'The cat slept because it was' without an ellipsis. Ask the audience for possible next tokens. Inspect the site's actual tokenization; GPT-2 token IDs can differ from Qwen's IDs.</a:t>
            </a:r>
          </a:p>
          <a:p>
            <a:r>
              <a:t>2. 1:00–2:00. Expand embedding. Show token IDs,768-dimensional token vectors and learned position vectors. Explain that this is the additive position method from our introductory position example. Qwen instead uses RoPE within attention.</a:t>
            </a:r>
          </a:p>
          <a:p>
            <a:r>
              <a:t>3. 2:00–4:00. Expand attention and inspect a head or token relation. Identify Q/K/V, the causal mask, normalized attention weights and the weighted-value combination. Use 'it' and 'cat' as a question to explore, not proof that a particular head encodes pronoun resolution. Heads learn patterns; grammatical roles are not assigned in advance. The mask allows the current token and earlier positions, while blocking future positions.</a:t>
            </a:r>
          </a:p>
          <a:p>
            <a:r>
              <a:t>4. 4:00–5:00. Follow the MLP expansion and contraction. Connect this to the familiar neural-network picture and note that it operates on each token representation separately. GPT-2's MLP uses different widths and activation details from Qwen.</a:t>
            </a:r>
          </a:p>
          <a:p>
            <a:r>
              <a:t>5. 5:00–6:30. Inspect output logits/probabilities. Generate one token and show how it extends the context for the next prediction. Temperature changes sampling probabilities while pretrained weights remain fixed.</a:t>
            </a:r>
          </a:p>
          <a:p>
            <a:r>
              <a:t>6. 6:30–8:00. Compare lower and higher positive temperature. Keep other sampling controls fixed. Top-k and top-p can also change the visible candidate distribution; disable truncation if the interface supports it, or explicitly explain that filtering remains active. Return to the deck and transition to learning: generation chooses tokens using trained weights, whereas training computes a loss and updates trainable parameters.</a:t>
            </a:r>
          </a:p>
          <a:p>
            <a:r>
              <a:t>Do not teach the site's explanatory copy as authoritative in every detail. Standard dropout masks activations or attention weights during training, not stored learned weights. Residual additions wrap attention and MLP sublayers. The visualization is most useful for computation flow and changing inputs, not for establishing that one head has one fixed semantic purpose.</a:t>
            </a:r>
          </a:p>
          <a:p>
            <a:endParaRPr/>
          </a:p>
          <a:p>
            <a:r>
              <a:t>SOURCES AND ATTRIBUTION</a:t>
            </a:r>
          </a:p>
          <a:p>
            <a:r>
              <a:t>Vaswani et al. (2017), Attention Is All You Need, Figure1 and Section3: https://arxiv.org/abs/1706.03762</a:t>
            </a:r>
          </a:p>
          <a:p>
            <a:r>
              <a:t>Paper HTML and figure reproduction permission statement: https://arxiv.org/html/1706.03762v7</a:t>
            </a:r>
          </a:p>
          <a:p>
            <a:r>
              <a:t>Original figure image, downloaded unmodified: https://arxiv.org/html/1706.03762v7/Figures/ModalNet-21.png</a:t>
            </a:r>
          </a:p>
          <a:p>
            <a:r>
              <a:t>The paper grants reproduction of its figures for journalistic or scholarly works with proper attribution. This workshop slide attributes the authors and paper visibly and provides the source link. The source image has not been cropped, recolored, regenerated or overlaid with new content.</a:t>
            </a:r>
          </a:p>
          <a:p>
            <a:r>
              <a:t>Transformer Explainer, Georgia Tech team, including Aeree Cho and colleagues: https://poloclub.github.io/transformer-explainer/</a:t>
            </a:r>
          </a:p>
          <a:p>
            <a:r>
              <a:t>Qwen configuration: https://huggingface.co/Qwen/Qwen2.5-0.5B-Instruct/blob/main/config.json</a:t>
            </a:r>
          </a:p>
          <a:p>
            <a:r>
              <a:t>Qwen implementation: https://github.com/huggingface/transformers/blob/main/src/transformers/models/qwen2/modeling_qwen2.py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FINE-TUNING: ADAPTING A PRETRAINED MODEL</a:t>
            </a:r>
          </a:p>
          <a:p>
            <a:r>
              <a:t>Suggested timing:3–4minutes. Explain the model lifecycle before introducing how LoRA changes the training workload. This slide's progression is conceptual rather than an exhaustive history of how every model is trained. Its network illustrations do not depict actual parameter changes or training results.</a:t>
            </a:r>
          </a:p>
          <a:p>
            <a:endParaRPr/>
          </a:p>
          <a:p>
            <a:r>
              <a:t>TERMS AND OVERLAP</a:t>
            </a:r>
          </a:p>
          <a:p>
            <a:r>
              <a:t>Pretraining is an initial broad learning stage, commonly next-token prediction over large text corpora for decoder language models. A pretrained model has already learned weights; the term is broad and can also describe a model that later received additional tuning. A base model usually means the checkpoint after broad pretraining and before instruction/chat tuning. These are overlapping descriptions, not three mutually exclusive types. Instruction tuning is a form of fine-tuning using instruction–response examples. Many deployed instruction models receive additional post-training, such as preference optimization, which this simple sequence does not depict. Do not imply that instruction tuning is the only stage used to produce Qwen Instruct.</a:t>
            </a:r>
          </a:p>
          <a:p>
            <a:r>
              <a:t>The source text data at the left precedes pretraining. The first network represents a base model, the next an instruction-tuned model, and the last a further adapted model. Labels under the stations name the training stage that produces each model. Our notebook does not pretrain a model from scratch. It starts from Qwen/Qwen2.5-0.5B-Instruct, an already instruction-tuned checkpoint, and further adapts it using our examples. In the term 'base_model' used by PEFT or in notebook variables, 'base' can mean the starting underlying checkpoint even when that checkpoint is an Instruct model. Distinguish this software usage from the lifecycle meaning of a base pretrained checkpoint.</a:t>
            </a:r>
          </a:p>
          <a:p>
            <a:endParaRPr/>
          </a:p>
          <a:p>
            <a:r>
              <a:t>LEARNING VERSUS GENERATION</a:t>
            </a:r>
          </a:p>
          <a:p>
            <a:r>
              <a:t>Training examples provide a context and desired next token. A forward pass produces logits. Cross entropy measures mismatch with the reference next token, commonly loss=-log P(target). Backpropagation computes gradients and the optimizer changes trainable parameters. Training normally computes next-token losses across many eligible positions in parallel, with a causal mask, rather than sampling tokens one by one to discover labels. Some positions may be masked from the loss according to the data/trainer setup. Generation uses stored parameters to select a token and extend the context; it does not run an optimizer update. The same next-token model can participate in both processes.</a:t>
            </a:r>
          </a:p>
          <a:p>
            <a:r>
              <a:t>Full fine-tuning generally trains all model parameters. Parameter-efficient fine-tuning selects a smaller trainable set. LoRA freezes the underlying weights and trains small added matrices in selected projections. Frozen parameters still take part in forward computation, and backpropagation through frozen operations may be needed to reach adapter parameters. Frozen does not mean bypassed or computationally free.</a:t>
            </a:r>
          </a:p>
          <a:p>
            <a:endParaRPr/>
          </a:p>
          <a:p>
            <a:r>
              <a:t>WORKSHOP DATA AND EVALUATION</a:t>
            </a:r>
          </a:p>
          <a:p>
            <a:r>
              <a:t>The active notebook is notebook/Notebook_2_iGET_Qwen_LoRA_Adaptive_CPU_GPU.ipynb. Its default DEMO_MEMORIZATION=True mode trains on four selected question–answer examples so the workshop can visibly demonstrate adaptation. It compares answers before and after on those same questions. Explain this as a controlled memorization demonstration, not evidence of generalization to new questions. For model-quality claims, use held-out examples, compare consistent decoding settings, check retention of other capabilities, and inspect failures. Fine-tuning does not guarantee factual accuracy or serve as a continually updated information store. The slide does not report a training run or fabricated improvement.</a:t>
            </a:r>
          </a:p>
          <a:p>
            <a:endParaRPr/>
          </a:p>
          <a:p>
            <a:r>
              <a:t>SOURCES</a:t>
            </a:r>
          </a:p>
          <a:p>
            <a:r>
              <a:t>Qwen model card, pretrained and instruction-tuned variants: https://huggingface.co/Qwen/Qwen2.5-0.5B-Instruct</a:t>
            </a:r>
          </a:p>
          <a:p>
            <a:r>
              <a:t>Qwen2.5 technical report: https://arxiv.org/abs/2412.15115</a:t>
            </a:r>
          </a:p>
          <a:p>
            <a:r>
              <a:t>PyTorch cross entropy: https://docs.pytorch.org/docs/stable/generated/torch.nn.CrossEntropyLoss.html</a:t>
            </a:r>
          </a:p>
          <a:p>
            <a:r>
              <a:t>LoRA original paper, full fine-tuning versus parameter-efficient adaptation: https://arxiv.org/abs/2106.09685</a:t>
            </a:r>
          </a:p>
          <a:p>
            <a:r>
              <a:t>Local notebook: notebook/Notebook_2_iGET_Qwen_LoRA_Adaptive_CPU_GPU.ipynb</a:t>
            </a:r>
          </a:p>
          <a:p>
            <a:r>
              <a:t>Visual: generated conceptual educational illustration. Prompt and asset metadata remain in the private build directory.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LoRA AND QLoRA</a:t>
            </a:r>
          </a:p>
          <a:p>
            <a:r>
              <a:t>Suggested timing:5–6minutes. The picture enlarges ONE selected projection, followed by a miniature attention block. It does not show all Q/K/V inputs or the complete attention head structure. x is the normalized hidden representation entering the projection. The blue frozen W and amber trainable A/B paths take the same input in parallel. A feeds B in sequence. Their computed outputs are added, including LoRA scaling, before the projection's output is used by attention. The heatmap is a conceptual reminder of attention, not a measured matrix.</a:t>
            </a:r>
          </a:p>
          <a:p>
            <a:endParaRPr/>
          </a:p>
          <a:p>
            <a:r>
              <a:t>PLACEMENT AND INDEPENDENT PAIRS</a:t>
            </a:r>
          </a:p>
          <a:p>
            <a:r>
              <a:t>For column-vector notation, W has shape[d_out,d_in], A has shape[r,d_in], B has shape[d_out,r], and output y=W x+(alpha/r)B A x. A reduces the dimension to r, then B restores the projection's output dimension. The update BA has rank at most r. These are learned algebraic projections, not necessarily a compressed copy of the original weight matrix. A and B work together for ONE W. A is not assigned to Q and B to V. If Q and V are targets, Q gets independent Aq/Bq and V gets independent Av/Bv. If K is selected it gets its own Ak/Bk. K has no adapter in our notebook because target_modules chooses q_proj and v_proj; this is not a Qwen limitation or a rule of LoRA.</a:t>
            </a:r>
          </a:p>
          <a:p>
            <a:r>
              <a:t>LoRA acts on the weight projection, not as a replacement of softmax(QK^T/sqrt(d))V. In Qwen, RoPE applies to Q/K after projection before score computation. Attention then combines V using its attention weights. Head outputs concatenate, pass through o_proj, receive a residual addition, then post-attention RMSNorm and the MLP. The A/B matrices themselves do not flow into the MLP; computed representations do. LoRA can also target o_proj or suitable MLP linear projections. The notebook's target selection freezes these other base weights.</a:t>
            </a:r>
          </a:p>
          <a:p>
            <a:endParaRPr/>
          </a:p>
          <a:p>
            <a:r>
              <a:t>NOTEBOOK CONFIGURATION, DEFAULT MEMORIZATION MODE</a:t>
            </a:r>
          </a:p>
          <a:p>
            <a:r>
              <a:t>target_modules=["q_proj","v_proj"] selects the modules to adapt throughout the24blocks. No layers_to_transform filter is set, so all matching layers are targeted.</a:t>
            </a:r>
          </a:p>
          <a:p>
            <a:r>
              <a:t>r=16 sets the bottleneck width and maximum rank of each update. Higher r adds trainable parameters, not a guaranteed quality improvement.</a:t>
            </a:r>
          </a:p>
          <a:p>
            <a:r>
              <a:t>lora_alpha=32 gives scale alpha/r=2 for the original LoRA formulation used here. It controls adapter contribution and is separate from the optimizer learning rate. use_rslora is not enabled.</a:t>
            </a:r>
          </a:p>
          <a:p>
            <a:r>
              <a:t>lora_dropout=0.0 means no dropout on the LoRA input branch in the current demonstration. At nonzero dropout, PEFT applies dropout to the adapter input activations during training; base weights are not randomly erased. During evaluation standard dropout is disabled. The displayed equation is exact for the current zero-dropout configuration and for evaluation, with bias omitted.</a:t>
            </a:r>
          </a:p>
          <a:p>
            <a:r>
              <a:t>bias="none" leaves existing bias parameters frozen. It does not mean the entire Qwen architecture has no biases. Qwen Q/K/V projections include biases; the illustrative linear equation focuses on the weight update and omits that unchanged bias term. Default LoRA adds no trainable bias in this configuration.</a:t>
            </a:r>
          </a:p>
          <a:p>
            <a:r>
              <a:t>task_type="CAUSAL_LM" tells PEFT this is a causal language-model task and selects the corresponding wrapper. It is not rank or another architectural dimension.</a:t>
            </a:r>
          </a:p>
          <a:p>
            <a:r>
              <a:t>The notebook uses get_peft_model(base_model,lora_config) and print_trainable_parameters to inspect actual trainable counts. Base embedding, K, output projection, MLP, normalization and base Q/V parameters remain frozen in this configuration. Only the added LoRA A/B parameters are trainable.</a:t>
            </a:r>
          </a:p>
          <a:p>
            <a:endParaRPr/>
          </a:p>
          <a:p>
            <a:r>
              <a:t>ALTERNATIVE CONFIGURATION AND PER-MODULE CHOICES</a:t>
            </a:r>
          </a:p>
          <a:p>
            <a:r>
              <a:t>When DEMO_MEMORIZATION=False, the notebook uses r=8, alpha=16 and dropout=0.05, with the same Q/V targets, bias setting and task type. Both modes have alpha/r=2. In PEFT, target_modules selects which projections receive adapters; rank_pattern and alpha_pattern can override rank and alpha per matching module. lora_dropout is normally set for the adapter configuration rather than through a built-in rank_pattern-style per-module dropout dictionary. More customized per-module behavior requires deliberate configuration or code. Do not imply the current notebook tunes each projection's settings independently.</a:t>
            </a:r>
          </a:p>
          <a:p>
            <a:endParaRPr/>
          </a:p>
          <a:p>
            <a:r>
              <a:t>QWEN DIMENSIONS AND TRAINABLE COUNTS</a:t>
            </a:r>
          </a:p>
          <a:p>
            <a:r>
              <a:t>For q_proj, d_in=d_out=896. Original W has802816weights. At r16, Aq[16,896] and Bq[896,16] have14336weights each, totaling28672adapter weights for ONE projection. Their product has shape896×896.</a:t>
            </a:r>
          </a:p>
          <a:p>
            <a:r>
              <a:t>For v_proj, d_in896 and d_out128, because Qwen has2KVheads of width64. Av[16,896] and Bv[128,16] have14336+2048=16384weights. K has the same base shape as V and would have the same adapter shapes if targeted.</a:t>
            </a:r>
          </a:p>
          <a:p>
            <a:r>
              <a:t>Across24blocks, Q/V adapters at r16 contain24×(28672+16384)=1081344parameters, assuming no additional trainable modules. At r8 the corresponding count is540672. These arithmetic counts are derived from the configuration, not a report of a training run. Confirm actual runtime printouts in the workshop notebook. Quantization changes representation/storage precision, not the logical matrix dimensions.</a:t>
            </a:r>
          </a:p>
          <a:p>
            <a:endParaRPr/>
          </a:p>
          <a:p>
            <a:r>
              <a:t>INITIALIZATION AND OPTIONAL MERGE</a:t>
            </a:r>
          </a:p>
          <a:p>
            <a:r>
              <a:t>Default PEFT LoRA initializes A with Kaiming-uniform values and B to zero, so the initial additive update is zero. Both matrices are trainable, although the initial zero B means A's first-step gradient can be zero. Training learns the low-rank update; it does not factorize W and retrain only its existing factors. After training, an optional merge forms W_merged=W+(alpha/r)BA for an unquantized compatible base. During ordinary unmerged computation it is the two outputs that add; optional parameter merging is a separate deployment step. Avoid promising merge support or equivalent precision for every quantized backend.</a:t>
            </a:r>
          </a:p>
          <a:p>
            <a:endParaRPr/>
          </a:p>
          <a:p>
            <a:r>
              <a:t>QLoRA COMPARISON</a:t>
            </a:r>
          </a:p>
          <a:p>
            <a:r>
              <a:t>QLoRA combines a frozen model stored in4-bit quantized form with trainable LoRA adapters in higher precision. Base weights are dequantized into the computation precision for operations; gradients flow through those computations to adapter parameters without optimizing the frozen quantized base. The original method also uses NF4, double quantization and paged optimizers to save memory. The one-line slide is a conceptual comparison, not a full implementation recipe. It does not mean all tensors, activations, optimizer states or adapters use4bits. QLoRA does not remove the need for the base model or all activation memory.</a:t>
            </a:r>
          </a:p>
          <a:p>
            <a:r>
              <a:t>Our notebook loads unquantized model weights: torch.float16 on GPU and torch.float32 on CPU. It has no BitsAndBytesConfig/load_in_4bit path. It therefore demonstrates LoRA, not QLoRA. Keep QLoRA as an alternative for memory-constrained adaptation rather than claiming we execute it.</a:t>
            </a:r>
          </a:p>
          <a:p>
            <a:endParaRPr/>
          </a:p>
          <a:p>
            <a:r>
              <a:t>SOURCES</a:t>
            </a:r>
          </a:p>
          <a:p>
            <a:r>
              <a:t>LoRA original paper, Hu et al.: https://arxiv.org/abs/2106.09685</a:t>
            </a:r>
          </a:p>
          <a:p>
            <a:r>
              <a:t>QLoRA original paper, Dettmers et al.: https://arxiv.org/abs/2305.14314</a:t>
            </a:r>
          </a:p>
          <a:p>
            <a:r>
              <a:t>PEFT LoRA concepts and initialization: https://huggingface.co/docs/peft/main/en/conceptual_guides/lora</a:t>
            </a:r>
          </a:p>
          <a:p>
            <a:r>
              <a:t>PEFT LoraConfig parameter reference: https://huggingface.co/docs/peft/main/en/package_reference/lora</a:t>
            </a:r>
          </a:p>
          <a:p>
            <a:r>
              <a:t>PEFT quantized training guide: https://huggingface.co/docs/peft/main/en/developer_guides/quantization</a:t>
            </a:r>
          </a:p>
          <a:p>
            <a:r>
              <a:t>Qwen configuration: https://huggingface.co/Qwen/Qwen2.5-0.5B-Instruct/blob/main/config.json</a:t>
            </a:r>
          </a:p>
          <a:p>
            <a:r>
              <a:t>Qwen reference implementation: https://github.com/huggingface/transformers/blob/main/src/transformers/models/qwen2/modeling_qwen2.py</a:t>
            </a:r>
          </a:p>
          <a:p>
            <a:r>
              <a:t>Local source of exact demo settings: notebook/Notebook_2_iGET_Qwen_LoRA_Adaptive_CPU_GPU.ipynb</a:t>
            </a:r>
          </a:p>
          <a:p>
            <a:r>
              <a:t>Visual: generated conceptual illustration; blue frozen weight and amber trainable matrices are illustrative. Prompt and source asset remain in the private build directory.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IS A MODEL? NOW WE CAN READ ITS CONFIGURATION</a:t>
            </a:r>
          </a:p>
          <a:p>
            <a:r>
              <a:t>Suggested timing:3–4minutes. This deliberately revisits slide4, using the same three models in the same left-to-right order, original organization logos and configuration values. Ask the audience to explain one number before revealing its meaning aloud. Parameter counts are approximate and are not a quality ranking. The table-like alignment uses the same flat three-profile design, not a new model selection.</a:t>
            </a:r>
          </a:p>
          <a:p>
            <a:endParaRPr/>
          </a:p>
          <a:p>
            <a:r>
              <a:t>READ THE CONFIGURATION USING QWEN</a:t>
            </a:r>
          </a:p>
          <a:p>
            <a:r>
              <a:t>hidden_size=896: each token position carries896values in the hidden/residual representation at block boundaries. These are activation values computed for the current input, not896separate words or896attention heads.</a:t>
            </a:r>
          </a:p>
          <a:p>
            <a:r>
              <a:t>intermediate_size=4864: the internal expansion width of the gated feed-forward/MLP computation, followed by a projection back to896before the residual addition. It is not the number of complete Transformer blocks or all MLP parameters.</a:t>
            </a:r>
          </a:p>
          <a:p>
            <a:r>
              <a:t>num_attention_heads=14:14query heads. num_key_value_heads=2:2key/value head groups shared among those query heads, giving7query heads perK/Vgroup. 'Attention sharing' in the shared legend means this grouping of Q heads around fewer K/V heads, not a statement that all attention weights are identical across heads.</a:t>
            </a:r>
          </a:p>
          <a:p>
            <a:r>
              <a:t>head width=64: dimensions per projected Q/K/V head. Each Q head comes from a learned projection of the full896-dimensional input, rather than an untransformed slice of the input vector. Q projection total width14×64=896; K andV total widths2×64=128. These account for the896×896versus128×896stored projection matrices discussed earlier.</a:t>
            </a:r>
          </a:p>
          <a:p>
            <a:r>
              <a:t>num_hidden_layers=24:24Transformer blocks, each with attention, MLP, normalization and residual additions. Repeating the structure does not imply sharing the same weights between blocks.</a:t>
            </a:r>
          </a:p>
          <a:p>
            <a:r>
              <a:t>max_position_embeddings=32768: configured token-position/context capacity, normally covering prompt and generated continuation together. This is not a word count, a guarantee of perfect recall, or mandatory padding. One1000-token input can have token-ID shape[1,1000] and hidden-state shape[1,1000,896]. Padding depends on batching and the chosen data pipeline. Actual serving/generation settings may impose shorter limits.</a:t>
            </a:r>
          </a:p>
          <a:p>
            <a:endParaRPr/>
          </a:p>
          <a:p>
            <a:r>
              <a:t>COMPARE MODELS WITHOUT OVERSIMPLIFYING</a:t>
            </a:r>
          </a:p>
          <a:p>
            <a:r>
              <a:t>Llama3.1 405B has width16384, MLP intermediate width53248,128query heads,8K/Vheads, head width128,126blocks and131072configured token positions in the checkpoint representation used for the opening comparison. The8KVheadvalue follows the referenced standard Transformers/Meta BF16-mp8representation; some original sharded variants list16KVheads. Keep the same chosen representation across both slides.</a:t>
            </a:r>
          </a:p>
          <a:p>
            <a:r>
              <a:t>gpt-oss-120b has width2880, MLP intermediate width2880PEREXPERT,64query heads,8K/Vheads, head width64,36blocks and131072configured token positions. It has128experts and selects4per token perMoElayer. The slide repeats the approximate117Btotal parameter count, rather than5.1Bactive parameters per token. A smaller hidden width can coexist with a large total parameter count because many expert weights exist. Per-expert MLP width is not the sum across experts. The local attention window128is different from the overall131072context limit.</a:t>
            </a:r>
          </a:p>
          <a:p>
            <a:r>
              <a:t>For gpt-oss,64query heads×64headwidth=4096query projection dimensions, which differs from hidden width2880. Therefore hidden_size/num_attention_heads is NOT a universal way to infer head width. It happens to work for Qwen and Llama here. Configuration values describe architecture choices; they are not an intrinsic intelligence score and do not reveal the architectures of proprietary models from the same vendor.</a:t>
            </a:r>
          </a:p>
          <a:p>
            <a:endParaRPr/>
          </a:p>
          <a:p>
            <a:r>
              <a:t>THE ANSWER TO 'WHAT IS A MODEL?'</a:t>
            </a:r>
          </a:p>
          <a:p>
            <a:r>
              <a:t>The configuration describes the architecture and relevant settings. Learned parameter tensors instantiate that structure and encode the outcomes of training. The tokenizer maps text to token IDs and back. Running inference also needs executable model operations and generation settings. The slide's closing line distinguishes those roles rather than claiming a config file, tokenizer and weight file alone are an executable system. Tokenizer files, weight files and architecture code are separate things we can inspect in the notebook.</a:t>
            </a:r>
          </a:p>
          <a:p>
            <a:r>
              <a:t>LoRA adds small trainable matrices to selected weight projections. In our Q/Vadapter demonstration the base hidden width, MLP width, head counts, block count and context-position configuration stay unchanged. The total stored parameter set grows when adapters are separate. Changing adapters changes behavior without redesigning those base dimensions. No training run or measured quality comparison is reported on this slide.</a:t>
            </a:r>
          </a:p>
          <a:p>
            <a:endParaRPr/>
          </a:p>
          <a:p>
            <a:r>
              <a:t>TRANSITION</a:t>
            </a:r>
          </a:p>
          <a:p>
            <a:r>
              <a:t>Say: "At the start, these were unfamiliar numbers. Now we can identify a token's vector width, attention organization, feed-forward expansion and block depth. Next we will load Qwen, inspect the actual tensors and train its adapters." Proceed into the Colab demonstration rather than adding another technical definition slide.</a:t>
            </a:r>
          </a:p>
          <a:p>
            <a:endParaRPr/>
          </a:p>
          <a:p>
            <a:r>
              <a:t>PRIMARY SOURCES</a:t>
            </a:r>
          </a:p>
          <a:p>
            <a:r>
              <a:t>Qwen exact config: https://huggingface.co/Qwen/Qwen2.5-0.5B-Instruct/blob/main/config.json</a:t>
            </a:r>
          </a:p>
          <a:p>
            <a:r>
              <a:t>Qwen parameter count/model card: https://huggingface.co/Qwen/Qwen2.5-0.5B-Instruct</a:t>
            </a:r>
          </a:p>
          <a:p>
            <a:r>
              <a:t>Llama model card: https://huggingface.co/meta-llama/Llama-3.1-405B-Instruct</a:t>
            </a:r>
          </a:p>
          <a:p>
            <a:r>
              <a:t>Meta architecture values: https://github.com/meta-pytorch/gpt-fast/blob/main/model.py</a:t>
            </a:r>
          </a:p>
          <a:p>
            <a:r>
              <a:t>Meta checkpoint variant definitions: https://github.com/meta-llama/llama-models/blob/main/models/sku_list.py</a:t>
            </a:r>
          </a:p>
          <a:p>
            <a:r>
              <a:t>Llama paper: https://arxiv.org/abs/2407.21783</a:t>
            </a:r>
          </a:p>
          <a:p>
            <a:r>
              <a:t>gpt-oss exact config: https://huggingface.co/openai/gpt-oss-120b/blob/main/config.json</a:t>
            </a:r>
          </a:p>
          <a:p>
            <a:r>
              <a:t>gpt-oss model card: https://arxiv.org/abs/2508.10925</a:t>
            </a:r>
          </a:p>
          <a:p>
            <a:r>
              <a:t>LoRA: https://arxiv.org/abs/2106.09685</a:t>
            </a:r>
          </a:p>
          <a:p>
            <a:r>
              <a:t>The figures use the same checkpoint representations as the opening comparison.</a:t>
            </a:r>
          </a:p>
          <a:p>
            <a:endParaRPr/>
          </a:p>
          <a:p>
            <a:r>
              <a:t>LOGOS</a:t>
            </a:r>
          </a:p>
          <a:p>
            <a:r>
              <a:t>Original organization avatars reused intentionally from slide4 to preserve model recognition and the same comparison design. The original proportions and source pixels are preserved. Qwen:https://huggingface.co/Qwen; Meta:https://huggingface.co/meta-llama; OpenAI:https://huggingface.co/openai. Full asset links are recorded in slide4's notes. No new generated visuals are used on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RUNNING THE NOTEBOOK IN COLAB</a:t>
            </a:r>
          </a:p>
          <a:p>
            <a:endParaRPr/>
          </a:p>
          <a:p>
            <a:r>
              <a:t>Repository: https://github.com/venkatesh-mohanram/qwen-fine-tuning</a:t>
            </a:r>
          </a:p>
          <a:p>
            <a:r>
              <a:t>Direct lab link: https://colab.research.google.com/github/venkatesh-mohanram/qwen-fine-tuning/blob/main/Qwen_LoRA_Adaptive_CPU_GPU.ipynb</a:t>
            </a:r>
          </a:p>
          <a:p>
            <a:r>
              <a:t>Notebook file: Qwen_LoRA_Adaptive_CPU_GPU.ipynb</a:t>
            </a:r>
          </a:p>
          <a:p>
            <a:r>
              <a:t>Saved-output notebook: Qwen_LoRA_Adaptive_CPU_GPU_WithExecutionOutput.ipynb</a:t>
            </a:r>
          </a:p>
          <a:p>
            <a:endParaRPr/>
          </a:p>
          <a:p>
            <a:r>
              <a:t>Open the direct Colab link in a browser, sign in with a Google account, and choose Copy to Drive. Alternatively, visit https://colab.research.google.com, choose File &gt; Open notebook &gt; GitHub, paste the repository URL, and select Qwen_LoRA_Adaptive_CPU_GPU.ipynb. Opening a GitHub notebook does not automatically transfer its accompanying data files into the runtime.</a:t>
            </a:r>
          </a:p>
          <a:p>
            <a:endParaRPr/>
          </a:p>
          <a:p>
            <a:r>
              <a:t>Download the repository using Code &gt; Download ZIP and extract it on your computer. In Colab choose Runtime &gt; Change runtime type, select T4 GPU when available, and connect. CPU also works using the notebook's adaptive configuration. GPU availability depends on account limits and current capacity.</a:t>
            </a:r>
          </a:p>
          <a:p>
            <a:endParaRPr/>
          </a:p>
          <a:p>
            <a:r>
              <a:t>Open the Files sidebar, choose Upload, and select the five extracted JSONL files listed on the slide. Upload them into /content, the default working directory, with their filenames unchanged. The notebook validates all five files even though hardware detection selects only one training/validation pair. File uploads belong to the runtime and must be repeated if that runtime is replaced. Restart the session after installing packages; avoid deleting the runtime when you want to retain uploaded files.</a:t>
            </a:r>
          </a:p>
          <a:p>
            <a:endParaRPr/>
          </a:p>
          <a:p>
            <a:r>
              <a:t>Run the installation cell and %pip check in section 0. Address dependency conflicts using that section's environment guidance. A new hosted runtime may contain incompatible preinstalled packages. Restart after installation, then continue from section 1 so package imports use the installed versions. Run the remaining cells sequentially to inspect model internals, train LoRA adapters, and compare generated answers. Exact recall is measured by the notebook rather than guaranteed.</a:t>
            </a:r>
          </a:p>
          <a:p>
            <a:endParaRPr/>
          </a:p>
          <a:p>
            <a:r>
              <a:t>The repository also provides a notebook ending in WithExecutionOutput.ipynb. Open that version to inspect saved results without executing the model. Saved notebook outputs do not include a running model or allow new inference without a runtime.</a:t>
            </a:r>
          </a:p>
          <a:p>
            <a:endParaRPr/>
          </a:p>
          <a:p>
            <a:r>
              <a:t>Sources verified on 2026-10-19:</a:t>
            </a:r>
          </a:p>
          <a:p>
            <a:r>
              <a:t>https://github.com/venkatesh-mohanram/qwen-fine-tuning</a:t>
            </a:r>
          </a:p>
          <a:p>
            <a:r>
              <a:t>https://colab.research.google.com/github/venkatesh-mohanram/qwen-fine-tuning/blob/main/Qwen_LoRA_Adaptive_CPU_GPU.ipynb</a:t>
            </a:r>
          </a:p>
          <a:p>
            <a:r>
              <a:t>https://research.google.com/colaboratory/faq.html</a:t>
            </a:r>
          </a:p>
          <a:p>
            <a:r>
              <a:t>The repository listing, exact notebook paths, all five data filenames, Copy to Drive button and Runtime &gt; Change runtime type menu were verified in the browser. No runtime was connected and no notebook cells were executed.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and learning resources supplied for this workshop.</a:t>
            </a:r>
          </a:p>
          <a:p>
            <a:endParaRPr/>
          </a:p>
          <a:p>
            <a:r>
              <a:t>https://www.youtube.com/watch?v=ZhAz268Hdpw</a:t>
            </a:r>
          </a:p>
          <a:p>
            <a:r>
              <a:t>https://www.youtube.com/watch?v=eMlx5fFNoYc</a:t>
            </a:r>
          </a:p>
          <a:p>
            <a:r>
              <a:t>https://www.youtube.com/watch?v=IIvORO248Zs</a:t>
            </a:r>
          </a:p>
          <a:p>
            <a:r>
              <a:t>https://poloclub.github.io/transformer-explainer/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 and discussion.</a:t>
            </a:r>
          </a:p>
          <a:p>
            <a:endParaRPr/>
          </a:p>
          <a:p>
            <a:r>
              <a:t>The closing slide reuses the opening slide artwork and visual style.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poloclub.github.io/transformer-explainer/" TargetMode="External"/><Relationship Id="rId4" Type="http://schemas.openxmlformats.org/officeDocument/2006/relationships/hyperlink" Target="https://arxiv.org/abs/1706.03762"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hyperlink" Target="https://colab.research.google.com/github/venkatesh-mohanram/qwen-fine-tuning/blob/main/Qwen_LoRA_Adaptive_CPU_GPU.ipynb"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github.com/venkatesh-mohanram/qwen-fine-tuni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ZhAz268Hdpw"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poloclub.github.io/transformer-explainer/" TargetMode="External"/><Relationship Id="rId5" Type="http://schemas.openxmlformats.org/officeDocument/2006/relationships/hyperlink" Target="https://www.youtube.com/watch?v=IIvORO248Zs" TargetMode="External"/><Relationship Id="rId4" Type="http://schemas.openxmlformats.org/officeDocument/2006/relationships/hyperlink" Target="https://www.youtube.com/watch?v=eMlx5fFNoYc"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ECEF4BE-2C0C-478C-9E1B-3332D4452AE5}"/>
              </a:ext>
            </a:extLst>
          </p:cNvPr>
          <p:cNvSpPr>
            <a:spLocks noGrp="1"/>
          </p:cNvSpPr>
          <p:nvPr/>
        </p:nvSpPr>
        <p:spPr>
          <a:xfrm>
            <a:off x="0" y="0"/>
            <a:ext cx="365760" cy="5143500"/>
          </a:xfrm>
          <a:prstGeom prst="rect">
            <a:avLst/>
          </a:prstGeom>
          <a:solidFill>
            <a:srgbClr val="F59E0B"/>
          </a:solidFill>
        </p:spPr>
        <p:txBody>
          <a:bodyPr/>
          <a:lstStyle/>
          <a:p>
            <a:endParaRPr lang="en-US"/>
          </a:p>
        </p:txBody>
      </p:sp>
      <p:sp>
        <p:nvSpPr>
          <p:cNvPr id="3" name="Shape 1">
            <a:extLst>
              <a:ext uri="{FF2B5EF4-FFF2-40B4-BE49-F238E27FC236}">
                <a16:creationId xmlns:a16="http://schemas.microsoft.com/office/drawing/2014/main" id="{EB5BB9C3-761F-4145-B974-3EAB16627A6C}"/>
              </a:ext>
            </a:extLst>
          </p:cNvPr>
          <p:cNvSpPr>
            <a:spLocks noGrp="1"/>
          </p:cNvSpPr>
          <p:nvPr/>
        </p:nvSpPr>
        <p:spPr>
          <a:xfrm>
            <a:off x="6858000" y="-731520"/>
            <a:ext cx="3657600" cy="3657600"/>
          </a:xfrm>
          <a:prstGeom prst="ellipse">
            <a:avLst/>
          </a:prstGeom>
          <a:solidFill>
            <a:srgbClr val="065A82">
              <a:alpha val="40000"/>
            </a:srgbClr>
          </a:solidFill>
        </p:spPr>
        <p:txBody>
          <a:bodyPr/>
          <a:lstStyle/>
          <a:p>
            <a:endParaRPr lang="en-US"/>
          </a:p>
        </p:txBody>
      </p:sp>
      <p:sp>
        <p:nvSpPr>
          <p:cNvPr id="4" name="Shape 2">
            <a:extLst>
              <a:ext uri="{FF2B5EF4-FFF2-40B4-BE49-F238E27FC236}">
                <a16:creationId xmlns:a16="http://schemas.microsoft.com/office/drawing/2014/main" id="{6119ECBF-F232-4C68-87DD-5D317FC75901}"/>
              </a:ext>
            </a:extLst>
          </p:cNvPr>
          <p:cNvSpPr>
            <a:spLocks noGrp="1"/>
          </p:cNvSpPr>
          <p:nvPr/>
        </p:nvSpPr>
        <p:spPr>
          <a:xfrm>
            <a:off x="7772400" y="2286000"/>
            <a:ext cx="2286000" cy="2286000"/>
          </a:xfrm>
          <a:prstGeom prst="ellipse">
            <a:avLst/>
          </a:prstGeom>
          <a:solidFill>
            <a:srgbClr val="1C7293">
              <a:alpha val="50000"/>
            </a:srgbClr>
          </a:solidFill>
        </p:spPr>
        <p:txBody>
          <a:bodyPr/>
          <a:lstStyle/>
          <a:p>
            <a:endParaRPr lang="en-US"/>
          </a:p>
        </p:txBody>
      </p:sp>
      <p:pic>
        <p:nvPicPr>
          <p:cNvPr id="15" name="Image 0"/>
          <p:cNvPicPr>
            <a:picLocks noChangeAspect="1"/>
          </p:cNvPicPr>
          <p:nvPr/>
        </p:nvPicPr>
        <p:blipFill>
          <a:blip r:embed="rId3"/>
          <a:stretch>
            <a:fillRect/>
          </a:stretch>
        </p:blipFill>
        <p:spPr>
          <a:xfrm>
            <a:off x="7132320" y="914400"/>
            <a:ext cx="1645920" cy="1645920"/>
          </a:xfrm>
          <a:prstGeom prst="rect">
            <a:avLst/>
          </a:prstGeom>
        </p:spPr>
      </p:pic>
      <p:sp>
        <p:nvSpPr>
          <p:cNvPr id="6" name="Text 3">
            <a:extLst>
              <a:ext uri="{FF2B5EF4-FFF2-40B4-BE49-F238E27FC236}">
                <a16:creationId xmlns:a16="http://schemas.microsoft.com/office/drawing/2014/main" id="{2720397C-500B-4966-86EC-71A7513AE3C4}"/>
              </a:ext>
            </a:extLst>
          </p:cNvPr>
          <p:cNvSpPr>
            <a:spLocks noGrp="1"/>
          </p:cNvSpPr>
          <p:nvPr/>
        </p:nvSpPr>
        <p:spPr>
          <a:xfrm>
            <a:off x="640080" y="502920"/>
            <a:ext cx="5943600" cy="365760"/>
          </a:xfrm>
          <a:prstGeom prst="rect">
            <a:avLst/>
          </a:prstGeom>
          <a:noFill/>
        </p:spPr>
        <p:txBody>
          <a:bodyPr wrap="square" lIns="0" tIns="0" rIns="0" bIns="0" anchor="ctr"/>
          <a:lstStyle/>
          <a:p>
            <a:pPr marL="0" indent="0">
              <a:buNone/>
            </a:pPr>
            <a:r>
              <a:rPr sz="1100" b="1" spc="300">
                <a:solidFill>
                  <a:srgbClr val="F59E0B"/>
                </a:solidFill>
                <a:latin typeface="Calibri"/>
                <a:ea typeface="Calibri"/>
                <a:cs typeface="Calibri"/>
              </a:rPr>
              <a:t>IEEE TECHNICAL SESSION</a:t>
            </a:r>
            <a:endParaRPr sz="1100"/>
          </a:p>
        </p:txBody>
      </p:sp>
      <p:sp>
        <p:nvSpPr>
          <p:cNvPr id="7" name="Text 4">
            <a:extLst>
              <a:ext uri="{FF2B5EF4-FFF2-40B4-BE49-F238E27FC236}">
                <a16:creationId xmlns:a16="http://schemas.microsoft.com/office/drawing/2014/main" id="{B18B9009-65FC-4D4A-972A-157502A1FE56}"/>
              </a:ext>
            </a:extLst>
          </p:cNvPr>
          <p:cNvSpPr>
            <a:spLocks noGrp="1"/>
          </p:cNvSpPr>
          <p:nvPr/>
        </p:nvSpPr>
        <p:spPr>
          <a:xfrm>
            <a:off x="640080" y="1005840"/>
            <a:ext cx="6477000" cy="1828800"/>
          </a:xfrm>
          <a:prstGeom prst="rect">
            <a:avLst/>
          </a:prstGeom>
          <a:noFill/>
        </p:spPr>
        <p:txBody>
          <a:bodyPr wrap="square" lIns="0" tIns="0" rIns="0" bIns="0" anchor="ctr">
            <a:noAutofit/>
          </a:bodyPr>
          <a:lstStyle/>
          <a:p>
            <a:pPr marL="0" indent="0">
              <a:buNone/>
              <a:defRPr sz="4000" b="1">
                <a:solidFill>
                  <a:srgbClr val="FFFFFF"/>
                </a:solidFill>
                <a:latin typeface="Georgia"/>
                <a:ea typeface="Georgia"/>
                <a:cs typeface="Georgia"/>
              </a:defRPr>
            </a:pPr>
            <a:r>
              <a:rPr sz="4000" b="1">
                <a:solidFill>
                  <a:srgbClr val="FFFFFF"/>
                </a:solidFill>
                <a:latin typeface="Georgia"/>
                <a:ea typeface="Georgia"/>
                <a:cs typeface="Georgia"/>
              </a:rPr>
              <a:t>How Large Language</a:t>
            </a:r>
            <a:endParaRPr sz="4000"/>
          </a:p>
          <a:p>
            <a:pPr marL="0" indent="0">
              <a:buNone/>
              <a:defRPr sz="4000" b="1">
                <a:solidFill>
                  <a:srgbClr val="FFFFFF"/>
                </a:solidFill>
                <a:latin typeface="Georgia"/>
                <a:ea typeface="Georgia"/>
                <a:cs typeface="Georgia"/>
              </a:defRPr>
            </a:pPr>
            <a:r>
              <a:rPr sz="4000" b="1">
                <a:solidFill>
                  <a:srgbClr val="FFFFFF"/>
                </a:solidFill>
                <a:latin typeface="Georgia"/>
                <a:ea typeface="Georgia"/>
                <a:cs typeface="Georgia"/>
              </a:rPr>
              <a:t>Models Work</a:t>
            </a:r>
            <a:endParaRPr sz="4000"/>
          </a:p>
        </p:txBody>
      </p:sp>
      <p:sp>
        <p:nvSpPr>
          <p:cNvPr id="8" name="Text 5">
            <a:extLst>
              <a:ext uri="{FF2B5EF4-FFF2-40B4-BE49-F238E27FC236}">
                <a16:creationId xmlns:a16="http://schemas.microsoft.com/office/drawing/2014/main" id="{E376A970-E3C9-410C-A6B9-3972CDC4C00E}"/>
              </a:ext>
            </a:extLst>
          </p:cNvPr>
          <p:cNvSpPr>
            <a:spLocks noGrp="1"/>
          </p:cNvSpPr>
          <p:nvPr/>
        </p:nvSpPr>
        <p:spPr>
          <a:xfrm>
            <a:off x="640080" y="2880360"/>
            <a:ext cx="7143750" cy="502920"/>
          </a:xfrm>
          <a:prstGeom prst="rect">
            <a:avLst/>
          </a:prstGeom>
          <a:noFill/>
        </p:spPr>
        <p:txBody>
          <a:bodyPr wrap="square" lIns="0" tIns="0" rIns="0" bIns="0" anchor="ctr"/>
          <a:lstStyle/>
          <a:p>
            <a:pPr marL="0" indent="0">
              <a:buNone/>
            </a:pPr>
            <a:r>
              <a:rPr sz="2000" i="1">
                <a:solidFill>
                  <a:srgbClr val="E0F0F8"/>
                </a:solidFill>
                <a:latin typeface="Calibri"/>
                <a:ea typeface="Calibri"/>
                <a:cs typeface="Calibri"/>
              </a:rPr>
              <a:t>Inside Qwen 0.5B, with LoRA fine-tuning</a:t>
            </a:r>
            <a:endParaRPr sz="2000"/>
          </a:p>
        </p:txBody>
      </p:sp>
      <p:sp>
        <p:nvSpPr>
          <p:cNvPr id="9" name="Shape 6">
            <a:extLst>
              <a:ext uri="{FF2B5EF4-FFF2-40B4-BE49-F238E27FC236}">
                <a16:creationId xmlns:a16="http://schemas.microsoft.com/office/drawing/2014/main" id="{CBB2DA6B-C626-4932-9D88-DFB83288CB14}"/>
              </a:ext>
            </a:extLst>
          </p:cNvPr>
          <p:cNvSpPr>
            <a:spLocks noGrp="1"/>
          </p:cNvSpPr>
          <p:nvPr/>
        </p:nvSpPr>
        <p:spPr>
          <a:xfrm>
            <a:off x="640080" y="3474720"/>
            <a:ext cx="5029200" cy="45720"/>
          </a:xfrm>
          <a:prstGeom prst="rect">
            <a:avLst/>
          </a:prstGeom>
          <a:solidFill>
            <a:srgbClr val="1C7293"/>
          </a:solidFill>
        </p:spPr>
        <p:txBody>
          <a:bodyPr/>
          <a:lstStyle/>
          <a:p>
            <a:endParaRPr lang="en-US"/>
          </a:p>
        </p:txBody>
      </p:sp>
      <p:sp>
        <p:nvSpPr>
          <p:cNvPr id="10" name="Text 7">
            <a:extLst>
              <a:ext uri="{FF2B5EF4-FFF2-40B4-BE49-F238E27FC236}">
                <a16:creationId xmlns:a16="http://schemas.microsoft.com/office/drawing/2014/main" id="{14FAF3F3-6CF1-4D97-A5BC-ECCC2E4FB8F9}"/>
              </a:ext>
            </a:extLst>
          </p:cNvPr>
          <p:cNvSpPr>
            <a:spLocks noGrp="1"/>
          </p:cNvSpPr>
          <p:nvPr/>
        </p:nvSpPr>
        <p:spPr>
          <a:xfrm>
            <a:off x="640080" y="3743325"/>
            <a:ext cx="6000750" cy="666750"/>
          </a:xfrm>
          <a:prstGeom prst="rect">
            <a:avLst/>
          </a:prstGeom>
          <a:noFill/>
        </p:spPr>
        <p:txBody>
          <a:bodyPr wrap="square" lIns="0" tIns="0" rIns="0" bIns="0" anchor="ctr">
            <a:noAutofit/>
          </a:bodyPr>
          <a:lstStyle/>
          <a:p>
            <a:pPr>
              <a:defRPr sz="1300">
                <a:solidFill>
                  <a:srgbClr val="BCD0E0"/>
                </a:solidFill>
                <a:latin typeface="Calibri"/>
                <a:ea typeface="Calibri"/>
                <a:cs typeface="Calibri"/>
              </a:defRPr>
            </a:pPr>
            <a:r>
              <a:rPr sz="1300" dirty="0">
                <a:solidFill>
                  <a:srgbClr val="BCD0E0"/>
                </a:solidFill>
                <a:latin typeface="Calibri"/>
                <a:ea typeface="Calibri"/>
                <a:cs typeface="Calibri"/>
              </a:rPr>
              <a:t>Venkatesh Mohanram
</a:t>
            </a:r>
            <a:r>
              <a:rPr lang="en-US" sz="1300" dirty="0">
                <a:solidFill>
                  <a:srgbClr val="BCD0E0"/>
                </a:solidFill>
                <a:latin typeface="Calibri"/>
              </a:rPr>
              <a:t>Consulting Member Of Technical Staff at Oracle | IEEE Senior Member</a:t>
            </a:r>
            <a:endParaRPr sz="1300" dirty="0"/>
          </a:p>
        </p:txBody>
      </p:sp>
    </p:spTree>
    <p:extLst>
      <p:ext uri="{BB962C8B-B14F-4D97-AF65-F5344CB8AC3E}">
        <p14:creationId xmlns:p14="http://schemas.microsoft.com/office/powerpoint/2010/main" val="1125435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64592"/>
            <a:ext cx="8229600" cy="502920"/>
          </a:xfrm>
          <a:prstGeom prst="rect">
            <a:avLst/>
          </a:prstGeom>
          <a:noFill/>
        </p:spPr>
        <p:txBody>
          <a:bodyPr wrap="square" lIns="0" tIns="0" rIns="0" bIns="0" anchor="ctr"/>
          <a:lstStyle/>
          <a:p>
            <a:pPr marL="0" indent="0">
              <a:buNone/>
            </a:pPr>
            <a:r>
              <a:rPr sz="1800" b="1" dirty="0">
                <a:solidFill>
                  <a:srgbClr val="FFFFFF"/>
                </a:solidFill>
                <a:latin typeface="Georgia"/>
                <a:ea typeface="Georgia"/>
                <a:cs typeface="Georgia"/>
              </a:rPr>
              <a:t>AGENDA:</a:t>
            </a:r>
            <a:endParaRPr sz="1800" dirty="0"/>
          </a:p>
        </p:txBody>
      </p:sp>
      <p:sp>
        <p:nvSpPr>
          <p:cNvPr id="4" name="Shape 2">
            <a:extLst>
              <a:ext uri="{FF2B5EF4-FFF2-40B4-BE49-F238E27FC236}">
                <a16:creationId xmlns:a16="http://schemas.microsoft.com/office/drawing/2014/main" id="{FA0BCFFB-6037-4559-BB42-BAE1010DFF55}"/>
              </a:ext>
            </a:extLst>
          </p:cNvPr>
          <p:cNvSpPr>
            <a:spLocks noGrp="1"/>
          </p:cNvSpPr>
          <p:nvPr/>
        </p:nvSpPr>
        <p:spPr>
          <a:xfrm>
            <a:off x="320040" y="1005840"/>
            <a:ext cx="1600200" cy="3474720"/>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5" name="Shape 3">
            <a:extLst>
              <a:ext uri="{FF2B5EF4-FFF2-40B4-BE49-F238E27FC236}">
                <a16:creationId xmlns:a16="http://schemas.microsoft.com/office/drawing/2014/main" id="{D0C19F86-6DE0-490F-9D87-8799F1B99FC5}"/>
              </a:ext>
            </a:extLst>
          </p:cNvPr>
          <p:cNvSpPr>
            <a:spLocks noGrp="1"/>
          </p:cNvSpPr>
          <p:nvPr/>
        </p:nvSpPr>
        <p:spPr>
          <a:xfrm>
            <a:off x="320040" y="1005840"/>
            <a:ext cx="1600200" cy="73152"/>
          </a:xfrm>
          <a:prstGeom prst="rect">
            <a:avLst/>
          </a:prstGeom>
          <a:solidFill>
            <a:srgbClr val="065A82"/>
          </a:solidFill>
        </p:spPr>
        <p:txBody>
          <a:bodyPr/>
          <a:lstStyle/>
          <a:p>
            <a:endParaRPr lang="en-US"/>
          </a:p>
        </p:txBody>
      </p:sp>
      <p:sp>
        <p:nvSpPr>
          <p:cNvPr id="7" name="Shape 4">
            <a:extLst>
              <a:ext uri="{FF2B5EF4-FFF2-40B4-BE49-F238E27FC236}">
                <a16:creationId xmlns:a16="http://schemas.microsoft.com/office/drawing/2014/main" id="{A52E1652-B4F0-44AD-9731-97EA9D27AEE5}"/>
              </a:ext>
            </a:extLst>
          </p:cNvPr>
          <p:cNvSpPr>
            <a:spLocks noGrp="1"/>
          </p:cNvSpPr>
          <p:nvPr/>
        </p:nvSpPr>
        <p:spPr>
          <a:xfrm>
            <a:off x="914400" y="1847088"/>
            <a:ext cx="411480" cy="411480"/>
          </a:xfrm>
          <a:prstGeom prst="ellipse">
            <a:avLst/>
          </a:prstGeom>
          <a:solidFill>
            <a:srgbClr val="065A82"/>
          </a:solidFill>
        </p:spPr>
        <p:txBody>
          <a:bodyPr/>
          <a:lstStyle/>
          <a:p>
            <a:endParaRPr lang="en-US"/>
          </a:p>
        </p:txBody>
      </p:sp>
      <p:sp>
        <p:nvSpPr>
          <p:cNvPr id="8" name="Text 5">
            <a:extLst>
              <a:ext uri="{FF2B5EF4-FFF2-40B4-BE49-F238E27FC236}">
                <a16:creationId xmlns:a16="http://schemas.microsoft.com/office/drawing/2014/main" id="{B1491977-4924-449C-847A-4301CFA880C8}"/>
              </a:ext>
            </a:extLst>
          </p:cNvPr>
          <p:cNvSpPr>
            <a:spLocks noGrp="1"/>
          </p:cNvSpPr>
          <p:nvPr/>
        </p:nvSpPr>
        <p:spPr>
          <a:xfrm>
            <a:off x="914400" y="1828800"/>
            <a:ext cx="411480" cy="411480"/>
          </a:xfrm>
          <a:prstGeom prst="rect">
            <a:avLst/>
          </a:prstGeom>
          <a:noFill/>
        </p:spPr>
        <p:txBody>
          <a:bodyPr wrap="square" lIns="0" tIns="0" rIns="0" bIns="0" anchor="ctr"/>
          <a:lstStyle/>
          <a:p>
            <a:pPr marL="0" indent="0" algn="ctr">
              <a:buNone/>
            </a:pPr>
            <a:r>
              <a:rPr sz="1400" b="1">
                <a:solidFill>
                  <a:srgbClr val="FFFFFF"/>
                </a:solidFill>
                <a:latin typeface="Georgia"/>
                <a:ea typeface="Georgia"/>
                <a:cs typeface="Georgia"/>
              </a:rPr>
              <a:t>1</a:t>
            </a:r>
            <a:endParaRPr sz="1400"/>
          </a:p>
        </p:txBody>
      </p:sp>
      <p:sp>
        <p:nvSpPr>
          <p:cNvPr id="10" name="Text 7">
            <a:extLst>
              <a:ext uri="{FF2B5EF4-FFF2-40B4-BE49-F238E27FC236}">
                <a16:creationId xmlns:a16="http://schemas.microsoft.com/office/drawing/2014/main" id="{182428B2-3934-4B42-80D5-4942C3E03206}"/>
              </a:ext>
            </a:extLst>
          </p:cNvPr>
          <p:cNvSpPr>
            <a:spLocks noGrp="1"/>
          </p:cNvSpPr>
          <p:nvPr/>
        </p:nvSpPr>
        <p:spPr>
          <a:xfrm>
            <a:off x="374904" y="2670048"/>
            <a:ext cx="1481328" cy="502920"/>
          </a:xfrm>
          <a:prstGeom prst="rect">
            <a:avLst/>
          </a:prstGeom>
          <a:noFill/>
        </p:spPr>
        <p:txBody>
          <a:bodyPr wrap="square" lIns="0" tIns="0" rIns="0" bIns="0" anchor="ctr"/>
          <a:lstStyle/>
          <a:p>
            <a:pPr marL="0" indent="0" algn="ctr">
              <a:buNone/>
            </a:pPr>
            <a:r>
              <a:rPr sz="1200" b="1">
                <a:solidFill>
                  <a:srgbClr val="1E293B"/>
                </a:solidFill>
                <a:latin typeface="Georgia"/>
                <a:ea typeface="Georgia"/>
                <a:cs typeface="Georgia"/>
              </a:rPr>
              <a:t>Models &amp;
Foundations</a:t>
            </a:r>
            <a:endParaRPr sz="1200"/>
          </a:p>
        </p:txBody>
      </p:sp>
      <p:sp>
        <p:nvSpPr>
          <p:cNvPr id="11" name="Text 8">
            <a:extLst>
              <a:ext uri="{FF2B5EF4-FFF2-40B4-BE49-F238E27FC236}">
                <a16:creationId xmlns:a16="http://schemas.microsoft.com/office/drawing/2014/main" id="{C0CF6904-114B-447F-A385-4BFBD00A2D41}"/>
              </a:ext>
            </a:extLst>
          </p:cNvPr>
          <p:cNvSpPr>
            <a:spLocks noGrp="1"/>
          </p:cNvSpPr>
          <p:nvPr/>
        </p:nvSpPr>
        <p:spPr>
          <a:xfrm>
            <a:off x="393192" y="3273552"/>
            <a:ext cx="1444752" cy="731520"/>
          </a:xfrm>
          <a:prstGeom prst="rect">
            <a:avLst/>
          </a:prstGeom>
          <a:noFill/>
        </p:spPr>
        <p:txBody>
          <a:bodyPr wrap="square" lIns="0" tIns="0" rIns="0" bIns="0" anchor="ctr"/>
          <a:lstStyle/>
          <a:p>
            <a:pPr marL="0" indent="0" algn="ctr">
              <a:buNone/>
            </a:pPr>
            <a:r>
              <a:rPr sz="1000">
                <a:solidFill>
                  <a:srgbClr val="64748B"/>
                </a:solidFill>
                <a:latin typeface="Calibri"/>
                <a:ea typeface="Calibri"/>
                <a:cs typeface="Calibri"/>
              </a:rPr>
              <a:t>Tokens, embeddings
and model configs</a:t>
            </a:r>
            <a:endParaRPr sz="1000"/>
          </a:p>
        </p:txBody>
      </p:sp>
      <p:sp>
        <p:nvSpPr>
          <p:cNvPr id="12" name="Shape 9">
            <a:extLst>
              <a:ext uri="{FF2B5EF4-FFF2-40B4-BE49-F238E27FC236}">
                <a16:creationId xmlns:a16="http://schemas.microsoft.com/office/drawing/2014/main" id="{A1788F52-C58F-44A6-8794-23B15543D2FA}"/>
              </a:ext>
            </a:extLst>
          </p:cNvPr>
          <p:cNvSpPr>
            <a:spLocks noGrp="1"/>
          </p:cNvSpPr>
          <p:nvPr/>
        </p:nvSpPr>
        <p:spPr>
          <a:xfrm>
            <a:off x="2029968" y="1005840"/>
            <a:ext cx="1600200" cy="3474720"/>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13" name="Shape 10">
            <a:extLst>
              <a:ext uri="{FF2B5EF4-FFF2-40B4-BE49-F238E27FC236}">
                <a16:creationId xmlns:a16="http://schemas.microsoft.com/office/drawing/2014/main" id="{61C02E15-FB85-4FB8-95CA-903CE42A5D38}"/>
              </a:ext>
            </a:extLst>
          </p:cNvPr>
          <p:cNvSpPr>
            <a:spLocks noGrp="1"/>
          </p:cNvSpPr>
          <p:nvPr/>
        </p:nvSpPr>
        <p:spPr>
          <a:xfrm>
            <a:off x="2029968" y="1005840"/>
            <a:ext cx="1600200" cy="73152"/>
          </a:xfrm>
          <a:prstGeom prst="rect">
            <a:avLst/>
          </a:prstGeom>
          <a:solidFill>
            <a:srgbClr val="1C7293"/>
          </a:solidFill>
        </p:spPr>
        <p:txBody>
          <a:bodyPr/>
          <a:lstStyle/>
          <a:p>
            <a:endParaRPr lang="en-US"/>
          </a:p>
        </p:txBody>
      </p:sp>
      <p:sp>
        <p:nvSpPr>
          <p:cNvPr id="15" name="Shape 11">
            <a:extLst>
              <a:ext uri="{FF2B5EF4-FFF2-40B4-BE49-F238E27FC236}">
                <a16:creationId xmlns:a16="http://schemas.microsoft.com/office/drawing/2014/main" id="{8EE744F6-A63B-48C0-BC91-7E204DD29C58}"/>
              </a:ext>
            </a:extLst>
          </p:cNvPr>
          <p:cNvSpPr>
            <a:spLocks noGrp="1"/>
          </p:cNvSpPr>
          <p:nvPr/>
        </p:nvSpPr>
        <p:spPr>
          <a:xfrm>
            <a:off x="2624328" y="1847088"/>
            <a:ext cx="411480" cy="411480"/>
          </a:xfrm>
          <a:prstGeom prst="ellipse">
            <a:avLst/>
          </a:prstGeom>
          <a:solidFill>
            <a:srgbClr val="1C7293"/>
          </a:solidFill>
        </p:spPr>
        <p:txBody>
          <a:bodyPr/>
          <a:lstStyle/>
          <a:p>
            <a:endParaRPr lang="en-US"/>
          </a:p>
        </p:txBody>
      </p:sp>
      <p:sp>
        <p:nvSpPr>
          <p:cNvPr id="16" name="Text 12">
            <a:extLst>
              <a:ext uri="{FF2B5EF4-FFF2-40B4-BE49-F238E27FC236}">
                <a16:creationId xmlns:a16="http://schemas.microsoft.com/office/drawing/2014/main" id="{4E451567-21AB-4D33-BD50-0BFAD416A015}"/>
              </a:ext>
            </a:extLst>
          </p:cNvPr>
          <p:cNvSpPr>
            <a:spLocks noGrp="1"/>
          </p:cNvSpPr>
          <p:nvPr/>
        </p:nvSpPr>
        <p:spPr>
          <a:xfrm>
            <a:off x="2624328" y="1828800"/>
            <a:ext cx="411480" cy="411480"/>
          </a:xfrm>
          <a:prstGeom prst="rect">
            <a:avLst/>
          </a:prstGeom>
          <a:noFill/>
        </p:spPr>
        <p:txBody>
          <a:bodyPr wrap="square" lIns="0" tIns="0" rIns="0" bIns="0" anchor="ctr"/>
          <a:lstStyle/>
          <a:p>
            <a:pPr marL="0" indent="0" algn="ctr">
              <a:buNone/>
            </a:pPr>
            <a:r>
              <a:rPr sz="1400" b="1">
                <a:solidFill>
                  <a:srgbClr val="FFFFFF"/>
                </a:solidFill>
                <a:latin typeface="Georgia"/>
                <a:ea typeface="Georgia"/>
                <a:cs typeface="Georgia"/>
              </a:rPr>
              <a:t>2</a:t>
            </a:r>
            <a:endParaRPr sz="1400"/>
          </a:p>
        </p:txBody>
      </p:sp>
      <p:sp>
        <p:nvSpPr>
          <p:cNvPr id="18" name="Text 14">
            <a:extLst>
              <a:ext uri="{FF2B5EF4-FFF2-40B4-BE49-F238E27FC236}">
                <a16:creationId xmlns:a16="http://schemas.microsoft.com/office/drawing/2014/main" id="{9E1BA993-9B5E-42D3-A593-C4A0331F76A1}"/>
              </a:ext>
            </a:extLst>
          </p:cNvPr>
          <p:cNvSpPr>
            <a:spLocks noGrp="1"/>
          </p:cNvSpPr>
          <p:nvPr/>
        </p:nvSpPr>
        <p:spPr>
          <a:xfrm>
            <a:off x="2084832" y="2670048"/>
            <a:ext cx="1481328" cy="502920"/>
          </a:xfrm>
          <a:prstGeom prst="rect">
            <a:avLst/>
          </a:prstGeom>
          <a:noFill/>
        </p:spPr>
        <p:txBody>
          <a:bodyPr wrap="square" lIns="0" tIns="0" rIns="0" bIns="0" anchor="ctr"/>
          <a:lstStyle/>
          <a:p>
            <a:pPr marL="0" indent="0" algn="ctr">
              <a:buNone/>
            </a:pPr>
            <a:r>
              <a:rPr sz="1200" b="1">
                <a:solidFill>
                  <a:srgbClr val="1E293B"/>
                </a:solidFill>
                <a:latin typeface="Georgia"/>
                <a:ea typeface="Georgia"/>
                <a:cs typeface="Georgia"/>
              </a:rPr>
              <a:t>Inside the
Transformer</a:t>
            </a:r>
            <a:endParaRPr sz="1200"/>
          </a:p>
        </p:txBody>
      </p:sp>
      <p:sp>
        <p:nvSpPr>
          <p:cNvPr id="19" name="Text 15">
            <a:extLst>
              <a:ext uri="{FF2B5EF4-FFF2-40B4-BE49-F238E27FC236}">
                <a16:creationId xmlns:a16="http://schemas.microsoft.com/office/drawing/2014/main" id="{EF4E38BB-B5E4-4B92-860A-4FC4C0B253B0}"/>
              </a:ext>
            </a:extLst>
          </p:cNvPr>
          <p:cNvSpPr>
            <a:spLocks noGrp="1"/>
          </p:cNvSpPr>
          <p:nvPr/>
        </p:nvSpPr>
        <p:spPr>
          <a:xfrm>
            <a:off x="2103120" y="3273552"/>
            <a:ext cx="1444752" cy="731520"/>
          </a:xfrm>
          <a:prstGeom prst="rect">
            <a:avLst/>
          </a:prstGeom>
          <a:noFill/>
        </p:spPr>
        <p:txBody>
          <a:bodyPr wrap="square" lIns="0" tIns="0" rIns="0" bIns="0" anchor="ctr"/>
          <a:lstStyle/>
          <a:p>
            <a:pPr marL="0" indent="0" algn="ctr">
              <a:buNone/>
            </a:pPr>
            <a:r>
              <a:rPr sz="1000">
                <a:solidFill>
                  <a:srgbClr val="64748B"/>
                </a:solidFill>
                <a:latin typeface="Calibri"/>
                <a:ea typeface="Calibri"/>
                <a:cs typeface="Calibri"/>
              </a:rPr>
              <a:t>Attention, Qwen layers
and generation</a:t>
            </a:r>
            <a:endParaRPr sz="1000"/>
          </a:p>
        </p:txBody>
      </p:sp>
      <p:sp>
        <p:nvSpPr>
          <p:cNvPr id="20" name="Shape 16">
            <a:extLst>
              <a:ext uri="{FF2B5EF4-FFF2-40B4-BE49-F238E27FC236}">
                <a16:creationId xmlns:a16="http://schemas.microsoft.com/office/drawing/2014/main" id="{3D90E436-39DE-4C76-8EFB-F70DDDE396B5}"/>
              </a:ext>
            </a:extLst>
          </p:cNvPr>
          <p:cNvSpPr>
            <a:spLocks noGrp="1"/>
          </p:cNvSpPr>
          <p:nvPr/>
        </p:nvSpPr>
        <p:spPr>
          <a:xfrm>
            <a:off x="3739896" y="1005840"/>
            <a:ext cx="1600200" cy="3474720"/>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21" name="Shape 17">
            <a:extLst>
              <a:ext uri="{FF2B5EF4-FFF2-40B4-BE49-F238E27FC236}">
                <a16:creationId xmlns:a16="http://schemas.microsoft.com/office/drawing/2014/main" id="{C7C209B8-958C-488B-B416-CDF41E070EE0}"/>
              </a:ext>
            </a:extLst>
          </p:cNvPr>
          <p:cNvSpPr>
            <a:spLocks noGrp="1"/>
          </p:cNvSpPr>
          <p:nvPr/>
        </p:nvSpPr>
        <p:spPr>
          <a:xfrm>
            <a:off x="3739896" y="1005840"/>
            <a:ext cx="1600200" cy="73152"/>
          </a:xfrm>
          <a:prstGeom prst="rect">
            <a:avLst/>
          </a:prstGeom>
          <a:solidFill>
            <a:srgbClr val="F59E0B"/>
          </a:solidFill>
        </p:spPr>
        <p:txBody>
          <a:bodyPr/>
          <a:lstStyle/>
          <a:p>
            <a:endParaRPr lang="en-US"/>
          </a:p>
        </p:txBody>
      </p:sp>
      <p:sp>
        <p:nvSpPr>
          <p:cNvPr id="23" name="Shape 18">
            <a:extLst>
              <a:ext uri="{FF2B5EF4-FFF2-40B4-BE49-F238E27FC236}">
                <a16:creationId xmlns:a16="http://schemas.microsoft.com/office/drawing/2014/main" id="{1914F134-0B0D-438C-93FF-3E9FC63387FE}"/>
              </a:ext>
            </a:extLst>
          </p:cNvPr>
          <p:cNvSpPr>
            <a:spLocks noGrp="1"/>
          </p:cNvSpPr>
          <p:nvPr/>
        </p:nvSpPr>
        <p:spPr>
          <a:xfrm>
            <a:off x="4334256" y="1847088"/>
            <a:ext cx="411480" cy="411480"/>
          </a:xfrm>
          <a:prstGeom prst="ellipse">
            <a:avLst/>
          </a:prstGeom>
          <a:solidFill>
            <a:srgbClr val="F59E0B"/>
          </a:solidFill>
        </p:spPr>
        <p:txBody>
          <a:bodyPr/>
          <a:lstStyle/>
          <a:p>
            <a:endParaRPr lang="en-US"/>
          </a:p>
        </p:txBody>
      </p:sp>
      <p:sp>
        <p:nvSpPr>
          <p:cNvPr id="24" name="Text 19">
            <a:extLst>
              <a:ext uri="{FF2B5EF4-FFF2-40B4-BE49-F238E27FC236}">
                <a16:creationId xmlns:a16="http://schemas.microsoft.com/office/drawing/2014/main" id="{BD4C30A3-C229-48E3-AAD6-12CCF3B107F0}"/>
              </a:ext>
            </a:extLst>
          </p:cNvPr>
          <p:cNvSpPr>
            <a:spLocks noGrp="1"/>
          </p:cNvSpPr>
          <p:nvPr/>
        </p:nvSpPr>
        <p:spPr>
          <a:xfrm>
            <a:off x="4334256" y="1828800"/>
            <a:ext cx="411480" cy="411480"/>
          </a:xfrm>
          <a:prstGeom prst="rect">
            <a:avLst/>
          </a:prstGeom>
          <a:noFill/>
        </p:spPr>
        <p:txBody>
          <a:bodyPr wrap="square" lIns="0" tIns="0" rIns="0" bIns="0" anchor="ctr"/>
          <a:lstStyle/>
          <a:p>
            <a:pPr marL="0" indent="0" algn="ctr">
              <a:buNone/>
            </a:pPr>
            <a:r>
              <a:rPr sz="1400" b="1">
                <a:solidFill>
                  <a:srgbClr val="FFFFFF"/>
                </a:solidFill>
                <a:latin typeface="Georgia"/>
                <a:ea typeface="Georgia"/>
                <a:cs typeface="Georgia"/>
              </a:rPr>
              <a:t>3</a:t>
            </a:r>
            <a:endParaRPr sz="1400"/>
          </a:p>
        </p:txBody>
      </p:sp>
      <p:sp>
        <p:nvSpPr>
          <p:cNvPr id="26" name="Text 21">
            <a:extLst>
              <a:ext uri="{FF2B5EF4-FFF2-40B4-BE49-F238E27FC236}">
                <a16:creationId xmlns:a16="http://schemas.microsoft.com/office/drawing/2014/main" id="{F7FBEA7B-D5AA-491E-B81B-29DDE0FB49E1}"/>
              </a:ext>
            </a:extLst>
          </p:cNvPr>
          <p:cNvSpPr>
            <a:spLocks noGrp="1"/>
          </p:cNvSpPr>
          <p:nvPr/>
        </p:nvSpPr>
        <p:spPr>
          <a:xfrm>
            <a:off x="3794760" y="2676525"/>
            <a:ext cx="1481328" cy="666750"/>
          </a:xfrm>
          <a:prstGeom prst="rect">
            <a:avLst/>
          </a:prstGeom>
          <a:noFill/>
        </p:spPr>
        <p:txBody>
          <a:bodyPr wrap="square" lIns="0" tIns="0" rIns="0" bIns="0" anchor="ctr"/>
          <a:lstStyle/>
          <a:p>
            <a:pPr marL="0" indent="0" algn="ctr">
              <a:buNone/>
            </a:pPr>
            <a:r>
              <a:rPr sz="1200" b="1">
                <a:solidFill>
                  <a:srgbClr val="1E293B"/>
                </a:solidFill>
                <a:latin typeface="Georgia"/>
                <a:ea typeface="Georgia"/>
                <a:cs typeface="Georgia"/>
              </a:rPr>
              <a:t>Fine-tuning
with LoRA</a:t>
            </a:r>
            <a:endParaRPr sz="1200"/>
          </a:p>
        </p:txBody>
      </p:sp>
      <p:sp>
        <p:nvSpPr>
          <p:cNvPr id="27" name="Text 22">
            <a:extLst>
              <a:ext uri="{FF2B5EF4-FFF2-40B4-BE49-F238E27FC236}">
                <a16:creationId xmlns:a16="http://schemas.microsoft.com/office/drawing/2014/main" id="{7869C2A2-6A9D-41B8-BC71-A7BEB677CCE2}"/>
              </a:ext>
            </a:extLst>
          </p:cNvPr>
          <p:cNvSpPr>
            <a:spLocks noGrp="1"/>
          </p:cNvSpPr>
          <p:nvPr/>
        </p:nvSpPr>
        <p:spPr>
          <a:xfrm>
            <a:off x="3813048" y="3273552"/>
            <a:ext cx="1444752" cy="731520"/>
          </a:xfrm>
          <a:prstGeom prst="rect">
            <a:avLst/>
          </a:prstGeom>
          <a:noFill/>
        </p:spPr>
        <p:txBody>
          <a:bodyPr wrap="square" lIns="0" tIns="0" rIns="0" bIns="0" anchor="ctr"/>
          <a:lstStyle/>
          <a:p>
            <a:pPr marL="0" indent="0" algn="ctr">
              <a:buNone/>
            </a:pPr>
            <a:r>
              <a:rPr sz="1000">
                <a:solidFill>
                  <a:srgbClr val="64748B"/>
                </a:solidFill>
                <a:latin typeface="Calibri"/>
                <a:ea typeface="Calibri"/>
                <a:cs typeface="Calibri"/>
              </a:rPr>
              <a:t>Frozen weights and
trainable adapters</a:t>
            </a:r>
            <a:endParaRPr sz="1000"/>
          </a:p>
        </p:txBody>
      </p:sp>
      <p:sp>
        <p:nvSpPr>
          <p:cNvPr id="28" name="Shape 23">
            <a:extLst>
              <a:ext uri="{FF2B5EF4-FFF2-40B4-BE49-F238E27FC236}">
                <a16:creationId xmlns:a16="http://schemas.microsoft.com/office/drawing/2014/main" id="{EB458153-8092-4379-8CE9-973067D7B046}"/>
              </a:ext>
            </a:extLst>
          </p:cNvPr>
          <p:cNvSpPr>
            <a:spLocks noGrp="1"/>
          </p:cNvSpPr>
          <p:nvPr/>
        </p:nvSpPr>
        <p:spPr>
          <a:xfrm>
            <a:off x="5449824" y="1005840"/>
            <a:ext cx="1600200" cy="3474720"/>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29" name="Shape 24">
            <a:extLst>
              <a:ext uri="{FF2B5EF4-FFF2-40B4-BE49-F238E27FC236}">
                <a16:creationId xmlns:a16="http://schemas.microsoft.com/office/drawing/2014/main" id="{D96FDFBC-293F-4F7C-BB59-6C7C0A43565A}"/>
              </a:ext>
            </a:extLst>
          </p:cNvPr>
          <p:cNvSpPr>
            <a:spLocks noGrp="1"/>
          </p:cNvSpPr>
          <p:nvPr/>
        </p:nvSpPr>
        <p:spPr>
          <a:xfrm>
            <a:off x="5449824" y="1005840"/>
            <a:ext cx="1600200" cy="73152"/>
          </a:xfrm>
          <a:prstGeom prst="rect">
            <a:avLst/>
          </a:prstGeom>
          <a:solidFill>
            <a:srgbClr val="059669"/>
          </a:solidFill>
        </p:spPr>
        <p:txBody>
          <a:bodyPr/>
          <a:lstStyle/>
          <a:p>
            <a:endParaRPr lang="en-US"/>
          </a:p>
        </p:txBody>
      </p:sp>
      <p:sp>
        <p:nvSpPr>
          <p:cNvPr id="31" name="Shape 25">
            <a:extLst>
              <a:ext uri="{FF2B5EF4-FFF2-40B4-BE49-F238E27FC236}">
                <a16:creationId xmlns:a16="http://schemas.microsoft.com/office/drawing/2014/main" id="{2BCC667B-F2F3-44D7-830A-03EAE5BD2264}"/>
              </a:ext>
            </a:extLst>
          </p:cNvPr>
          <p:cNvSpPr>
            <a:spLocks noGrp="1"/>
          </p:cNvSpPr>
          <p:nvPr/>
        </p:nvSpPr>
        <p:spPr>
          <a:xfrm>
            <a:off x="6044184" y="1847088"/>
            <a:ext cx="411480" cy="411480"/>
          </a:xfrm>
          <a:prstGeom prst="ellipse">
            <a:avLst/>
          </a:prstGeom>
          <a:solidFill>
            <a:srgbClr val="059669"/>
          </a:solidFill>
        </p:spPr>
        <p:txBody>
          <a:bodyPr/>
          <a:lstStyle/>
          <a:p>
            <a:endParaRPr lang="en-US"/>
          </a:p>
        </p:txBody>
      </p:sp>
      <p:sp>
        <p:nvSpPr>
          <p:cNvPr id="32" name="Text 26">
            <a:extLst>
              <a:ext uri="{FF2B5EF4-FFF2-40B4-BE49-F238E27FC236}">
                <a16:creationId xmlns:a16="http://schemas.microsoft.com/office/drawing/2014/main" id="{A4DB9134-467B-4612-838D-3D838771DE29}"/>
              </a:ext>
            </a:extLst>
          </p:cNvPr>
          <p:cNvSpPr>
            <a:spLocks noGrp="1"/>
          </p:cNvSpPr>
          <p:nvPr/>
        </p:nvSpPr>
        <p:spPr>
          <a:xfrm>
            <a:off x="6044184" y="1828800"/>
            <a:ext cx="411480" cy="411480"/>
          </a:xfrm>
          <a:prstGeom prst="rect">
            <a:avLst/>
          </a:prstGeom>
          <a:noFill/>
        </p:spPr>
        <p:txBody>
          <a:bodyPr wrap="square" lIns="0" tIns="0" rIns="0" bIns="0" anchor="ctr"/>
          <a:lstStyle/>
          <a:p>
            <a:pPr marL="0" indent="0" algn="ctr">
              <a:buNone/>
            </a:pPr>
            <a:r>
              <a:rPr sz="1400" b="1">
                <a:solidFill>
                  <a:srgbClr val="FFFFFF"/>
                </a:solidFill>
                <a:latin typeface="Georgia"/>
                <a:ea typeface="Georgia"/>
                <a:cs typeface="Georgia"/>
              </a:rPr>
              <a:t>4</a:t>
            </a:r>
            <a:endParaRPr sz="1400"/>
          </a:p>
        </p:txBody>
      </p:sp>
      <p:sp>
        <p:nvSpPr>
          <p:cNvPr id="34" name="Text 28">
            <a:extLst>
              <a:ext uri="{FF2B5EF4-FFF2-40B4-BE49-F238E27FC236}">
                <a16:creationId xmlns:a16="http://schemas.microsoft.com/office/drawing/2014/main" id="{377EB445-0730-4B3B-ADA3-1C50BE3824A2}"/>
              </a:ext>
            </a:extLst>
          </p:cNvPr>
          <p:cNvSpPr>
            <a:spLocks noGrp="1"/>
          </p:cNvSpPr>
          <p:nvPr/>
        </p:nvSpPr>
        <p:spPr>
          <a:xfrm>
            <a:off x="5504688" y="2676525"/>
            <a:ext cx="1481328" cy="666750"/>
          </a:xfrm>
          <a:prstGeom prst="rect">
            <a:avLst/>
          </a:prstGeom>
          <a:noFill/>
        </p:spPr>
        <p:txBody>
          <a:bodyPr wrap="square" lIns="0" tIns="0" rIns="0" bIns="0" anchor="ctr"/>
          <a:lstStyle/>
          <a:p>
            <a:pPr marL="0" indent="0" algn="ctr">
              <a:buNone/>
            </a:pPr>
            <a:r>
              <a:rPr sz="1200" b="1">
                <a:solidFill>
                  <a:srgbClr val="1E293B"/>
                </a:solidFill>
                <a:latin typeface="Georgia"/>
                <a:ea typeface="Georgia"/>
                <a:cs typeface="Georgia"/>
              </a:rPr>
              <a:t>Live Colab
Demonstration</a:t>
            </a:r>
            <a:endParaRPr sz="1200"/>
          </a:p>
        </p:txBody>
      </p:sp>
      <p:sp>
        <p:nvSpPr>
          <p:cNvPr id="35" name="Text 29">
            <a:extLst>
              <a:ext uri="{FF2B5EF4-FFF2-40B4-BE49-F238E27FC236}">
                <a16:creationId xmlns:a16="http://schemas.microsoft.com/office/drawing/2014/main" id="{FC30E9BF-32B0-484D-967E-47A5593AC19E}"/>
              </a:ext>
            </a:extLst>
          </p:cNvPr>
          <p:cNvSpPr>
            <a:spLocks noGrp="1"/>
          </p:cNvSpPr>
          <p:nvPr/>
        </p:nvSpPr>
        <p:spPr>
          <a:xfrm>
            <a:off x="5522976" y="3273552"/>
            <a:ext cx="1444752" cy="731520"/>
          </a:xfrm>
          <a:prstGeom prst="rect">
            <a:avLst/>
          </a:prstGeom>
          <a:noFill/>
        </p:spPr>
        <p:txBody>
          <a:bodyPr wrap="square" lIns="0" tIns="0" rIns="0" bIns="0" anchor="ctr"/>
          <a:lstStyle/>
          <a:p>
            <a:pPr marL="0" indent="0" algn="ctr">
              <a:buNone/>
            </a:pPr>
            <a:r>
              <a:rPr sz="1000">
                <a:solidFill>
                  <a:srgbClr val="64748B"/>
                </a:solidFill>
                <a:latin typeface="Calibri"/>
                <a:ea typeface="Calibri"/>
                <a:cs typeface="Calibri"/>
              </a:rPr>
              <a:t>Explore Qwen, train
and compare results</a:t>
            </a:r>
            <a:endParaRPr sz="1000"/>
          </a:p>
        </p:txBody>
      </p:sp>
      <p:sp>
        <p:nvSpPr>
          <p:cNvPr id="36" name="Shape 30">
            <a:extLst>
              <a:ext uri="{FF2B5EF4-FFF2-40B4-BE49-F238E27FC236}">
                <a16:creationId xmlns:a16="http://schemas.microsoft.com/office/drawing/2014/main" id="{B1992941-92EB-4390-8B88-A179FA84B846}"/>
              </a:ext>
            </a:extLst>
          </p:cNvPr>
          <p:cNvSpPr>
            <a:spLocks noGrp="1"/>
          </p:cNvSpPr>
          <p:nvPr/>
        </p:nvSpPr>
        <p:spPr>
          <a:xfrm>
            <a:off x="7159752" y="1005840"/>
            <a:ext cx="1600200" cy="3474720"/>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37" name="Shape 31">
            <a:extLst>
              <a:ext uri="{FF2B5EF4-FFF2-40B4-BE49-F238E27FC236}">
                <a16:creationId xmlns:a16="http://schemas.microsoft.com/office/drawing/2014/main" id="{5E848E40-2A69-4114-A7E1-6C3A0C7CB076}"/>
              </a:ext>
            </a:extLst>
          </p:cNvPr>
          <p:cNvSpPr>
            <a:spLocks noGrp="1"/>
          </p:cNvSpPr>
          <p:nvPr/>
        </p:nvSpPr>
        <p:spPr>
          <a:xfrm>
            <a:off x="7159752" y="1005840"/>
            <a:ext cx="1600200" cy="73152"/>
          </a:xfrm>
          <a:prstGeom prst="rect">
            <a:avLst/>
          </a:prstGeom>
          <a:solidFill>
            <a:srgbClr val="0EA5C9"/>
          </a:solidFill>
        </p:spPr>
        <p:txBody>
          <a:bodyPr/>
          <a:lstStyle/>
          <a:p>
            <a:endParaRPr lang="en-US"/>
          </a:p>
        </p:txBody>
      </p:sp>
      <p:sp>
        <p:nvSpPr>
          <p:cNvPr id="39" name="Shape 32">
            <a:extLst>
              <a:ext uri="{FF2B5EF4-FFF2-40B4-BE49-F238E27FC236}">
                <a16:creationId xmlns:a16="http://schemas.microsoft.com/office/drawing/2014/main" id="{65115261-792D-425B-B36E-9BB243E9E21E}"/>
              </a:ext>
            </a:extLst>
          </p:cNvPr>
          <p:cNvSpPr>
            <a:spLocks noGrp="1"/>
          </p:cNvSpPr>
          <p:nvPr/>
        </p:nvSpPr>
        <p:spPr>
          <a:xfrm>
            <a:off x="7754112" y="1847088"/>
            <a:ext cx="411480" cy="411480"/>
          </a:xfrm>
          <a:prstGeom prst="ellipse">
            <a:avLst/>
          </a:prstGeom>
          <a:solidFill>
            <a:srgbClr val="0EA5C9"/>
          </a:solidFill>
        </p:spPr>
        <p:txBody>
          <a:bodyPr/>
          <a:lstStyle/>
          <a:p>
            <a:endParaRPr lang="en-US"/>
          </a:p>
        </p:txBody>
      </p:sp>
      <p:sp>
        <p:nvSpPr>
          <p:cNvPr id="40" name="Text 33">
            <a:extLst>
              <a:ext uri="{FF2B5EF4-FFF2-40B4-BE49-F238E27FC236}">
                <a16:creationId xmlns:a16="http://schemas.microsoft.com/office/drawing/2014/main" id="{D5DC667F-5703-402D-9FE3-2AE49272017B}"/>
              </a:ext>
            </a:extLst>
          </p:cNvPr>
          <p:cNvSpPr>
            <a:spLocks noGrp="1"/>
          </p:cNvSpPr>
          <p:nvPr/>
        </p:nvSpPr>
        <p:spPr>
          <a:xfrm>
            <a:off x="7754112" y="1828800"/>
            <a:ext cx="411480" cy="411480"/>
          </a:xfrm>
          <a:prstGeom prst="rect">
            <a:avLst/>
          </a:prstGeom>
          <a:noFill/>
        </p:spPr>
        <p:txBody>
          <a:bodyPr wrap="square" lIns="0" tIns="0" rIns="0" bIns="0" anchor="ctr"/>
          <a:lstStyle/>
          <a:p>
            <a:pPr marL="0" indent="0" algn="ctr">
              <a:buNone/>
            </a:pPr>
            <a:r>
              <a:rPr sz="1400" b="1">
                <a:solidFill>
                  <a:srgbClr val="FFFFFF"/>
                </a:solidFill>
                <a:latin typeface="Georgia"/>
                <a:ea typeface="Georgia"/>
                <a:cs typeface="Georgia"/>
              </a:rPr>
              <a:t>5</a:t>
            </a:r>
            <a:endParaRPr sz="1400"/>
          </a:p>
        </p:txBody>
      </p:sp>
      <p:sp>
        <p:nvSpPr>
          <p:cNvPr id="42" name="Text 35">
            <a:extLst>
              <a:ext uri="{FF2B5EF4-FFF2-40B4-BE49-F238E27FC236}">
                <a16:creationId xmlns:a16="http://schemas.microsoft.com/office/drawing/2014/main" id="{BFE4389D-AD46-4FC2-8E0C-DA39DF46F46B}"/>
              </a:ext>
            </a:extLst>
          </p:cNvPr>
          <p:cNvSpPr>
            <a:spLocks noGrp="1"/>
          </p:cNvSpPr>
          <p:nvPr/>
        </p:nvSpPr>
        <p:spPr>
          <a:xfrm>
            <a:off x="7214616" y="2670048"/>
            <a:ext cx="1481328" cy="502920"/>
          </a:xfrm>
          <a:prstGeom prst="rect">
            <a:avLst/>
          </a:prstGeom>
          <a:noFill/>
        </p:spPr>
        <p:txBody>
          <a:bodyPr wrap="square" lIns="0" tIns="0" rIns="0" bIns="0" anchor="ctr"/>
          <a:lstStyle/>
          <a:p>
            <a:pPr marL="0" indent="0" algn="ctr">
              <a:buNone/>
            </a:pPr>
            <a:r>
              <a:rPr sz="1200" b="1">
                <a:solidFill>
                  <a:srgbClr val="1E293B"/>
                </a:solidFill>
                <a:latin typeface="Georgia"/>
                <a:ea typeface="Georgia"/>
                <a:cs typeface="Georgia"/>
              </a:rPr>
              <a:t>Takeaways
&amp; Questions</a:t>
            </a:r>
            <a:endParaRPr sz="1200"/>
          </a:p>
        </p:txBody>
      </p:sp>
      <p:sp>
        <p:nvSpPr>
          <p:cNvPr id="43" name="Text 36">
            <a:extLst>
              <a:ext uri="{FF2B5EF4-FFF2-40B4-BE49-F238E27FC236}">
                <a16:creationId xmlns:a16="http://schemas.microsoft.com/office/drawing/2014/main" id="{4438D397-61AD-4EC6-851E-2DFAB58991D8}"/>
              </a:ext>
            </a:extLst>
          </p:cNvPr>
          <p:cNvSpPr>
            <a:spLocks noGrp="1"/>
          </p:cNvSpPr>
          <p:nvPr/>
        </p:nvSpPr>
        <p:spPr>
          <a:xfrm>
            <a:off x="7232904" y="3273552"/>
            <a:ext cx="1444752" cy="731520"/>
          </a:xfrm>
          <a:prstGeom prst="rect">
            <a:avLst/>
          </a:prstGeom>
          <a:noFill/>
        </p:spPr>
        <p:txBody>
          <a:bodyPr wrap="square" lIns="0" tIns="0" rIns="0" bIns="0" anchor="ctr"/>
          <a:lstStyle/>
          <a:p>
            <a:pPr marL="0" indent="0" algn="ctr">
              <a:buNone/>
            </a:pPr>
            <a:r>
              <a:rPr sz="1000">
                <a:solidFill>
                  <a:srgbClr val="64748B"/>
                </a:solidFill>
                <a:latin typeface="Calibri"/>
                <a:ea typeface="Calibri"/>
                <a:cs typeface="Calibri"/>
              </a:rPr>
              <a:t>Recap and discussion</a:t>
            </a:r>
            <a:endParaRPr sz="1000"/>
          </a:p>
        </p:txBody>
      </p:sp>
    </p:spTree>
    <p:extLst>
      <p:ext uri="{BB962C8B-B14F-4D97-AF65-F5344CB8AC3E}">
        <p14:creationId xmlns:p14="http://schemas.microsoft.com/office/powerpoint/2010/main" val="2061924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ECEF4BE-2C0C-478C-9E1B-3332D4452AE5}"/>
              </a:ext>
            </a:extLst>
          </p:cNvPr>
          <p:cNvSpPr>
            <a:spLocks noGrp="1"/>
          </p:cNvSpPr>
          <p:nvPr/>
        </p:nvSpPr>
        <p:spPr>
          <a:xfrm>
            <a:off x="0" y="0"/>
            <a:ext cx="365760" cy="5143500"/>
          </a:xfrm>
          <a:prstGeom prst="rect">
            <a:avLst/>
          </a:prstGeom>
          <a:solidFill>
            <a:srgbClr val="F59E0B"/>
          </a:solidFill>
        </p:spPr>
        <p:txBody>
          <a:bodyPr/>
          <a:lstStyle/>
          <a:p>
            <a:endParaRPr lang="en-US"/>
          </a:p>
        </p:txBody>
      </p:sp>
      <p:sp>
        <p:nvSpPr>
          <p:cNvPr id="3" name="Shape 1">
            <a:extLst>
              <a:ext uri="{FF2B5EF4-FFF2-40B4-BE49-F238E27FC236}">
                <a16:creationId xmlns:a16="http://schemas.microsoft.com/office/drawing/2014/main" id="{EB5BB9C3-761F-4145-B974-3EAB16627A6C}"/>
              </a:ext>
            </a:extLst>
          </p:cNvPr>
          <p:cNvSpPr>
            <a:spLocks noGrp="1"/>
          </p:cNvSpPr>
          <p:nvPr/>
        </p:nvSpPr>
        <p:spPr>
          <a:xfrm>
            <a:off x="6858000" y="-731520"/>
            <a:ext cx="3657600" cy="3657600"/>
          </a:xfrm>
          <a:prstGeom prst="ellipse">
            <a:avLst/>
          </a:prstGeom>
          <a:solidFill>
            <a:srgbClr val="065A82">
              <a:alpha val="40000"/>
            </a:srgbClr>
          </a:solidFill>
        </p:spPr>
        <p:txBody>
          <a:bodyPr/>
          <a:lstStyle/>
          <a:p>
            <a:endParaRPr lang="en-US"/>
          </a:p>
        </p:txBody>
      </p:sp>
      <p:sp>
        <p:nvSpPr>
          <p:cNvPr id="4" name="Shape 2">
            <a:extLst>
              <a:ext uri="{FF2B5EF4-FFF2-40B4-BE49-F238E27FC236}">
                <a16:creationId xmlns:a16="http://schemas.microsoft.com/office/drawing/2014/main" id="{6119ECBF-F232-4C68-87DD-5D317FC75901}"/>
              </a:ext>
            </a:extLst>
          </p:cNvPr>
          <p:cNvSpPr>
            <a:spLocks noGrp="1"/>
          </p:cNvSpPr>
          <p:nvPr/>
        </p:nvSpPr>
        <p:spPr>
          <a:xfrm>
            <a:off x="7772400" y="2286000"/>
            <a:ext cx="2286000" cy="2286000"/>
          </a:xfrm>
          <a:prstGeom prst="ellipse">
            <a:avLst/>
          </a:prstGeom>
          <a:solidFill>
            <a:srgbClr val="1C7293">
              <a:alpha val="50000"/>
            </a:srgbClr>
          </a:solidFill>
        </p:spPr>
        <p:txBody>
          <a:bodyPr/>
          <a:lstStyle/>
          <a:p>
            <a:endParaRPr lang="en-US"/>
          </a:p>
        </p:txBody>
      </p:sp>
      <p:sp>
        <p:nvSpPr>
          <p:cNvPr id="6" name="Venkatesh Mohanram">
            <a:extLst>
              <a:ext uri="{FF2B5EF4-FFF2-40B4-BE49-F238E27FC236}">
                <a16:creationId xmlns:a16="http://schemas.microsoft.com/office/drawing/2014/main" id="{A6333DF1-401A-430D-9F7D-BC080100A286}"/>
              </a:ext>
            </a:extLst>
          </p:cNvPr>
          <p:cNvSpPr>
            <a:spLocks noGrp="1"/>
          </p:cNvSpPr>
          <p:nvPr/>
        </p:nvSpPr>
        <p:spPr>
          <a:xfrm>
            <a:off x="647700" y="971550"/>
            <a:ext cx="5286375" cy="571500"/>
          </a:xfrm>
          <a:prstGeom prst="rect">
            <a:avLst/>
          </a:prstGeom>
          <a:noFill/>
          <a:ln w="0">
            <a:noFill/>
          </a:ln>
        </p:spPr>
        <p:txBody>
          <a:bodyPr lIns="0" tIns="0" rIns="0" bIns="0">
            <a:noAutofit/>
          </a:bodyPr>
          <a:lstStyle/>
          <a:p>
            <a:pPr>
              <a:buNone/>
              <a:defRPr sz="3000" b="1">
                <a:solidFill>
                  <a:srgbClr val="FFFFFF"/>
                </a:solidFill>
                <a:latin typeface="Georgia"/>
                <a:ea typeface="Georgia"/>
                <a:cs typeface="Georgia"/>
              </a:defRPr>
            </a:pPr>
            <a:r>
              <a:rPr sz="3000" b="1">
                <a:solidFill>
                  <a:srgbClr val="FFFFFF"/>
                </a:solidFill>
                <a:latin typeface="Georgia"/>
                <a:ea typeface="Georgia"/>
                <a:cs typeface="Georgia"/>
              </a:rPr>
              <a:t>Venkatesh Mohanram</a:t>
            </a:r>
          </a:p>
        </p:txBody>
      </p:sp>
      <p:sp>
        <p:nvSpPr>
          <p:cNvPr id="7" name="Consulting Member of Technical Staff&#10;Ora">
            <a:extLst>
              <a:ext uri="{FF2B5EF4-FFF2-40B4-BE49-F238E27FC236}">
                <a16:creationId xmlns:a16="http://schemas.microsoft.com/office/drawing/2014/main" id="{B41DAF30-3A7F-48BF-8821-3FAC1512D309}"/>
              </a:ext>
            </a:extLst>
          </p:cNvPr>
          <p:cNvSpPr>
            <a:spLocks noGrp="1"/>
          </p:cNvSpPr>
          <p:nvPr/>
        </p:nvSpPr>
        <p:spPr>
          <a:xfrm>
            <a:off x="647700" y="1619250"/>
            <a:ext cx="5143500" cy="609600"/>
          </a:xfrm>
          <a:prstGeom prst="rect">
            <a:avLst/>
          </a:prstGeom>
          <a:noFill/>
          <a:ln w="0">
            <a:noFill/>
          </a:ln>
        </p:spPr>
        <p:txBody>
          <a:bodyPr lIns="0" tIns="0" rIns="0" bIns="0">
            <a:noAutofit/>
          </a:bodyPr>
          <a:lstStyle/>
          <a:p>
            <a:pPr>
              <a:buNone/>
              <a:defRPr sz="1800" b="0">
                <a:solidFill>
                  <a:srgbClr val="E0F0F8"/>
                </a:solidFill>
                <a:latin typeface="Calibri"/>
                <a:ea typeface="Calibri"/>
                <a:cs typeface="Calibri"/>
              </a:defRPr>
            </a:pPr>
            <a:r>
              <a:rPr sz="1800" b="0" dirty="0">
                <a:solidFill>
                  <a:srgbClr val="E0F0F8"/>
                </a:solidFill>
                <a:latin typeface="Calibri"/>
                <a:ea typeface="Calibri"/>
                <a:cs typeface="Calibri"/>
              </a:rPr>
              <a:t>Consulting Member of Technical Staff</a:t>
            </a:r>
          </a:p>
          <a:p>
            <a:pPr>
              <a:buNone/>
              <a:defRPr sz="1800" b="0">
                <a:solidFill>
                  <a:srgbClr val="E0F0F8"/>
                </a:solidFill>
                <a:latin typeface="Calibri"/>
                <a:ea typeface="Calibri"/>
                <a:cs typeface="Calibri"/>
              </a:defRPr>
            </a:pPr>
            <a:r>
              <a:rPr sz="1800" b="0" dirty="0">
                <a:solidFill>
                  <a:srgbClr val="E0F0F8"/>
                </a:solidFill>
                <a:latin typeface="Calibri"/>
                <a:ea typeface="Calibri"/>
                <a:cs typeface="Calibri"/>
              </a:rPr>
              <a:t>Oracle Corporation</a:t>
            </a:r>
          </a:p>
        </p:txBody>
      </p:sp>
      <p:sp>
        <p:nvSpPr>
          <p:cNvPr id="8" name="18+ years in enterprise integration and ">
            <a:extLst>
              <a:ext uri="{FF2B5EF4-FFF2-40B4-BE49-F238E27FC236}">
                <a16:creationId xmlns:a16="http://schemas.microsoft.com/office/drawing/2014/main" id="{778F6CF0-F478-4F97-8F2A-A130EB542DFE}"/>
              </a:ext>
            </a:extLst>
          </p:cNvPr>
          <p:cNvSpPr>
            <a:spLocks noGrp="1"/>
          </p:cNvSpPr>
          <p:nvPr/>
        </p:nvSpPr>
        <p:spPr>
          <a:xfrm>
            <a:off x="623887" y="3073069"/>
            <a:ext cx="5191125" cy="590550"/>
          </a:xfrm>
          <a:prstGeom prst="rect">
            <a:avLst/>
          </a:prstGeom>
          <a:noFill/>
          <a:ln w="0">
            <a:noFill/>
          </a:ln>
        </p:spPr>
        <p:txBody>
          <a:bodyPr lIns="0" tIns="0" rIns="0" bIns="0">
            <a:noAutofit/>
          </a:bodyPr>
          <a:lstStyle/>
          <a:p>
            <a:pPr>
              <a:buNone/>
              <a:defRPr sz="1575" b="0">
                <a:solidFill>
                  <a:srgbClr val="FFFFFF"/>
                </a:solidFill>
                <a:latin typeface="Calibri"/>
                <a:ea typeface="Calibri"/>
                <a:cs typeface="Calibri"/>
              </a:defRPr>
            </a:pPr>
            <a:r>
              <a:rPr sz="1575" b="0" dirty="0">
                <a:solidFill>
                  <a:srgbClr val="FFFFFF"/>
                </a:solidFill>
                <a:latin typeface="Calibri"/>
                <a:ea typeface="Calibri"/>
                <a:cs typeface="Calibri"/>
              </a:rPr>
              <a:t>18+ years in enterprise integration and cloud platforms</a:t>
            </a:r>
          </a:p>
          <a:p>
            <a:pPr>
              <a:buNone/>
              <a:defRPr sz="1575" b="0">
                <a:solidFill>
                  <a:srgbClr val="FFFFFF"/>
                </a:solidFill>
                <a:latin typeface="Calibri"/>
                <a:ea typeface="Calibri"/>
                <a:cs typeface="Calibri"/>
              </a:defRPr>
            </a:pPr>
            <a:r>
              <a:rPr lang="en-US" sz="1575" b="0" dirty="0">
                <a:solidFill>
                  <a:srgbClr val="FFFFFF"/>
                </a:solidFill>
                <a:latin typeface="Calibri"/>
                <a:ea typeface="Calibri"/>
                <a:cs typeface="Calibri"/>
              </a:rPr>
              <a:t>One of the f</a:t>
            </a:r>
            <a:r>
              <a:rPr sz="1575" b="0" dirty="0">
                <a:solidFill>
                  <a:srgbClr val="FFFFFF"/>
                </a:solidFill>
                <a:latin typeface="Calibri"/>
                <a:ea typeface="Calibri"/>
                <a:cs typeface="Calibri"/>
              </a:rPr>
              <a:t>ounding engineer</a:t>
            </a:r>
            <a:r>
              <a:rPr lang="en-US" sz="1575" b="0" dirty="0">
                <a:solidFill>
                  <a:srgbClr val="FFFFFF"/>
                </a:solidFill>
                <a:latin typeface="Calibri"/>
                <a:ea typeface="Calibri"/>
                <a:cs typeface="Calibri"/>
              </a:rPr>
              <a:t> in</a:t>
            </a:r>
            <a:r>
              <a:rPr sz="1575" b="0" dirty="0">
                <a:solidFill>
                  <a:srgbClr val="FFFFFF"/>
                </a:solidFill>
                <a:latin typeface="Calibri"/>
                <a:ea typeface="Calibri"/>
                <a:cs typeface="Calibri"/>
              </a:rPr>
              <a:t> Oracle Integration Cloud</a:t>
            </a:r>
          </a:p>
        </p:txBody>
      </p:sp>
      <p:sp>
        <p:nvSpPr>
          <p:cNvPr id="9" name="Seven granted U.S. patents&#10;Enterprise in">
            <a:extLst>
              <a:ext uri="{FF2B5EF4-FFF2-40B4-BE49-F238E27FC236}">
                <a16:creationId xmlns:a16="http://schemas.microsoft.com/office/drawing/2014/main" id="{9D02A948-12D5-4F74-89AF-C277CD6A7DBA}"/>
              </a:ext>
            </a:extLst>
          </p:cNvPr>
          <p:cNvSpPr>
            <a:spLocks noGrp="1"/>
          </p:cNvSpPr>
          <p:nvPr/>
        </p:nvSpPr>
        <p:spPr>
          <a:xfrm>
            <a:off x="647700" y="3674646"/>
            <a:ext cx="5191125" cy="571500"/>
          </a:xfrm>
          <a:prstGeom prst="rect">
            <a:avLst/>
          </a:prstGeom>
          <a:noFill/>
          <a:ln w="0">
            <a:noFill/>
          </a:ln>
        </p:spPr>
        <p:txBody>
          <a:bodyPr lIns="0" tIns="0" rIns="0" bIns="0">
            <a:noAutofit/>
          </a:bodyPr>
          <a:lstStyle/>
          <a:p>
            <a:pPr>
              <a:buNone/>
              <a:defRPr sz="1575" b="0">
                <a:solidFill>
                  <a:srgbClr val="FFFFFF"/>
                </a:solidFill>
                <a:latin typeface="Calibri"/>
                <a:ea typeface="Calibri"/>
                <a:cs typeface="Calibri"/>
              </a:defRPr>
            </a:pPr>
            <a:r>
              <a:rPr sz="1575" b="0" dirty="0">
                <a:solidFill>
                  <a:srgbClr val="FFFFFF"/>
                </a:solidFill>
                <a:latin typeface="Calibri"/>
                <a:ea typeface="Calibri"/>
                <a:cs typeface="Calibri"/>
              </a:rPr>
              <a:t>Seven granted U.S. patents</a:t>
            </a:r>
          </a:p>
          <a:p>
            <a:pPr>
              <a:buNone/>
              <a:defRPr sz="1575" b="0">
                <a:solidFill>
                  <a:srgbClr val="FFFFFF"/>
                </a:solidFill>
                <a:latin typeface="Calibri"/>
                <a:ea typeface="Calibri"/>
                <a:cs typeface="Calibri"/>
              </a:defRPr>
            </a:pPr>
            <a:r>
              <a:rPr sz="1575" b="0" dirty="0">
                <a:solidFill>
                  <a:srgbClr val="FFFFFF"/>
                </a:solidFill>
                <a:latin typeface="Calibri"/>
                <a:ea typeface="Calibri"/>
                <a:cs typeface="Calibri"/>
              </a:rPr>
              <a:t>Enterprise integration and AI-assisted design</a:t>
            </a:r>
          </a:p>
        </p:txBody>
      </p:sp>
      <p:sp>
        <p:nvSpPr>
          <p:cNvPr id="10" name="IEEE Senior Member&#10;IEEE iGET 2026 and eL">
            <a:extLst>
              <a:ext uri="{FF2B5EF4-FFF2-40B4-BE49-F238E27FC236}">
                <a16:creationId xmlns:a16="http://schemas.microsoft.com/office/drawing/2014/main" id="{DD4D8B98-54B3-435A-86D1-54411AE9D8D1}"/>
              </a:ext>
            </a:extLst>
          </p:cNvPr>
          <p:cNvSpPr>
            <a:spLocks noGrp="1"/>
          </p:cNvSpPr>
          <p:nvPr/>
        </p:nvSpPr>
        <p:spPr>
          <a:xfrm>
            <a:off x="647700" y="2132096"/>
            <a:ext cx="5191125" cy="307808"/>
          </a:xfrm>
          <a:prstGeom prst="rect">
            <a:avLst/>
          </a:prstGeom>
          <a:noFill/>
          <a:ln w="0">
            <a:noFill/>
          </a:ln>
        </p:spPr>
        <p:txBody>
          <a:bodyPr lIns="0" tIns="0" rIns="0" bIns="0">
            <a:noAutofit/>
          </a:bodyPr>
          <a:lstStyle/>
          <a:p>
            <a:pPr>
              <a:buNone/>
              <a:defRPr sz="1575" b="0">
                <a:solidFill>
                  <a:srgbClr val="FFFFFF"/>
                </a:solidFill>
                <a:latin typeface="Calibri"/>
                <a:ea typeface="Calibri"/>
                <a:cs typeface="Calibri"/>
              </a:defRPr>
            </a:pPr>
            <a:r>
              <a:rPr sz="1575" b="0" dirty="0">
                <a:solidFill>
                  <a:srgbClr val="FFFFFF"/>
                </a:solidFill>
                <a:latin typeface="Calibri"/>
                <a:ea typeface="Calibri"/>
                <a:cs typeface="Calibri"/>
              </a:rPr>
              <a:t>IEEE Senior Member</a:t>
            </a:r>
          </a:p>
        </p:txBody>
      </p:sp>
      <p:pic>
        <p:nvPicPr>
          <p:cNvPr id="21" name="Picture 20"/>
          <p:cNvPicPr>
            <a:picLocks noChangeAspect="1"/>
          </p:cNvPicPr>
          <p:nvPr/>
        </p:nvPicPr>
        <p:blipFill>
          <a:blip r:embed="rId3"/>
          <a:stretch/>
        </p:blipFill>
        <p:spPr>
          <a:xfrm>
            <a:off x="6286500" y="526845"/>
            <a:ext cx="2628900" cy="4423185"/>
          </a:xfrm>
          <a:prstGeom prst="rect">
            <a:avLst/>
          </a:prstGeom>
        </p:spPr>
      </p:pic>
      <p:sp>
        <p:nvSpPr>
          <p:cNvPr id="11" name="18+ years in enterprise integration and ">
            <a:extLst>
              <a:ext uri="{FF2B5EF4-FFF2-40B4-BE49-F238E27FC236}">
                <a16:creationId xmlns:a16="http://schemas.microsoft.com/office/drawing/2014/main" id="{42806EA0-2857-C6B5-37FC-AE28AB64C52B}"/>
              </a:ext>
            </a:extLst>
          </p:cNvPr>
          <p:cNvSpPr>
            <a:spLocks noGrp="1"/>
          </p:cNvSpPr>
          <p:nvPr/>
        </p:nvSpPr>
        <p:spPr>
          <a:xfrm>
            <a:off x="638175" y="2468979"/>
            <a:ext cx="5191125" cy="590550"/>
          </a:xfrm>
          <a:prstGeom prst="rect">
            <a:avLst/>
          </a:prstGeom>
          <a:noFill/>
          <a:ln w="0">
            <a:noFill/>
          </a:ln>
        </p:spPr>
        <p:txBody>
          <a:bodyPr lIns="0" tIns="0" rIns="0" bIns="0">
            <a:noAutofit/>
          </a:bodyPr>
          <a:lstStyle/>
          <a:p>
            <a:pPr>
              <a:buNone/>
              <a:defRPr sz="1575" b="0">
                <a:solidFill>
                  <a:srgbClr val="FFFFFF"/>
                </a:solidFill>
                <a:latin typeface="Calibri"/>
                <a:ea typeface="Calibri"/>
                <a:cs typeface="Calibri"/>
              </a:defRPr>
            </a:pPr>
            <a:r>
              <a:rPr lang="en-US" sz="1575" b="0" dirty="0" err="1">
                <a:solidFill>
                  <a:srgbClr val="FFFFFF"/>
                </a:solidFill>
                <a:latin typeface="Calibri"/>
                <a:ea typeface="Calibri"/>
                <a:cs typeface="Calibri"/>
              </a:rPr>
              <a:t>B.Tech</a:t>
            </a:r>
            <a:r>
              <a:rPr lang="en-US" sz="1575" b="0" dirty="0">
                <a:solidFill>
                  <a:srgbClr val="FFFFFF"/>
                </a:solidFill>
                <a:latin typeface="Calibri"/>
                <a:ea typeface="Calibri"/>
                <a:cs typeface="Calibri"/>
              </a:rPr>
              <a:t> in Computer Science and Engineering from SASTRA University in India</a:t>
            </a:r>
            <a:endParaRPr sz="1575" b="0" dirty="0">
              <a:solidFill>
                <a:srgbClr val="FFFFFF"/>
              </a:solidFill>
              <a:latin typeface="Calibri"/>
              <a:ea typeface="Calibri"/>
              <a:cs typeface="Calibri"/>
            </a:endParaRPr>
          </a:p>
        </p:txBody>
      </p:sp>
    </p:spTree>
    <p:extLst>
      <p:ext uri="{BB962C8B-B14F-4D97-AF65-F5344CB8AC3E}">
        <p14:creationId xmlns:p14="http://schemas.microsoft.com/office/powerpoint/2010/main" val="112543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64592"/>
            <a:ext cx="8229600" cy="502920"/>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What is a model? First encounter</a:t>
            </a:r>
            <a:endParaRPr sz="1800"/>
          </a:p>
        </p:txBody>
      </p:sp>
      <p:pic>
        <p:nvPicPr>
          <p:cNvPr id="35" name="Picture 34"/>
          <p:cNvPicPr>
            <a:picLocks noChangeAspect="1"/>
          </p:cNvPicPr>
          <p:nvPr/>
        </p:nvPicPr>
        <p:blipFill>
          <a:blip r:embed="rId3"/>
          <a:stretch/>
        </p:blipFill>
        <p:spPr>
          <a:xfrm>
            <a:off x="381000" y="1104900"/>
            <a:ext cx="457200" cy="457200"/>
          </a:xfrm>
          <a:prstGeom prst="rect">
            <a:avLst/>
          </a:prstGeom>
        </p:spPr>
      </p:pic>
      <p:sp>
        <p:nvSpPr>
          <p:cNvPr id="5" name="Qwen2.5&#10;0.5B-Instruct">
            <a:extLst>
              <a:ext uri="{FF2B5EF4-FFF2-40B4-BE49-F238E27FC236}">
                <a16:creationId xmlns:a16="http://schemas.microsoft.com/office/drawing/2014/main" id="{1D8932ED-2509-4DD7-AB87-C6A2EACF090B}"/>
              </a:ext>
            </a:extLst>
          </p:cNvPr>
          <p:cNvSpPr>
            <a:spLocks noGrp="1"/>
          </p:cNvSpPr>
          <p:nvPr/>
        </p:nvSpPr>
        <p:spPr>
          <a:xfrm>
            <a:off x="962025" y="1057275"/>
            <a:ext cx="2143125" cy="600075"/>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Qwen2.5</a:t>
            </a:r>
          </a:p>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0.5B-Instruct</a:t>
            </a:r>
          </a:p>
        </p:txBody>
      </p:sp>
      <p:sp>
        <p:nvSpPr>
          <p:cNvPr id="6" name="0.49B">
            <a:extLst>
              <a:ext uri="{FF2B5EF4-FFF2-40B4-BE49-F238E27FC236}">
                <a16:creationId xmlns:a16="http://schemas.microsoft.com/office/drawing/2014/main" id="{3ACF29D9-C3E3-4DAB-A2A9-1A4DA880A698}"/>
              </a:ext>
            </a:extLst>
          </p:cNvPr>
          <p:cNvSpPr>
            <a:spLocks noGrp="1"/>
          </p:cNvSpPr>
          <p:nvPr/>
        </p:nvSpPr>
        <p:spPr>
          <a:xfrm>
            <a:off x="381000" y="1781175"/>
            <a:ext cx="2571750" cy="457200"/>
          </a:xfrm>
          <a:prstGeom prst="rect">
            <a:avLst/>
          </a:prstGeom>
          <a:noFill/>
          <a:ln w="0">
            <a:noFill/>
          </a:ln>
        </p:spPr>
        <p:txBody>
          <a:bodyPr lIns="0" tIns="0" rIns="0" bIns="0">
            <a:noAutofit/>
          </a:bodyPr>
          <a:lstStyle/>
          <a:p>
            <a:pPr>
              <a:buNone/>
              <a:defRPr sz="2850" b="1">
                <a:solidFill>
                  <a:srgbClr val="B46A00"/>
                </a:solidFill>
                <a:latin typeface="Georgia"/>
                <a:ea typeface="Georgia"/>
                <a:cs typeface="Georgia"/>
              </a:defRPr>
            </a:pPr>
            <a:r>
              <a:rPr sz="2850" b="1">
                <a:solidFill>
                  <a:srgbClr val="B46A00"/>
                </a:solidFill>
                <a:latin typeface="Georgia"/>
                <a:ea typeface="Georgia"/>
                <a:cs typeface="Georgia"/>
              </a:rPr>
              <a:t>0.49B</a:t>
            </a:r>
          </a:p>
        </p:txBody>
      </p:sp>
      <p:sp>
        <p:nvSpPr>
          <p:cNvPr id="7" name="Approx. parameters&#10;Dense model">
            <a:extLst>
              <a:ext uri="{FF2B5EF4-FFF2-40B4-BE49-F238E27FC236}">
                <a16:creationId xmlns:a16="http://schemas.microsoft.com/office/drawing/2014/main" id="{3D8C8511-48D8-47DB-B934-D4F8BE7E82FB}"/>
              </a:ext>
            </a:extLst>
          </p:cNvPr>
          <p:cNvSpPr>
            <a:spLocks noGrp="1"/>
          </p:cNvSpPr>
          <p:nvPr/>
        </p:nvSpPr>
        <p:spPr>
          <a:xfrm>
            <a:off x="381000" y="2238375"/>
            <a:ext cx="2619375" cy="428625"/>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Approx. parameters</a:t>
            </a:r>
          </a:p>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Dense model</a:t>
            </a:r>
          </a:p>
        </p:txBody>
      </p:sp>
      <p:sp>
        <p:nvSpPr>
          <p:cNvPr id="8" name="896  hidden width">
            <a:extLst>
              <a:ext uri="{FF2B5EF4-FFF2-40B4-BE49-F238E27FC236}">
                <a16:creationId xmlns:a16="http://schemas.microsoft.com/office/drawing/2014/main" id="{1AD0A354-09EC-4EE8-A6E0-D21C5074B965}"/>
              </a:ext>
            </a:extLst>
          </p:cNvPr>
          <p:cNvSpPr>
            <a:spLocks noGrp="1"/>
          </p:cNvSpPr>
          <p:nvPr/>
        </p:nvSpPr>
        <p:spPr>
          <a:xfrm>
            <a:off x="381000" y="2819400"/>
            <a:ext cx="2667000" cy="266700"/>
          </a:xfrm>
          <a:prstGeom prst="rect">
            <a:avLst/>
          </a:prstGeom>
          <a:noFill/>
          <a:ln w="0">
            <a:noFill/>
          </a:ln>
        </p:spPr>
        <p:txBody>
          <a:bodyPr lIns="0" tIns="0" rIns="0" bIns="0">
            <a:noAutofit/>
          </a:bodyPr>
          <a:lstStyle/>
          <a:p>
            <a:pPr>
              <a:buNone/>
              <a:defRPr sz="1575" b="1">
                <a:solidFill>
                  <a:srgbClr val="0D2137"/>
                </a:solidFill>
                <a:latin typeface="Calibri"/>
                <a:ea typeface="Calibri"/>
                <a:cs typeface="Calibri"/>
              </a:defRPr>
            </a:pPr>
            <a:r>
              <a:rPr sz="1575" b="1">
                <a:solidFill>
                  <a:srgbClr val="0D2137"/>
                </a:solidFill>
                <a:latin typeface="Calibri"/>
                <a:ea typeface="Calibri"/>
                <a:cs typeface="Calibri"/>
              </a:rPr>
              <a:t>896  hidden width</a:t>
            </a:r>
          </a:p>
        </p:txBody>
      </p:sp>
      <p:sp>
        <p:nvSpPr>
          <p:cNvPr id="9" name="4,864  MLP width">
            <a:extLst>
              <a:ext uri="{FF2B5EF4-FFF2-40B4-BE49-F238E27FC236}">
                <a16:creationId xmlns:a16="http://schemas.microsoft.com/office/drawing/2014/main" id="{E6DB93F8-09C0-459F-BCB5-D295393F8509}"/>
              </a:ext>
            </a:extLst>
          </p:cNvPr>
          <p:cNvSpPr>
            <a:spLocks noGrp="1"/>
          </p:cNvSpPr>
          <p:nvPr/>
        </p:nvSpPr>
        <p:spPr>
          <a:xfrm>
            <a:off x="381000" y="3162300"/>
            <a:ext cx="2667000" cy="285750"/>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4,864  MLP width</a:t>
            </a:r>
          </a:p>
        </p:txBody>
      </p:sp>
      <p:sp>
        <p:nvSpPr>
          <p:cNvPr id="10" name="14 query heads&#10;2 K/V heads     64 head width">
            <a:extLst>
              <a:ext uri="{FF2B5EF4-FFF2-40B4-BE49-F238E27FC236}">
                <a16:creationId xmlns:a16="http://schemas.microsoft.com/office/drawing/2014/main" id="{C13A792C-1BC3-451D-98A2-64D97B8BD6EF}"/>
              </a:ext>
            </a:extLst>
          </p:cNvPr>
          <p:cNvSpPr>
            <a:spLocks noGrp="1"/>
          </p:cNvSpPr>
          <p:nvPr/>
        </p:nvSpPr>
        <p:spPr>
          <a:xfrm>
            <a:off x="381000" y="3619500"/>
            <a:ext cx="2667000" cy="56197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14 query heads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2 K/V heads     64 head width</a:t>
            </a:r>
          </a:p>
        </p:txBody>
      </p:sp>
      <p:sp>
        <p:nvSpPr>
          <p:cNvPr id="11" name="24 blocks&#10;32,768 token positions">
            <a:extLst>
              <a:ext uri="{FF2B5EF4-FFF2-40B4-BE49-F238E27FC236}">
                <a16:creationId xmlns:a16="http://schemas.microsoft.com/office/drawing/2014/main" id="{877FCC25-3ED2-4CF4-8B70-F09425FD059F}"/>
              </a:ext>
            </a:extLst>
          </p:cNvPr>
          <p:cNvSpPr>
            <a:spLocks noGrp="1"/>
          </p:cNvSpPr>
          <p:nvPr/>
        </p:nvSpPr>
        <p:spPr>
          <a:xfrm>
            <a:off x="381000" y="4276725"/>
            <a:ext cx="2667000" cy="495300"/>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24 blocks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32,768 token positions</a:t>
            </a:r>
          </a:p>
        </p:txBody>
      </p:sp>
      <p:sp>
        <p:nvSpPr>
          <p:cNvPr id="12" name="Our workshop model">
            <a:extLst>
              <a:ext uri="{FF2B5EF4-FFF2-40B4-BE49-F238E27FC236}">
                <a16:creationId xmlns:a16="http://schemas.microsoft.com/office/drawing/2014/main" id="{D371EDD2-F602-490D-89D1-84A73EB81017}"/>
              </a:ext>
            </a:extLst>
          </p:cNvPr>
          <p:cNvSpPr>
            <a:spLocks noGrp="1"/>
          </p:cNvSpPr>
          <p:nvPr/>
        </p:nvSpPr>
        <p:spPr>
          <a:xfrm>
            <a:off x="381000" y="4848225"/>
            <a:ext cx="2667000" cy="228600"/>
          </a:xfrm>
          <a:prstGeom prst="rect">
            <a:avLst/>
          </a:prstGeom>
          <a:noFill/>
          <a:ln w="0">
            <a:noFill/>
          </a:ln>
        </p:spPr>
        <p:txBody>
          <a:bodyPr lIns="0" tIns="0" rIns="0" bIns="0">
            <a:noAutofit/>
          </a:bodyPr>
          <a:lstStyle/>
          <a:p>
            <a:pPr>
              <a:buNone/>
              <a:defRPr sz="1200" b="1">
                <a:solidFill>
                  <a:srgbClr val="B46A00"/>
                </a:solidFill>
                <a:latin typeface="Calibri"/>
                <a:ea typeface="Calibri"/>
                <a:cs typeface="Calibri"/>
              </a:defRPr>
            </a:pPr>
            <a:r>
              <a:rPr sz="1200" b="1">
                <a:solidFill>
                  <a:srgbClr val="B46A00"/>
                </a:solidFill>
                <a:latin typeface="Calibri"/>
                <a:ea typeface="Calibri"/>
                <a:cs typeface="Calibri"/>
              </a:rPr>
              <a:t>Our workshop model</a:t>
            </a:r>
          </a:p>
        </p:txBody>
      </p:sp>
      <p:pic>
        <p:nvPicPr>
          <p:cNvPr id="44" name="Picture 43"/>
          <p:cNvPicPr>
            <a:picLocks noChangeAspect="1"/>
          </p:cNvPicPr>
          <p:nvPr/>
        </p:nvPicPr>
        <p:blipFill>
          <a:blip r:embed="rId4"/>
          <a:stretch/>
        </p:blipFill>
        <p:spPr>
          <a:xfrm>
            <a:off x="3362325" y="1104900"/>
            <a:ext cx="457200" cy="457200"/>
          </a:xfrm>
          <a:prstGeom prst="rect">
            <a:avLst/>
          </a:prstGeom>
        </p:spPr>
      </p:pic>
      <p:sp>
        <p:nvSpPr>
          <p:cNvPr id="14" name="Llama 3.1&#10;405B-Instruct">
            <a:extLst>
              <a:ext uri="{FF2B5EF4-FFF2-40B4-BE49-F238E27FC236}">
                <a16:creationId xmlns:a16="http://schemas.microsoft.com/office/drawing/2014/main" id="{E73F10E5-2AFA-40FE-9A1F-8012483E6826}"/>
              </a:ext>
            </a:extLst>
          </p:cNvPr>
          <p:cNvSpPr>
            <a:spLocks noGrp="1"/>
          </p:cNvSpPr>
          <p:nvPr/>
        </p:nvSpPr>
        <p:spPr>
          <a:xfrm>
            <a:off x="3943350" y="1057275"/>
            <a:ext cx="2143125" cy="600075"/>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Llama 3.1</a:t>
            </a:r>
          </a:p>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405B-Instruct</a:t>
            </a:r>
          </a:p>
        </p:txBody>
      </p:sp>
      <p:sp>
        <p:nvSpPr>
          <p:cNvPr id="15" name="405B">
            <a:extLst>
              <a:ext uri="{FF2B5EF4-FFF2-40B4-BE49-F238E27FC236}">
                <a16:creationId xmlns:a16="http://schemas.microsoft.com/office/drawing/2014/main" id="{D7409B54-7B28-4222-98E8-803B05A2B815}"/>
              </a:ext>
            </a:extLst>
          </p:cNvPr>
          <p:cNvSpPr>
            <a:spLocks noGrp="1"/>
          </p:cNvSpPr>
          <p:nvPr/>
        </p:nvSpPr>
        <p:spPr>
          <a:xfrm>
            <a:off x="3362325" y="1781175"/>
            <a:ext cx="2571750" cy="457200"/>
          </a:xfrm>
          <a:prstGeom prst="rect">
            <a:avLst/>
          </a:prstGeom>
          <a:noFill/>
          <a:ln w="0">
            <a:noFill/>
          </a:ln>
        </p:spPr>
        <p:txBody>
          <a:bodyPr lIns="0" tIns="0" rIns="0" bIns="0">
            <a:noAutofit/>
          </a:bodyPr>
          <a:lstStyle/>
          <a:p>
            <a:pPr>
              <a:buNone/>
              <a:defRPr sz="2850" b="1">
                <a:solidFill>
                  <a:srgbClr val="065A82"/>
                </a:solidFill>
                <a:latin typeface="Georgia"/>
                <a:ea typeface="Georgia"/>
                <a:cs typeface="Georgia"/>
              </a:defRPr>
            </a:pPr>
            <a:r>
              <a:rPr sz="2850" b="1">
                <a:solidFill>
                  <a:srgbClr val="065A82"/>
                </a:solidFill>
                <a:latin typeface="Georgia"/>
                <a:ea typeface="Georgia"/>
                <a:cs typeface="Georgia"/>
              </a:rPr>
              <a:t>405B</a:t>
            </a:r>
          </a:p>
        </p:txBody>
      </p:sp>
      <p:sp>
        <p:nvSpPr>
          <p:cNvPr id="16" name="Approx. parameters&#10;Dense model">
            <a:extLst>
              <a:ext uri="{FF2B5EF4-FFF2-40B4-BE49-F238E27FC236}">
                <a16:creationId xmlns:a16="http://schemas.microsoft.com/office/drawing/2014/main" id="{B05FB969-4055-45BB-BC75-D3AC0619D4BA}"/>
              </a:ext>
            </a:extLst>
          </p:cNvPr>
          <p:cNvSpPr>
            <a:spLocks noGrp="1"/>
          </p:cNvSpPr>
          <p:nvPr/>
        </p:nvSpPr>
        <p:spPr>
          <a:xfrm>
            <a:off x="3362325" y="2238375"/>
            <a:ext cx="2619375" cy="428625"/>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Approx. parameters</a:t>
            </a:r>
          </a:p>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Dense model</a:t>
            </a:r>
          </a:p>
        </p:txBody>
      </p:sp>
      <p:sp>
        <p:nvSpPr>
          <p:cNvPr id="17" name="16,384  hidden width">
            <a:extLst>
              <a:ext uri="{FF2B5EF4-FFF2-40B4-BE49-F238E27FC236}">
                <a16:creationId xmlns:a16="http://schemas.microsoft.com/office/drawing/2014/main" id="{A5C82FB5-FA10-4BFF-9B99-0C0CEA3B69BF}"/>
              </a:ext>
            </a:extLst>
          </p:cNvPr>
          <p:cNvSpPr>
            <a:spLocks noGrp="1"/>
          </p:cNvSpPr>
          <p:nvPr/>
        </p:nvSpPr>
        <p:spPr>
          <a:xfrm>
            <a:off x="3362325" y="2819400"/>
            <a:ext cx="2667000" cy="266700"/>
          </a:xfrm>
          <a:prstGeom prst="rect">
            <a:avLst/>
          </a:prstGeom>
          <a:noFill/>
          <a:ln w="0">
            <a:noFill/>
          </a:ln>
        </p:spPr>
        <p:txBody>
          <a:bodyPr lIns="0" tIns="0" rIns="0" bIns="0">
            <a:noAutofit/>
          </a:bodyPr>
          <a:lstStyle/>
          <a:p>
            <a:pPr>
              <a:buNone/>
              <a:defRPr sz="1575" b="1">
                <a:solidFill>
                  <a:srgbClr val="0D2137"/>
                </a:solidFill>
                <a:latin typeface="Calibri"/>
                <a:ea typeface="Calibri"/>
                <a:cs typeface="Calibri"/>
              </a:defRPr>
            </a:pPr>
            <a:r>
              <a:rPr sz="1575" b="1">
                <a:solidFill>
                  <a:srgbClr val="0D2137"/>
                </a:solidFill>
                <a:latin typeface="Calibri"/>
                <a:ea typeface="Calibri"/>
                <a:cs typeface="Calibri"/>
              </a:rPr>
              <a:t>16,384  hidden width</a:t>
            </a:r>
          </a:p>
        </p:txBody>
      </p:sp>
      <p:sp>
        <p:nvSpPr>
          <p:cNvPr id="18" name="53,248  MLP width">
            <a:extLst>
              <a:ext uri="{FF2B5EF4-FFF2-40B4-BE49-F238E27FC236}">
                <a16:creationId xmlns:a16="http://schemas.microsoft.com/office/drawing/2014/main" id="{9EF38FAD-40C7-4B77-81F7-B3460A316FC4}"/>
              </a:ext>
            </a:extLst>
          </p:cNvPr>
          <p:cNvSpPr>
            <a:spLocks noGrp="1"/>
          </p:cNvSpPr>
          <p:nvPr/>
        </p:nvSpPr>
        <p:spPr>
          <a:xfrm>
            <a:off x="3362325" y="3162300"/>
            <a:ext cx="2667000" cy="285750"/>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53,248  MLP width</a:t>
            </a:r>
          </a:p>
        </p:txBody>
      </p:sp>
      <p:sp>
        <p:nvSpPr>
          <p:cNvPr id="19" name="128 query heads&#10;8 K/V heads     128 head width">
            <a:extLst>
              <a:ext uri="{FF2B5EF4-FFF2-40B4-BE49-F238E27FC236}">
                <a16:creationId xmlns:a16="http://schemas.microsoft.com/office/drawing/2014/main" id="{C6E577D4-DE1F-43EA-86AA-68EB63A532DD}"/>
              </a:ext>
            </a:extLst>
          </p:cNvPr>
          <p:cNvSpPr>
            <a:spLocks noGrp="1"/>
          </p:cNvSpPr>
          <p:nvPr/>
        </p:nvSpPr>
        <p:spPr>
          <a:xfrm>
            <a:off x="3362325" y="3619500"/>
            <a:ext cx="2667000" cy="56197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128 query heads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8 K/V heads     128 head width</a:t>
            </a:r>
          </a:p>
        </p:txBody>
      </p:sp>
      <p:sp>
        <p:nvSpPr>
          <p:cNvPr id="20" name="126 blocks&#10;131,072 token positions">
            <a:extLst>
              <a:ext uri="{FF2B5EF4-FFF2-40B4-BE49-F238E27FC236}">
                <a16:creationId xmlns:a16="http://schemas.microsoft.com/office/drawing/2014/main" id="{1CA3563B-BEFE-4446-9DE1-164438FAA9A0}"/>
              </a:ext>
            </a:extLst>
          </p:cNvPr>
          <p:cNvSpPr>
            <a:spLocks noGrp="1"/>
          </p:cNvSpPr>
          <p:nvPr/>
        </p:nvSpPr>
        <p:spPr>
          <a:xfrm>
            <a:off x="3362325" y="4276725"/>
            <a:ext cx="2667000" cy="495300"/>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126 blocks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131,072 token positions</a:t>
            </a:r>
          </a:p>
        </p:txBody>
      </p:sp>
      <p:pic>
        <p:nvPicPr>
          <p:cNvPr id="52" name="Picture 51"/>
          <p:cNvPicPr>
            <a:picLocks noChangeAspect="1"/>
          </p:cNvPicPr>
          <p:nvPr/>
        </p:nvPicPr>
        <p:blipFill>
          <a:blip r:embed="rId5"/>
          <a:stretch/>
        </p:blipFill>
        <p:spPr>
          <a:xfrm>
            <a:off x="6343650" y="1104900"/>
            <a:ext cx="457200" cy="457200"/>
          </a:xfrm>
          <a:prstGeom prst="rect">
            <a:avLst/>
          </a:prstGeom>
        </p:spPr>
      </p:pic>
      <p:sp>
        <p:nvSpPr>
          <p:cNvPr id="22" name="OpenAI&#10;gpt-oss-120b">
            <a:extLst>
              <a:ext uri="{FF2B5EF4-FFF2-40B4-BE49-F238E27FC236}">
                <a16:creationId xmlns:a16="http://schemas.microsoft.com/office/drawing/2014/main" id="{EE096D68-9B67-4C3B-A4D0-E9FFA4F50E04}"/>
              </a:ext>
            </a:extLst>
          </p:cNvPr>
          <p:cNvSpPr>
            <a:spLocks noGrp="1"/>
          </p:cNvSpPr>
          <p:nvPr/>
        </p:nvSpPr>
        <p:spPr>
          <a:xfrm>
            <a:off x="6924675" y="1057275"/>
            <a:ext cx="2143125" cy="600075"/>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OpenAI</a:t>
            </a:r>
          </a:p>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gpt-oss-120b</a:t>
            </a:r>
          </a:p>
        </p:txBody>
      </p:sp>
      <p:sp>
        <p:nvSpPr>
          <p:cNvPr id="23" name="117B">
            <a:extLst>
              <a:ext uri="{FF2B5EF4-FFF2-40B4-BE49-F238E27FC236}">
                <a16:creationId xmlns:a16="http://schemas.microsoft.com/office/drawing/2014/main" id="{35BAFCD0-5E81-4060-BD6B-1962ABCFDBDA}"/>
              </a:ext>
            </a:extLst>
          </p:cNvPr>
          <p:cNvSpPr>
            <a:spLocks noGrp="1"/>
          </p:cNvSpPr>
          <p:nvPr/>
        </p:nvSpPr>
        <p:spPr>
          <a:xfrm>
            <a:off x="6343650" y="1781175"/>
            <a:ext cx="2571750" cy="457200"/>
          </a:xfrm>
          <a:prstGeom prst="rect">
            <a:avLst/>
          </a:prstGeom>
          <a:noFill/>
          <a:ln w="0">
            <a:noFill/>
          </a:ln>
        </p:spPr>
        <p:txBody>
          <a:bodyPr lIns="0" tIns="0" rIns="0" bIns="0">
            <a:noAutofit/>
          </a:bodyPr>
          <a:lstStyle/>
          <a:p>
            <a:pPr>
              <a:buNone/>
              <a:defRPr sz="2850" b="1">
                <a:solidFill>
                  <a:srgbClr val="1C7293"/>
                </a:solidFill>
                <a:latin typeface="Georgia"/>
                <a:ea typeface="Georgia"/>
                <a:cs typeface="Georgia"/>
              </a:defRPr>
            </a:pPr>
            <a:r>
              <a:rPr sz="2850" b="1">
                <a:solidFill>
                  <a:srgbClr val="1C7293"/>
                </a:solidFill>
                <a:latin typeface="Georgia"/>
                <a:ea typeface="Georgia"/>
                <a:cs typeface="Georgia"/>
              </a:rPr>
              <a:t>117B</a:t>
            </a:r>
          </a:p>
        </p:txBody>
      </p:sp>
      <p:sp>
        <p:nvSpPr>
          <p:cNvPr id="24" name="Approx. parameters&#10;Mixture of Experts">
            <a:extLst>
              <a:ext uri="{FF2B5EF4-FFF2-40B4-BE49-F238E27FC236}">
                <a16:creationId xmlns:a16="http://schemas.microsoft.com/office/drawing/2014/main" id="{AC828C4A-DA42-4FD9-BC8E-C0DCA0BED376}"/>
              </a:ext>
            </a:extLst>
          </p:cNvPr>
          <p:cNvSpPr>
            <a:spLocks noGrp="1"/>
          </p:cNvSpPr>
          <p:nvPr/>
        </p:nvSpPr>
        <p:spPr>
          <a:xfrm>
            <a:off x="6343650" y="2238375"/>
            <a:ext cx="2619375" cy="428625"/>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Approx. parameters</a:t>
            </a:r>
          </a:p>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Mixture of Experts</a:t>
            </a:r>
          </a:p>
        </p:txBody>
      </p:sp>
      <p:sp>
        <p:nvSpPr>
          <p:cNvPr id="25" name="2,880  hidden width">
            <a:extLst>
              <a:ext uri="{FF2B5EF4-FFF2-40B4-BE49-F238E27FC236}">
                <a16:creationId xmlns:a16="http://schemas.microsoft.com/office/drawing/2014/main" id="{08B189CE-8B6B-46EB-803B-8A7748B761D2}"/>
              </a:ext>
            </a:extLst>
          </p:cNvPr>
          <p:cNvSpPr>
            <a:spLocks noGrp="1"/>
          </p:cNvSpPr>
          <p:nvPr/>
        </p:nvSpPr>
        <p:spPr>
          <a:xfrm>
            <a:off x="6343650" y="2819400"/>
            <a:ext cx="2667000" cy="266700"/>
          </a:xfrm>
          <a:prstGeom prst="rect">
            <a:avLst/>
          </a:prstGeom>
          <a:noFill/>
          <a:ln w="0">
            <a:noFill/>
          </a:ln>
        </p:spPr>
        <p:txBody>
          <a:bodyPr lIns="0" tIns="0" rIns="0" bIns="0">
            <a:noAutofit/>
          </a:bodyPr>
          <a:lstStyle/>
          <a:p>
            <a:pPr>
              <a:buNone/>
              <a:defRPr sz="1575" b="1">
                <a:solidFill>
                  <a:srgbClr val="0D2137"/>
                </a:solidFill>
                <a:latin typeface="Calibri"/>
                <a:ea typeface="Calibri"/>
                <a:cs typeface="Calibri"/>
              </a:defRPr>
            </a:pPr>
            <a:r>
              <a:rPr sz="1575" b="1">
                <a:solidFill>
                  <a:srgbClr val="0D2137"/>
                </a:solidFill>
                <a:latin typeface="Calibri"/>
                <a:ea typeface="Calibri"/>
                <a:cs typeface="Calibri"/>
              </a:rPr>
              <a:t>2,880  hidden width</a:t>
            </a:r>
          </a:p>
        </p:txBody>
      </p:sp>
      <p:sp>
        <p:nvSpPr>
          <p:cNvPr id="26" name="2,880 per expert  MLP width">
            <a:extLst>
              <a:ext uri="{FF2B5EF4-FFF2-40B4-BE49-F238E27FC236}">
                <a16:creationId xmlns:a16="http://schemas.microsoft.com/office/drawing/2014/main" id="{893E684F-9BA2-4DDC-A0BA-F9FA72D22729}"/>
              </a:ext>
            </a:extLst>
          </p:cNvPr>
          <p:cNvSpPr>
            <a:spLocks noGrp="1"/>
          </p:cNvSpPr>
          <p:nvPr/>
        </p:nvSpPr>
        <p:spPr>
          <a:xfrm>
            <a:off x="6343650" y="3162300"/>
            <a:ext cx="2667000" cy="285750"/>
          </a:xfrm>
          <a:prstGeom prst="rect">
            <a:avLst/>
          </a:prstGeom>
          <a:noFill/>
          <a:ln w="0">
            <a:noFill/>
          </a:ln>
        </p:spPr>
        <p:txBody>
          <a:bodyPr lIns="0" tIns="0" rIns="0" bIns="0">
            <a:noAutofit/>
          </a:bodyPr>
          <a:lstStyle/>
          <a:p>
            <a:pPr>
              <a:buNone/>
              <a:defRPr sz="1425" b="0">
                <a:solidFill>
                  <a:srgbClr val="1E293B"/>
                </a:solidFill>
                <a:latin typeface="Calibri"/>
                <a:ea typeface="Calibri"/>
                <a:cs typeface="Calibri"/>
              </a:defRPr>
            </a:pPr>
            <a:r>
              <a:rPr sz="1425" b="0">
                <a:solidFill>
                  <a:srgbClr val="1E293B"/>
                </a:solidFill>
                <a:latin typeface="Calibri"/>
                <a:ea typeface="Calibri"/>
                <a:cs typeface="Calibri"/>
              </a:rPr>
              <a:t>2,880 per expert  MLP width</a:t>
            </a:r>
          </a:p>
        </p:txBody>
      </p:sp>
      <p:sp>
        <p:nvSpPr>
          <p:cNvPr id="27" name="64 query heads&#10;8 K/V heads     64 head width">
            <a:extLst>
              <a:ext uri="{FF2B5EF4-FFF2-40B4-BE49-F238E27FC236}">
                <a16:creationId xmlns:a16="http://schemas.microsoft.com/office/drawing/2014/main" id="{252A764A-5B8C-4A81-B224-4043A4AAEDA6}"/>
              </a:ext>
            </a:extLst>
          </p:cNvPr>
          <p:cNvSpPr>
            <a:spLocks noGrp="1"/>
          </p:cNvSpPr>
          <p:nvPr/>
        </p:nvSpPr>
        <p:spPr>
          <a:xfrm>
            <a:off x="6343650" y="3619500"/>
            <a:ext cx="2667000" cy="56197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64 query heads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8 K/V heads     64 head width</a:t>
            </a:r>
          </a:p>
        </p:txBody>
      </p:sp>
      <p:sp>
        <p:nvSpPr>
          <p:cNvPr id="28" name="36 blocks&#10;131,072 token positions">
            <a:extLst>
              <a:ext uri="{FF2B5EF4-FFF2-40B4-BE49-F238E27FC236}">
                <a16:creationId xmlns:a16="http://schemas.microsoft.com/office/drawing/2014/main" id="{DB1BAA31-163F-4ADE-99C6-75DB79E57791}"/>
              </a:ext>
            </a:extLst>
          </p:cNvPr>
          <p:cNvSpPr>
            <a:spLocks noGrp="1"/>
          </p:cNvSpPr>
          <p:nvPr/>
        </p:nvSpPr>
        <p:spPr>
          <a:xfrm>
            <a:off x="6343650" y="4276725"/>
            <a:ext cx="2667000" cy="495300"/>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36 blocks</a:t>
            </a:r>
          </a:p>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131,072 token positions</a:t>
            </a:r>
          </a:p>
        </p:txBody>
      </p:sp>
      <p:sp>
        <p:nvSpPr>
          <p:cNvPr id="29" name="128 experts, 4 selected per token">
            <a:extLst>
              <a:ext uri="{FF2B5EF4-FFF2-40B4-BE49-F238E27FC236}">
                <a16:creationId xmlns:a16="http://schemas.microsoft.com/office/drawing/2014/main" id="{73A6219B-10E5-4EAB-8E34-9155851898AF}"/>
              </a:ext>
            </a:extLst>
          </p:cNvPr>
          <p:cNvSpPr>
            <a:spLocks noGrp="1"/>
          </p:cNvSpPr>
          <p:nvPr/>
        </p:nvSpPr>
        <p:spPr>
          <a:xfrm>
            <a:off x="6343650" y="4848225"/>
            <a:ext cx="2667000" cy="228600"/>
          </a:xfrm>
          <a:prstGeom prst="rect">
            <a:avLst/>
          </a:prstGeom>
          <a:noFill/>
          <a:ln w="0">
            <a:noFill/>
          </a:ln>
        </p:spPr>
        <p:txBody>
          <a:bodyPr lIns="0" tIns="0" rIns="0" bIns="0">
            <a:noAutofit/>
          </a:bodyPr>
          <a:lstStyle/>
          <a:p>
            <a:pPr>
              <a:buNone/>
              <a:defRPr sz="1200" b="1">
                <a:solidFill>
                  <a:srgbClr val="1C7293"/>
                </a:solidFill>
                <a:latin typeface="Calibri"/>
                <a:ea typeface="Calibri"/>
                <a:cs typeface="Calibri"/>
              </a:defRPr>
            </a:pPr>
            <a:r>
              <a:rPr sz="1200" b="1">
                <a:solidFill>
                  <a:srgbClr val="1C7293"/>
                </a:solidFill>
                <a:latin typeface="Calibri"/>
                <a:ea typeface="Calibri"/>
                <a:cs typeface="Calibri"/>
              </a:rPr>
              <a:t>128 experts, 4 selected per token</a:t>
            </a:r>
          </a:p>
        </p:txBody>
      </p:sp>
    </p:spTree>
    <p:extLst>
      <p:ext uri="{BB962C8B-B14F-4D97-AF65-F5344CB8AC3E}">
        <p14:creationId xmlns:p14="http://schemas.microsoft.com/office/powerpoint/2010/main" val="206192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64592"/>
            <a:ext cx="8229600" cy="502920"/>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From mental models to LLMs</a:t>
            </a:r>
            <a:endParaRPr sz="1800"/>
          </a:p>
        </p:txBody>
      </p:sp>
      <p:sp>
        <p:nvSpPr>
          <p:cNvPr id="4" name="Shape 2">
            <a:extLst>
              <a:ext uri="{FF2B5EF4-FFF2-40B4-BE49-F238E27FC236}">
                <a16:creationId xmlns:a16="http://schemas.microsoft.com/office/drawing/2014/main" id="{FA0BCFFB-6037-4559-BB42-BAE1010DFF55}"/>
              </a:ext>
            </a:extLst>
          </p:cNvPr>
          <p:cNvSpPr>
            <a:spLocks noGrp="1"/>
          </p:cNvSpPr>
          <p:nvPr/>
        </p:nvSpPr>
        <p:spPr>
          <a:xfrm>
            <a:off x="342900" y="1009650"/>
            <a:ext cx="4095750" cy="1704975"/>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5" name="Shape 3">
            <a:extLst>
              <a:ext uri="{FF2B5EF4-FFF2-40B4-BE49-F238E27FC236}">
                <a16:creationId xmlns:a16="http://schemas.microsoft.com/office/drawing/2014/main" id="{D0C19F86-6DE0-490F-9D87-8799F1B99FC5}"/>
              </a:ext>
            </a:extLst>
          </p:cNvPr>
          <p:cNvSpPr>
            <a:spLocks noGrp="1"/>
          </p:cNvSpPr>
          <p:nvPr/>
        </p:nvSpPr>
        <p:spPr>
          <a:xfrm>
            <a:off x="342900" y="1009650"/>
            <a:ext cx="4095750" cy="47625"/>
          </a:xfrm>
          <a:prstGeom prst="rect">
            <a:avLst/>
          </a:prstGeom>
          <a:solidFill>
            <a:srgbClr val="065A82"/>
          </a:solidFill>
        </p:spPr>
        <p:txBody>
          <a:bodyPr/>
          <a:lstStyle/>
          <a:p>
            <a:endParaRPr lang="en-US"/>
          </a:p>
        </p:txBody>
      </p:sp>
      <p:sp>
        <p:nvSpPr>
          <p:cNvPr id="12" name="Shape 9">
            <a:extLst>
              <a:ext uri="{FF2B5EF4-FFF2-40B4-BE49-F238E27FC236}">
                <a16:creationId xmlns:a16="http://schemas.microsoft.com/office/drawing/2014/main" id="{A1788F52-C58F-44A6-8794-23B15543D2FA}"/>
              </a:ext>
            </a:extLst>
          </p:cNvPr>
          <p:cNvSpPr>
            <a:spLocks noGrp="1"/>
          </p:cNvSpPr>
          <p:nvPr/>
        </p:nvSpPr>
        <p:spPr>
          <a:xfrm>
            <a:off x="4705350" y="1009650"/>
            <a:ext cx="4095750" cy="1704975"/>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13" name="Shape 10">
            <a:extLst>
              <a:ext uri="{FF2B5EF4-FFF2-40B4-BE49-F238E27FC236}">
                <a16:creationId xmlns:a16="http://schemas.microsoft.com/office/drawing/2014/main" id="{61C02E15-FB85-4FB8-95CA-903CE42A5D38}"/>
              </a:ext>
            </a:extLst>
          </p:cNvPr>
          <p:cNvSpPr>
            <a:spLocks noGrp="1"/>
          </p:cNvSpPr>
          <p:nvPr/>
        </p:nvSpPr>
        <p:spPr>
          <a:xfrm>
            <a:off x="4705350" y="1009650"/>
            <a:ext cx="4095750" cy="47625"/>
          </a:xfrm>
          <a:prstGeom prst="rect">
            <a:avLst/>
          </a:prstGeom>
          <a:solidFill>
            <a:srgbClr val="1C7293"/>
          </a:solidFill>
        </p:spPr>
        <p:txBody>
          <a:bodyPr/>
          <a:lstStyle/>
          <a:p>
            <a:endParaRPr lang="en-US"/>
          </a:p>
        </p:txBody>
      </p:sp>
      <p:sp>
        <p:nvSpPr>
          <p:cNvPr id="20" name="Shape 16">
            <a:extLst>
              <a:ext uri="{FF2B5EF4-FFF2-40B4-BE49-F238E27FC236}">
                <a16:creationId xmlns:a16="http://schemas.microsoft.com/office/drawing/2014/main" id="{3D90E436-39DE-4C76-8EFB-F70DDDE396B5}"/>
              </a:ext>
            </a:extLst>
          </p:cNvPr>
          <p:cNvSpPr>
            <a:spLocks noGrp="1"/>
          </p:cNvSpPr>
          <p:nvPr/>
        </p:nvSpPr>
        <p:spPr>
          <a:xfrm>
            <a:off x="342900" y="2876550"/>
            <a:ext cx="4095750" cy="1704975"/>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21" name="Shape 17">
            <a:extLst>
              <a:ext uri="{FF2B5EF4-FFF2-40B4-BE49-F238E27FC236}">
                <a16:creationId xmlns:a16="http://schemas.microsoft.com/office/drawing/2014/main" id="{C7C209B8-958C-488B-B416-CDF41E070EE0}"/>
              </a:ext>
            </a:extLst>
          </p:cNvPr>
          <p:cNvSpPr>
            <a:spLocks noGrp="1"/>
          </p:cNvSpPr>
          <p:nvPr/>
        </p:nvSpPr>
        <p:spPr>
          <a:xfrm>
            <a:off x="342900" y="2876550"/>
            <a:ext cx="4095750" cy="47625"/>
          </a:xfrm>
          <a:prstGeom prst="rect">
            <a:avLst/>
          </a:prstGeom>
          <a:solidFill>
            <a:srgbClr val="F59E0B"/>
          </a:solidFill>
        </p:spPr>
        <p:txBody>
          <a:bodyPr/>
          <a:lstStyle/>
          <a:p>
            <a:endParaRPr lang="en-US"/>
          </a:p>
        </p:txBody>
      </p:sp>
      <p:sp>
        <p:nvSpPr>
          <p:cNvPr id="28" name="Shape 23">
            <a:extLst>
              <a:ext uri="{FF2B5EF4-FFF2-40B4-BE49-F238E27FC236}">
                <a16:creationId xmlns:a16="http://schemas.microsoft.com/office/drawing/2014/main" id="{EB458153-8092-4379-8CE9-973067D7B046}"/>
              </a:ext>
            </a:extLst>
          </p:cNvPr>
          <p:cNvSpPr>
            <a:spLocks noGrp="1"/>
          </p:cNvSpPr>
          <p:nvPr/>
        </p:nvSpPr>
        <p:spPr>
          <a:xfrm>
            <a:off x="4705350" y="2876550"/>
            <a:ext cx="4095750" cy="1704975"/>
          </a:xfrm>
          <a:prstGeom prst="rect">
            <a:avLst/>
          </a:prstGeom>
          <a:solidFill>
            <a:srgbClr val="FFFFFF"/>
          </a:solidFill>
          <a:effectLst>
            <a:outerShdw blurRad="101600" dist="38100" dir="8100000" algn="bl" rotWithShape="0">
              <a:srgbClr val="000000">
                <a:alpha val="12000"/>
              </a:srgbClr>
            </a:outerShdw>
          </a:effectLst>
        </p:spPr>
        <p:txBody>
          <a:bodyPr/>
          <a:lstStyle/>
          <a:p>
            <a:endParaRPr lang="en-US"/>
          </a:p>
        </p:txBody>
      </p:sp>
      <p:sp>
        <p:nvSpPr>
          <p:cNvPr id="29" name="Shape 24">
            <a:extLst>
              <a:ext uri="{FF2B5EF4-FFF2-40B4-BE49-F238E27FC236}">
                <a16:creationId xmlns:a16="http://schemas.microsoft.com/office/drawing/2014/main" id="{D96FDFBC-293F-4F7C-BB59-6C7C0A43565A}"/>
              </a:ext>
            </a:extLst>
          </p:cNvPr>
          <p:cNvSpPr>
            <a:spLocks noGrp="1"/>
          </p:cNvSpPr>
          <p:nvPr/>
        </p:nvSpPr>
        <p:spPr>
          <a:xfrm>
            <a:off x="4705350" y="2876550"/>
            <a:ext cx="4095750" cy="47625"/>
          </a:xfrm>
          <a:prstGeom prst="rect">
            <a:avLst/>
          </a:prstGeom>
          <a:solidFill>
            <a:srgbClr val="059669"/>
          </a:solidFill>
        </p:spPr>
        <p:txBody>
          <a:bodyPr/>
          <a:lstStyle/>
          <a:p>
            <a:endParaRPr lang="en-US"/>
          </a:p>
        </p:txBody>
      </p:sp>
      <p:sp>
        <p:nvSpPr>
          <p:cNvPr id="30" name="Human-developed models">
            <a:extLst>
              <a:ext uri="{FF2B5EF4-FFF2-40B4-BE49-F238E27FC236}">
                <a16:creationId xmlns:a16="http://schemas.microsoft.com/office/drawing/2014/main" id="{D837D872-B681-48C2-B57B-08CD4CBD0AC6}"/>
              </a:ext>
            </a:extLst>
          </p:cNvPr>
          <p:cNvSpPr>
            <a:spLocks noGrp="1"/>
          </p:cNvSpPr>
          <p:nvPr/>
        </p:nvSpPr>
        <p:spPr>
          <a:xfrm>
            <a:off x="495300" y="1152525"/>
            <a:ext cx="3810000" cy="285750"/>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Human-developed models</a:t>
            </a:r>
          </a:p>
        </p:txBody>
      </p:sp>
      <p:sp>
        <p:nvSpPr>
          <p:cNvPr id="31" name="Force = mass × acceleration">
            <a:extLst>
              <a:ext uri="{FF2B5EF4-FFF2-40B4-BE49-F238E27FC236}">
                <a16:creationId xmlns:a16="http://schemas.microsoft.com/office/drawing/2014/main" id="{2D096E43-11D2-46B8-99C6-D3D435A486A6}"/>
              </a:ext>
            </a:extLst>
          </p:cNvPr>
          <p:cNvSpPr>
            <a:spLocks noGrp="1"/>
          </p:cNvSpPr>
          <p:nvPr/>
        </p:nvSpPr>
        <p:spPr>
          <a:xfrm>
            <a:off x="495300" y="1533525"/>
            <a:ext cx="3800475" cy="266700"/>
          </a:xfrm>
          <a:prstGeom prst="rect">
            <a:avLst/>
          </a:prstGeom>
          <a:noFill/>
          <a:ln w="0">
            <a:noFill/>
          </a:ln>
        </p:spPr>
        <p:txBody>
          <a:bodyPr lIns="0" tIns="0" rIns="0" bIns="0">
            <a:noAutofit/>
          </a:bodyPr>
          <a:lstStyle/>
          <a:p>
            <a:pPr>
              <a:buNone/>
              <a:defRPr sz="1650" b="0">
                <a:solidFill>
                  <a:srgbClr val="1E293B"/>
                </a:solidFill>
                <a:latin typeface="Calibri"/>
                <a:ea typeface="Calibri"/>
                <a:cs typeface="Calibri"/>
              </a:defRPr>
            </a:pPr>
            <a:r>
              <a:rPr sz="1650" b="0">
                <a:solidFill>
                  <a:srgbClr val="1E293B"/>
                </a:solidFill>
                <a:latin typeface="Calibri"/>
                <a:ea typeface="Calibri"/>
                <a:cs typeface="Calibri"/>
              </a:rPr>
              <a:t>Force = mass × acceleration</a:t>
            </a:r>
          </a:p>
        </p:txBody>
      </p:sp>
      <p:sp>
        <p:nvSpPr>
          <p:cNvPr id="32" name="Distance = speed × time">
            <a:extLst>
              <a:ext uri="{FF2B5EF4-FFF2-40B4-BE49-F238E27FC236}">
                <a16:creationId xmlns:a16="http://schemas.microsoft.com/office/drawing/2014/main" id="{DA479F7E-0D1C-4F43-A923-6A7834C6310E}"/>
              </a:ext>
            </a:extLst>
          </p:cNvPr>
          <p:cNvSpPr>
            <a:spLocks noGrp="1"/>
          </p:cNvSpPr>
          <p:nvPr/>
        </p:nvSpPr>
        <p:spPr>
          <a:xfrm>
            <a:off x="495300" y="1847850"/>
            <a:ext cx="3800475" cy="266700"/>
          </a:xfrm>
          <a:prstGeom prst="rect">
            <a:avLst/>
          </a:prstGeom>
          <a:noFill/>
          <a:ln w="0">
            <a:noFill/>
          </a:ln>
        </p:spPr>
        <p:txBody>
          <a:bodyPr lIns="0" tIns="0" rIns="0" bIns="0">
            <a:noAutofit/>
          </a:bodyPr>
          <a:lstStyle/>
          <a:p>
            <a:pPr>
              <a:buNone/>
              <a:defRPr sz="1650" b="0">
                <a:solidFill>
                  <a:srgbClr val="1E293B"/>
                </a:solidFill>
                <a:latin typeface="Calibri"/>
                <a:ea typeface="Calibri"/>
                <a:cs typeface="Calibri"/>
              </a:defRPr>
            </a:pPr>
            <a:r>
              <a:rPr sz="1650" b="0">
                <a:solidFill>
                  <a:srgbClr val="1E293B"/>
                </a:solidFill>
                <a:latin typeface="Calibri"/>
                <a:ea typeface="Calibri"/>
                <a:cs typeface="Calibri"/>
              </a:rPr>
              <a:t>Distance = speed × time</a:t>
            </a:r>
          </a:p>
        </p:txBody>
      </p:sp>
      <p:sp>
        <p:nvSpPr>
          <p:cNvPr id="33" name="Constant speed">
            <a:extLst>
              <a:ext uri="{FF2B5EF4-FFF2-40B4-BE49-F238E27FC236}">
                <a16:creationId xmlns:a16="http://schemas.microsoft.com/office/drawing/2014/main" id="{ACDB289D-FE9C-4D00-971C-7B4989EFD27F}"/>
              </a:ext>
            </a:extLst>
          </p:cNvPr>
          <p:cNvSpPr>
            <a:spLocks noGrp="1"/>
          </p:cNvSpPr>
          <p:nvPr/>
        </p:nvSpPr>
        <p:spPr>
          <a:xfrm>
            <a:off x="495300" y="2133600"/>
            <a:ext cx="2476500" cy="219075"/>
          </a:xfrm>
          <a:prstGeom prst="rect">
            <a:avLst/>
          </a:prstGeom>
          <a:noFill/>
          <a:ln w="0">
            <a:noFill/>
          </a:ln>
        </p:spPr>
        <p:txBody>
          <a:bodyPr lIns="0" tIns="0" rIns="0" bIns="0">
            <a:noAutofit/>
          </a:bodyPr>
          <a:lstStyle/>
          <a:p>
            <a:pPr>
              <a:buNone/>
              <a:defRPr sz="1200" b="0">
                <a:solidFill>
                  <a:srgbClr val="64748B"/>
                </a:solidFill>
                <a:latin typeface="Calibri"/>
                <a:ea typeface="Calibri"/>
                <a:cs typeface="Calibri"/>
              </a:defRPr>
            </a:pPr>
            <a:r>
              <a:rPr sz="1200" b="0">
                <a:solidFill>
                  <a:srgbClr val="64748B"/>
                </a:solidFill>
                <a:latin typeface="Calibri"/>
                <a:ea typeface="Calibri"/>
                <a:cs typeface="Calibri"/>
              </a:rPr>
              <a:t>Constant speed</a:t>
            </a:r>
          </a:p>
        </p:txBody>
      </p:sp>
      <p:sp>
        <p:nvSpPr>
          <p:cNvPr id="34" name="E = mc²">
            <a:extLst>
              <a:ext uri="{FF2B5EF4-FFF2-40B4-BE49-F238E27FC236}">
                <a16:creationId xmlns:a16="http://schemas.microsoft.com/office/drawing/2014/main" id="{5F47727E-6BDF-4B38-8E45-28DF498C5270}"/>
              </a:ext>
            </a:extLst>
          </p:cNvPr>
          <p:cNvSpPr>
            <a:spLocks noGrp="1"/>
          </p:cNvSpPr>
          <p:nvPr/>
        </p:nvSpPr>
        <p:spPr>
          <a:xfrm>
            <a:off x="3276600" y="2133600"/>
            <a:ext cx="952500" cy="285750"/>
          </a:xfrm>
          <a:prstGeom prst="rect">
            <a:avLst/>
          </a:prstGeom>
          <a:noFill/>
          <a:ln w="0">
            <a:noFill/>
          </a:ln>
        </p:spPr>
        <p:txBody>
          <a:bodyPr lIns="0" tIns="0" rIns="0" bIns="0">
            <a:noAutofit/>
          </a:bodyPr>
          <a:lstStyle/>
          <a:p>
            <a:pPr>
              <a:buNone/>
              <a:defRPr sz="1800" b="0">
                <a:solidFill>
                  <a:srgbClr val="065A82"/>
                </a:solidFill>
                <a:latin typeface="Georgia"/>
                <a:ea typeface="Georgia"/>
                <a:cs typeface="Georgia"/>
              </a:defRPr>
            </a:pPr>
            <a:r>
              <a:rPr sz="1800" b="0">
                <a:solidFill>
                  <a:srgbClr val="065A82"/>
                </a:solidFill>
                <a:latin typeface="Georgia"/>
                <a:ea typeface="Georgia"/>
                <a:cs typeface="Georgia"/>
              </a:rPr>
              <a:t>E = mc²</a:t>
            </a:r>
          </a:p>
        </p:txBody>
      </p:sp>
      <p:sp>
        <p:nvSpPr>
          <p:cNvPr id="35" name="Relationships expressed by humans">
            <a:extLst>
              <a:ext uri="{FF2B5EF4-FFF2-40B4-BE49-F238E27FC236}">
                <a16:creationId xmlns:a16="http://schemas.microsoft.com/office/drawing/2014/main" id="{A0B0641D-F379-465B-BDDC-E11AB446AAE4}"/>
              </a:ext>
            </a:extLst>
          </p:cNvPr>
          <p:cNvSpPr>
            <a:spLocks noGrp="1"/>
          </p:cNvSpPr>
          <p:nvPr/>
        </p:nvSpPr>
        <p:spPr>
          <a:xfrm>
            <a:off x="495300" y="2447925"/>
            <a:ext cx="3810000" cy="219075"/>
          </a:xfrm>
          <a:prstGeom prst="rect">
            <a:avLst/>
          </a:prstGeom>
          <a:noFill/>
          <a:ln w="0">
            <a:noFill/>
          </a:ln>
        </p:spPr>
        <p:txBody>
          <a:bodyPr lIns="0" tIns="0" rIns="0" bIns="0">
            <a:noAutofit/>
          </a:bodyPr>
          <a:lstStyle/>
          <a:p>
            <a:pPr>
              <a:buNone/>
              <a:defRPr sz="1275" b="0">
                <a:solidFill>
                  <a:srgbClr val="065A82"/>
                </a:solidFill>
                <a:latin typeface="Calibri"/>
                <a:ea typeface="Calibri"/>
                <a:cs typeface="Calibri"/>
              </a:defRPr>
            </a:pPr>
            <a:r>
              <a:rPr sz="1275" b="0">
                <a:solidFill>
                  <a:srgbClr val="065A82"/>
                </a:solidFill>
                <a:latin typeface="Calibri"/>
                <a:ea typeface="Calibri"/>
                <a:cs typeface="Calibri"/>
              </a:rPr>
              <a:t>Relationships expressed by humans</a:t>
            </a:r>
          </a:p>
        </p:txBody>
      </p:sp>
      <p:sp>
        <p:nvSpPr>
          <p:cNvPr id="36" name="Machine learning models">
            <a:extLst>
              <a:ext uri="{FF2B5EF4-FFF2-40B4-BE49-F238E27FC236}">
                <a16:creationId xmlns:a16="http://schemas.microsoft.com/office/drawing/2014/main" id="{69A12737-FDE0-48A7-8DEA-965E47E649B4}"/>
              </a:ext>
            </a:extLst>
          </p:cNvPr>
          <p:cNvSpPr>
            <a:spLocks noGrp="1"/>
          </p:cNvSpPr>
          <p:nvPr/>
        </p:nvSpPr>
        <p:spPr>
          <a:xfrm>
            <a:off x="4857750" y="1152525"/>
            <a:ext cx="3810000" cy="285750"/>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Machine learning models</a:t>
            </a:r>
          </a:p>
        </p:txBody>
      </p:sp>
      <p:sp>
        <p:nvSpPr>
          <p:cNvPr id="37" name="Uber ETA: arrival time">
            <a:extLst>
              <a:ext uri="{FF2B5EF4-FFF2-40B4-BE49-F238E27FC236}">
                <a16:creationId xmlns:a16="http://schemas.microsoft.com/office/drawing/2014/main" id="{53A597EA-D3F3-405B-8006-D015D67B0C7E}"/>
              </a:ext>
            </a:extLst>
          </p:cNvPr>
          <p:cNvSpPr>
            <a:spLocks noGrp="1"/>
          </p:cNvSpPr>
          <p:nvPr/>
        </p:nvSpPr>
        <p:spPr>
          <a:xfrm>
            <a:off x="4857750" y="1533525"/>
            <a:ext cx="3810000" cy="257175"/>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Uber ETA: arrival time</a:t>
            </a:r>
          </a:p>
        </p:txBody>
      </p:sp>
      <p:sp>
        <p:nvSpPr>
          <p:cNvPr id="38" name="Zillow Zestimate: home value">
            <a:extLst>
              <a:ext uri="{FF2B5EF4-FFF2-40B4-BE49-F238E27FC236}">
                <a16:creationId xmlns:a16="http://schemas.microsoft.com/office/drawing/2014/main" id="{6E799ADC-585B-4B0E-BCE9-247E5F930694}"/>
              </a:ext>
            </a:extLst>
          </p:cNvPr>
          <p:cNvSpPr>
            <a:spLocks noGrp="1"/>
          </p:cNvSpPr>
          <p:nvPr/>
        </p:nvSpPr>
        <p:spPr>
          <a:xfrm>
            <a:off x="4857750" y="1838325"/>
            <a:ext cx="3810000" cy="257175"/>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Zillow Zestimate: home value</a:t>
            </a:r>
          </a:p>
        </p:txBody>
      </p:sp>
      <p:sp>
        <p:nvSpPr>
          <p:cNvPr id="39" name="Netflix: what you might enjoy watching">
            <a:extLst>
              <a:ext uri="{FF2B5EF4-FFF2-40B4-BE49-F238E27FC236}">
                <a16:creationId xmlns:a16="http://schemas.microsoft.com/office/drawing/2014/main" id="{396EADA1-70F7-46A4-A2EA-3DF1D7E0B67A}"/>
              </a:ext>
            </a:extLst>
          </p:cNvPr>
          <p:cNvSpPr>
            <a:spLocks noGrp="1"/>
          </p:cNvSpPr>
          <p:nvPr/>
        </p:nvSpPr>
        <p:spPr>
          <a:xfrm>
            <a:off x="4857750" y="2143125"/>
            <a:ext cx="3810000" cy="25717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Netflix: what you might enjoy watching</a:t>
            </a:r>
          </a:p>
        </p:txBody>
      </p:sp>
      <p:sp>
        <p:nvSpPr>
          <p:cNvPr id="40" name="Patterns learned from data">
            <a:extLst>
              <a:ext uri="{FF2B5EF4-FFF2-40B4-BE49-F238E27FC236}">
                <a16:creationId xmlns:a16="http://schemas.microsoft.com/office/drawing/2014/main" id="{C6E95B40-21E3-4F45-A96C-FAF9ACDFB38C}"/>
              </a:ext>
            </a:extLst>
          </p:cNvPr>
          <p:cNvSpPr>
            <a:spLocks noGrp="1"/>
          </p:cNvSpPr>
          <p:nvPr/>
        </p:nvSpPr>
        <p:spPr>
          <a:xfrm>
            <a:off x="4857750" y="2447925"/>
            <a:ext cx="3810000" cy="219075"/>
          </a:xfrm>
          <a:prstGeom prst="rect">
            <a:avLst/>
          </a:prstGeom>
          <a:noFill/>
          <a:ln w="0">
            <a:noFill/>
          </a:ln>
        </p:spPr>
        <p:txBody>
          <a:bodyPr lIns="0" tIns="0" rIns="0" bIns="0">
            <a:noAutofit/>
          </a:bodyPr>
          <a:lstStyle/>
          <a:p>
            <a:pPr>
              <a:buNone/>
              <a:defRPr sz="1275" b="0">
                <a:solidFill>
                  <a:srgbClr val="1C7293"/>
                </a:solidFill>
                <a:latin typeface="Calibri"/>
                <a:ea typeface="Calibri"/>
                <a:cs typeface="Calibri"/>
              </a:defRPr>
            </a:pPr>
            <a:r>
              <a:rPr sz="1275" b="0">
                <a:solidFill>
                  <a:srgbClr val="1C7293"/>
                </a:solidFill>
                <a:latin typeface="Calibri"/>
                <a:ea typeface="Calibri"/>
                <a:cs typeface="Calibri"/>
              </a:rPr>
              <a:t>Patterns learned from data</a:t>
            </a:r>
          </a:p>
        </p:txBody>
      </p:sp>
      <p:sp>
        <p:nvSpPr>
          <p:cNvPr id="41" name="Language models">
            <a:extLst>
              <a:ext uri="{FF2B5EF4-FFF2-40B4-BE49-F238E27FC236}">
                <a16:creationId xmlns:a16="http://schemas.microsoft.com/office/drawing/2014/main" id="{1A06B604-6278-4326-9951-13D48D3F013B}"/>
              </a:ext>
            </a:extLst>
          </p:cNvPr>
          <p:cNvSpPr>
            <a:spLocks noGrp="1"/>
          </p:cNvSpPr>
          <p:nvPr/>
        </p:nvSpPr>
        <p:spPr>
          <a:xfrm>
            <a:off x="495300" y="3019425"/>
            <a:ext cx="3810000" cy="285750"/>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Language models</a:t>
            </a:r>
          </a:p>
        </p:txBody>
      </p:sp>
      <p:sp>
        <p:nvSpPr>
          <p:cNvPr id="42" name="“The cat slept because it was …”">
            <a:extLst>
              <a:ext uri="{FF2B5EF4-FFF2-40B4-BE49-F238E27FC236}">
                <a16:creationId xmlns:a16="http://schemas.microsoft.com/office/drawing/2014/main" id="{9B1916FE-CE03-4242-9FFB-227C0B2413C7}"/>
              </a:ext>
            </a:extLst>
          </p:cNvPr>
          <p:cNvSpPr>
            <a:spLocks noGrp="1"/>
          </p:cNvSpPr>
          <p:nvPr/>
        </p:nvSpPr>
        <p:spPr>
          <a:xfrm>
            <a:off x="495300" y="3409950"/>
            <a:ext cx="3810000" cy="285750"/>
          </a:xfrm>
          <a:prstGeom prst="rect">
            <a:avLst/>
          </a:prstGeom>
          <a:noFill/>
          <a:ln w="0">
            <a:noFill/>
          </a:ln>
        </p:spPr>
        <p:txBody>
          <a:bodyPr lIns="0" tIns="0" rIns="0" bIns="0">
            <a:noAutofit/>
          </a:bodyPr>
          <a:lstStyle/>
          <a:p>
            <a:pPr>
              <a:buNone/>
              <a:defRPr sz="1650" b="0">
                <a:solidFill>
                  <a:srgbClr val="1E293B"/>
                </a:solidFill>
                <a:latin typeface="Calibri"/>
                <a:ea typeface="Calibri"/>
                <a:cs typeface="Calibri"/>
              </a:defRPr>
            </a:pPr>
            <a:r>
              <a:rPr sz="1650" b="0">
                <a:solidFill>
                  <a:srgbClr val="1E293B"/>
                </a:solidFill>
                <a:latin typeface="Calibri"/>
                <a:ea typeface="Calibri"/>
                <a:cs typeface="Calibri"/>
              </a:rPr>
              <a:t>“The cat slept because it was …”</a:t>
            </a:r>
          </a:p>
        </p:txBody>
      </p:sp>
      <p:sp>
        <p:nvSpPr>
          <p:cNvPr id="43" name="Possible continuations">
            <a:extLst>
              <a:ext uri="{FF2B5EF4-FFF2-40B4-BE49-F238E27FC236}">
                <a16:creationId xmlns:a16="http://schemas.microsoft.com/office/drawing/2014/main" id="{0B29C2F0-D451-4DAE-8E11-CE65271F950F}"/>
              </a:ext>
            </a:extLst>
          </p:cNvPr>
          <p:cNvSpPr>
            <a:spLocks noGrp="1"/>
          </p:cNvSpPr>
          <p:nvPr/>
        </p:nvSpPr>
        <p:spPr>
          <a:xfrm>
            <a:off x="495300" y="3752850"/>
            <a:ext cx="3810000" cy="219075"/>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Possible continuations</a:t>
            </a:r>
          </a:p>
        </p:txBody>
      </p:sp>
      <p:sp>
        <p:nvSpPr>
          <p:cNvPr id="44" name="tired     sleepy     exhausted">
            <a:extLst>
              <a:ext uri="{FF2B5EF4-FFF2-40B4-BE49-F238E27FC236}">
                <a16:creationId xmlns:a16="http://schemas.microsoft.com/office/drawing/2014/main" id="{65A99FA3-236E-4537-BFDD-FDDA66482F96}"/>
              </a:ext>
            </a:extLst>
          </p:cNvPr>
          <p:cNvSpPr>
            <a:spLocks noGrp="1"/>
          </p:cNvSpPr>
          <p:nvPr/>
        </p:nvSpPr>
        <p:spPr>
          <a:xfrm>
            <a:off x="495300" y="4000500"/>
            <a:ext cx="3810000" cy="266700"/>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tired     sleepy     exhausted</a:t>
            </a:r>
          </a:p>
        </p:txBody>
      </p:sp>
      <p:sp>
        <p:nvSpPr>
          <p:cNvPr id="45" name="Probabilities for the next token">
            <a:extLst>
              <a:ext uri="{FF2B5EF4-FFF2-40B4-BE49-F238E27FC236}">
                <a16:creationId xmlns:a16="http://schemas.microsoft.com/office/drawing/2014/main" id="{05AF3CBD-14AD-4D41-84CA-54362E272E8A}"/>
              </a:ext>
            </a:extLst>
          </p:cNvPr>
          <p:cNvSpPr>
            <a:spLocks noGrp="1"/>
          </p:cNvSpPr>
          <p:nvPr/>
        </p:nvSpPr>
        <p:spPr>
          <a:xfrm>
            <a:off x="495300" y="4324350"/>
            <a:ext cx="3810000" cy="219075"/>
          </a:xfrm>
          <a:prstGeom prst="rect">
            <a:avLst/>
          </a:prstGeom>
          <a:noFill/>
          <a:ln w="0">
            <a:noFill/>
          </a:ln>
        </p:spPr>
        <p:txBody>
          <a:bodyPr lIns="0" tIns="0" rIns="0" bIns="0">
            <a:noAutofit/>
          </a:bodyPr>
          <a:lstStyle/>
          <a:p>
            <a:pPr>
              <a:buNone/>
              <a:defRPr sz="1275" b="0">
                <a:solidFill>
                  <a:srgbClr val="A65F00"/>
                </a:solidFill>
                <a:latin typeface="Calibri"/>
                <a:ea typeface="Calibri"/>
                <a:cs typeface="Calibri"/>
              </a:defRPr>
            </a:pPr>
            <a:r>
              <a:rPr sz="1275" b="0">
                <a:solidFill>
                  <a:srgbClr val="A65F00"/>
                </a:solidFill>
                <a:latin typeface="Calibri"/>
                <a:ea typeface="Calibri"/>
                <a:cs typeface="Calibri"/>
              </a:rPr>
              <a:t>Probabilities for the next token</a:t>
            </a:r>
          </a:p>
        </p:txBody>
      </p:sp>
      <p:sp>
        <p:nvSpPr>
          <p:cNvPr id="46" name="Large language models">
            <a:extLst>
              <a:ext uri="{FF2B5EF4-FFF2-40B4-BE49-F238E27FC236}">
                <a16:creationId xmlns:a16="http://schemas.microsoft.com/office/drawing/2014/main" id="{0EA55040-43B9-4EA6-AF17-4AFB8A9C6202}"/>
              </a:ext>
            </a:extLst>
          </p:cNvPr>
          <p:cNvSpPr>
            <a:spLocks noGrp="1"/>
          </p:cNvSpPr>
          <p:nvPr/>
        </p:nvSpPr>
        <p:spPr>
          <a:xfrm>
            <a:off x="4857750" y="3019425"/>
            <a:ext cx="3810000" cy="285750"/>
          </a:xfrm>
          <a:prstGeom prst="rect">
            <a:avLst/>
          </a:prstGeom>
          <a:noFill/>
          <a:ln w="0">
            <a:noFill/>
          </a:ln>
        </p:spPr>
        <p:txBody>
          <a:bodyPr lIns="0" tIns="0" rIns="0" bIns="0">
            <a:noAutofit/>
          </a:bodyPr>
          <a:lstStyle/>
          <a:p>
            <a:pPr>
              <a:buNone/>
              <a:defRPr sz="1725" b="1">
                <a:solidFill>
                  <a:srgbClr val="0D2137"/>
                </a:solidFill>
                <a:latin typeface="Georgia"/>
                <a:ea typeface="Georgia"/>
                <a:cs typeface="Georgia"/>
              </a:defRPr>
            </a:pPr>
            <a:r>
              <a:rPr sz="1725" b="1">
                <a:solidFill>
                  <a:srgbClr val="0D2137"/>
                </a:solidFill>
                <a:latin typeface="Georgia"/>
                <a:ea typeface="Georgia"/>
                <a:cs typeface="Georgia"/>
              </a:rPr>
              <a:t>Large language models</a:t>
            </a:r>
          </a:p>
        </p:txBody>
      </p:sp>
      <p:sp>
        <p:nvSpPr>
          <p:cNvPr id="47" name="Qwen, Llama, gpt-oss">
            <a:extLst>
              <a:ext uri="{FF2B5EF4-FFF2-40B4-BE49-F238E27FC236}">
                <a16:creationId xmlns:a16="http://schemas.microsoft.com/office/drawing/2014/main" id="{DEB59CDB-0189-4EF7-9ED3-64110F01CC95}"/>
              </a:ext>
            </a:extLst>
          </p:cNvPr>
          <p:cNvSpPr>
            <a:spLocks noGrp="1"/>
          </p:cNvSpPr>
          <p:nvPr/>
        </p:nvSpPr>
        <p:spPr>
          <a:xfrm>
            <a:off x="4857750" y="3409950"/>
            <a:ext cx="3810000" cy="276225"/>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Qwen, Llama, gpt-oss</a:t>
            </a:r>
          </a:p>
        </p:txBody>
      </p:sp>
      <p:sp>
        <p:nvSpPr>
          <p:cNvPr id="48" name="“Explain why the cat might be tired.”">
            <a:extLst>
              <a:ext uri="{FF2B5EF4-FFF2-40B4-BE49-F238E27FC236}">
                <a16:creationId xmlns:a16="http://schemas.microsoft.com/office/drawing/2014/main" id="{55BAD2DF-EB65-401B-A2AA-A083AC466D14}"/>
              </a:ext>
            </a:extLst>
          </p:cNvPr>
          <p:cNvSpPr>
            <a:spLocks noGrp="1"/>
          </p:cNvSpPr>
          <p:nvPr/>
        </p:nvSpPr>
        <p:spPr>
          <a:xfrm>
            <a:off x="4857750" y="3781425"/>
            <a:ext cx="3810000" cy="285750"/>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“Explain why the cat might be tired.”</a:t>
            </a:r>
          </a:p>
        </p:txBody>
      </p:sp>
      <p:sp>
        <p:nvSpPr>
          <p:cNvPr id="49" name="Explain concepts, summarize text, generate code">
            <a:extLst>
              <a:ext uri="{FF2B5EF4-FFF2-40B4-BE49-F238E27FC236}">
                <a16:creationId xmlns:a16="http://schemas.microsoft.com/office/drawing/2014/main" id="{F947F507-52B3-422C-B491-42AD13637880}"/>
              </a:ext>
            </a:extLst>
          </p:cNvPr>
          <p:cNvSpPr>
            <a:spLocks noGrp="1"/>
          </p:cNvSpPr>
          <p:nvPr/>
        </p:nvSpPr>
        <p:spPr>
          <a:xfrm>
            <a:off x="4857750" y="4086225"/>
            <a:ext cx="3810000" cy="219075"/>
          </a:xfrm>
          <a:prstGeom prst="rect">
            <a:avLst/>
          </a:prstGeom>
          <a:noFill/>
          <a:ln w="0">
            <a:noFill/>
          </a:ln>
        </p:spPr>
        <p:txBody>
          <a:bodyPr lIns="0" tIns="0" rIns="0" bIns="0">
            <a:noAutofit/>
          </a:bodyPr>
          <a:lstStyle/>
          <a:p>
            <a:pPr>
              <a:buNone/>
              <a:defRPr sz="1275" b="0">
                <a:solidFill>
                  <a:srgbClr val="1E293B"/>
                </a:solidFill>
                <a:latin typeface="Calibri"/>
                <a:ea typeface="Calibri"/>
                <a:cs typeface="Calibri"/>
              </a:defRPr>
            </a:pPr>
            <a:r>
              <a:rPr sz="1275" b="0">
                <a:solidFill>
                  <a:srgbClr val="1E293B"/>
                </a:solidFill>
                <a:latin typeface="Calibri"/>
                <a:ea typeface="Calibri"/>
                <a:cs typeface="Calibri"/>
              </a:rPr>
              <a:t>Explain concepts, summarize text, generate code</a:t>
            </a:r>
          </a:p>
        </p:txBody>
      </p:sp>
      <p:sp>
        <p:nvSpPr>
          <p:cNvPr id="50" name="Large neural language models">
            <a:extLst>
              <a:ext uri="{FF2B5EF4-FFF2-40B4-BE49-F238E27FC236}">
                <a16:creationId xmlns:a16="http://schemas.microsoft.com/office/drawing/2014/main" id="{5D69E155-68D3-4AEB-A67D-B6280A2772AA}"/>
              </a:ext>
            </a:extLst>
          </p:cNvPr>
          <p:cNvSpPr>
            <a:spLocks noGrp="1"/>
          </p:cNvSpPr>
          <p:nvPr/>
        </p:nvSpPr>
        <p:spPr>
          <a:xfrm>
            <a:off x="4857750" y="4324350"/>
            <a:ext cx="3810000" cy="219075"/>
          </a:xfrm>
          <a:prstGeom prst="rect">
            <a:avLst/>
          </a:prstGeom>
          <a:noFill/>
          <a:ln w="0">
            <a:noFill/>
          </a:ln>
        </p:spPr>
        <p:txBody>
          <a:bodyPr lIns="0" tIns="0" rIns="0" bIns="0">
            <a:noAutofit/>
          </a:bodyPr>
          <a:lstStyle/>
          <a:p>
            <a:pPr>
              <a:buNone/>
              <a:defRPr sz="1275" b="0">
                <a:solidFill>
                  <a:srgbClr val="00996B"/>
                </a:solidFill>
                <a:latin typeface="Calibri"/>
                <a:ea typeface="Calibri"/>
                <a:cs typeface="Calibri"/>
              </a:defRPr>
            </a:pPr>
            <a:r>
              <a:rPr sz="1275" b="0">
                <a:solidFill>
                  <a:srgbClr val="00996B"/>
                </a:solidFill>
                <a:latin typeface="Calibri"/>
                <a:ea typeface="Calibri"/>
                <a:cs typeface="Calibri"/>
              </a:rPr>
              <a:t>Large neural language models</a:t>
            </a:r>
          </a:p>
        </p:txBody>
      </p:sp>
      <p:sp>
        <p:nvSpPr>
          <p:cNvPr id="51" name="A model represents relationships so we can explain">
            <a:extLst>
              <a:ext uri="{FF2B5EF4-FFF2-40B4-BE49-F238E27FC236}">
                <a16:creationId xmlns:a16="http://schemas.microsoft.com/office/drawing/2014/main" id="{30D6E7CA-E0F6-4801-A3F5-80BA1BEF8567}"/>
              </a:ext>
            </a:extLst>
          </p:cNvPr>
          <p:cNvSpPr>
            <a:spLocks noGrp="1"/>
          </p:cNvSpPr>
          <p:nvPr/>
        </p:nvSpPr>
        <p:spPr>
          <a:xfrm>
            <a:off x="371475" y="4810125"/>
            <a:ext cx="8429625" cy="266700"/>
          </a:xfrm>
          <a:prstGeom prst="rect">
            <a:avLst/>
          </a:prstGeom>
          <a:noFill/>
          <a:ln w="0">
            <a:noFill/>
          </a:ln>
        </p:spPr>
        <p:txBody>
          <a:bodyPr lIns="0" tIns="0" rIns="0" bIns="0">
            <a:noAutofit/>
          </a:bodyPr>
          <a:lstStyle/>
          <a:p>
            <a:pPr>
              <a:buNone/>
              <a:defRPr sz="1500" b="1">
                <a:solidFill>
                  <a:srgbClr val="0D2137"/>
                </a:solidFill>
                <a:latin typeface="Calibri"/>
                <a:ea typeface="Calibri"/>
                <a:cs typeface="Calibri"/>
              </a:defRPr>
            </a:pPr>
            <a:r>
              <a:rPr sz="1500" b="1">
                <a:solidFill>
                  <a:srgbClr val="0D2137"/>
                </a:solidFill>
                <a:latin typeface="Calibri"/>
                <a:ea typeface="Calibri"/>
                <a:cs typeface="Calibri"/>
              </a:rPr>
              <a:t>A model represents relationships so we can explain or predict something.</a:t>
            </a:r>
          </a:p>
        </p:txBody>
      </p:sp>
    </p:spTree>
    <p:extLst>
      <p:ext uri="{BB962C8B-B14F-4D97-AF65-F5344CB8AC3E}">
        <p14:creationId xmlns:p14="http://schemas.microsoft.com/office/powerpoint/2010/main" val="2061924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The cat slept because it was tired.”">
            <a:extLst>
              <a:ext uri="{FF2B5EF4-FFF2-40B4-BE49-F238E27FC236}">
                <a16:creationId xmlns:a16="http://schemas.microsoft.com/office/drawing/2014/main" id="{26D57AC5-E8AE-4BBF-A506-0C3086AC3116}"/>
              </a:ext>
            </a:extLst>
          </p:cNvPr>
          <p:cNvSpPr>
            <a:spLocks noGrp="1"/>
          </p:cNvSpPr>
          <p:nvPr/>
        </p:nvSpPr>
        <p:spPr>
          <a:xfrm>
            <a:off x="381000" y="1019175"/>
            <a:ext cx="8382000" cy="381000"/>
          </a:xfrm>
          <a:prstGeom prst="rect">
            <a:avLst/>
          </a:prstGeom>
          <a:noFill/>
          <a:ln w="0">
            <a:noFill/>
          </a:ln>
        </p:spPr>
        <p:txBody>
          <a:bodyPr lIns="0" tIns="0" rIns="0" bIns="0">
            <a:noAutofit/>
          </a:bodyPr>
          <a:lstStyle/>
          <a:p>
            <a:pPr>
              <a:buNone/>
              <a:defRPr sz="2175" b="1">
                <a:solidFill>
                  <a:srgbClr val="0D2137"/>
                </a:solidFill>
                <a:latin typeface="Georgia"/>
                <a:ea typeface="Georgia"/>
                <a:cs typeface="Georgia"/>
              </a:defRPr>
            </a:pPr>
            <a:r>
              <a:rPr sz="2175" b="1">
                <a:solidFill>
                  <a:srgbClr val="0D2137"/>
                </a:solidFill>
                <a:latin typeface="Georgia"/>
                <a:ea typeface="Georgia"/>
                <a:cs typeface="Georgia"/>
              </a:rPr>
              <a:t>“The cat slept because it was tired.”</a:t>
            </a:r>
          </a:p>
        </p:txBody>
      </p:sp>
      <p:sp>
        <p:nvSpPr>
          <p:cNvPr id="5" name="Qwen token pieces and their IDs">
            <a:extLst>
              <a:ext uri="{FF2B5EF4-FFF2-40B4-BE49-F238E27FC236}">
                <a16:creationId xmlns:a16="http://schemas.microsoft.com/office/drawing/2014/main" id="{D4D17841-CBFE-45CA-9EC4-56EDEDFC7CD3}"/>
              </a:ext>
            </a:extLst>
          </p:cNvPr>
          <p:cNvSpPr>
            <a:spLocks noGrp="1"/>
          </p:cNvSpPr>
          <p:nvPr/>
        </p:nvSpPr>
        <p:spPr>
          <a:xfrm>
            <a:off x="381000" y="1476375"/>
            <a:ext cx="5715000" cy="266700"/>
          </a:xfrm>
          <a:prstGeom prst="rect">
            <a:avLst/>
          </a:prstGeom>
          <a:noFill/>
          <a:ln w="0">
            <a:noFill/>
          </a:ln>
        </p:spPr>
        <p:txBody>
          <a:bodyPr lIns="0" tIns="0" rIns="0" bIns="0">
            <a:noAutofit/>
          </a:bodyPr>
          <a:lstStyle/>
          <a:p>
            <a:pPr>
              <a:buNone/>
              <a:defRPr sz="1500" b="1">
                <a:solidFill>
                  <a:srgbClr val="065A82"/>
                </a:solidFill>
                <a:latin typeface="Calibri"/>
                <a:ea typeface="Calibri"/>
                <a:cs typeface="Calibri"/>
              </a:defRPr>
            </a:pPr>
            <a:r>
              <a:rPr sz="1500" b="1">
                <a:solidFill>
                  <a:srgbClr val="065A82"/>
                </a:solidFill>
                <a:latin typeface="Calibri"/>
                <a:ea typeface="Calibri"/>
                <a:cs typeface="Calibri"/>
              </a:rPr>
              <a:t>Qwen token pieces and their IDs</a:t>
            </a:r>
          </a:p>
        </p:txBody>
      </p:sp>
      <p:sp>
        <p:nvSpPr>
          <p:cNvPr id="6" name="7 words, 8 tokens">
            <a:extLst>
              <a:ext uri="{FF2B5EF4-FFF2-40B4-BE49-F238E27FC236}">
                <a16:creationId xmlns:a16="http://schemas.microsoft.com/office/drawing/2014/main" id="{F0996F3C-E28F-4117-823E-8540926EC183}"/>
              </a:ext>
            </a:extLst>
          </p:cNvPr>
          <p:cNvSpPr>
            <a:spLocks noGrp="1"/>
          </p:cNvSpPr>
          <p:nvPr/>
        </p:nvSpPr>
        <p:spPr>
          <a:xfrm>
            <a:off x="6819900" y="1495425"/>
            <a:ext cx="1943100" cy="238125"/>
          </a:xfrm>
          <a:prstGeom prst="rect">
            <a:avLst/>
          </a:prstGeom>
          <a:noFill/>
          <a:ln w="0">
            <a:noFill/>
          </a:ln>
        </p:spPr>
        <p:txBody>
          <a:bodyPr lIns="0" tIns="0" rIns="0" bIns="0">
            <a:noAutofit/>
          </a:bodyPr>
          <a:lstStyle/>
          <a:p>
            <a:pPr>
              <a:buNone/>
              <a:defRPr sz="1350" b="0">
                <a:solidFill>
                  <a:srgbClr val="64748B"/>
                </a:solidFill>
                <a:latin typeface="Calibri"/>
                <a:ea typeface="Calibri"/>
                <a:cs typeface="Calibri"/>
              </a:defRPr>
            </a:pPr>
            <a:r>
              <a:rPr sz="1350" b="0">
                <a:solidFill>
                  <a:srgbClr val="64748B"/>
                </a:solidFill>
                <a:latin typeface="Calibri"/>
                <a:ea typeface="Calibri"/>
                <a:cs typeface="Calibri"/>
              </a:rPr>
              <a:t>7 words, 8 tokens</a:t>
            </a:r>
          </a:p>
        </p:txBody>
      </p:sp>
      <p:graphicFrame>
        <p:nvGraphicFramePr>
          <p:cNvPr id="23" name="Table 22"/>
          <p:cNvGraphicFramePr/>
          <p:nvPr/>
        </p:nvGraphicFramePr>
        <p:xfrm>
          <a:off x="381000" y="1809750"/>
          <a:ext cx="8382000" cy="733425"/>
        </p:xfrm>
        <a:graphic>
          <a:graphicData uri="http://schemas.openxmlformats.org/drawingml/2006/table">
            <a:tbl>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476375">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1238250">
                  <a:extLst>
                    <a:ext uri="{9D8B030D-6E8A-4147-A177-3AD203B41FA5}">
                      <a16:colId xmlns:a16="http://schemas.microsoft.com/office/drawing/2014/main" val="20006"/>
                    </a:ext>
                  </a:extLst>
                </a:gridCol>
                <a:gridCol w="1000125">
                  <a:extLst>
                    <a:ext uri="{9D8B030D-6E8A-4147-A177-3AD203B41FA5}">
                      <a16:colId xmlns:a16="http://schemas.microsoft.com/office/drawing/2014/main" val="20007"/>
                    </a:ext>
                  </a:extLst>
                </a:gridCol>
              </a:tblGrid>
              <a:tr h="409575">
                <a:tc>
                  <a:txBody>
                    <a:bodyPr/>
                    <a:lstStyle/>
                    <a:p>
                      <a:pPr algn="ctr">
                        <a:buNone/>
                      </a:pPr>
                      <a:r>
                        <a:rPr sz="1575" b="1">
                          <a:solidFill>
                            <a:srgbClr val="FFFFFF"/>
                          </a:solidFill>
                          <a:latin typeface="Calibri"/>
                          <a:ea typeface="Calibri"/>
                          <a:cs typeface="Calibri"/>
                        </a:rPr>
                        <a:t>The</a:t>
                      </a:r>
                    </a:p>
                  </a:txBody>
                  <a:tcPr anchor="ctr">
                    <a:solidFill>
                      <a:srgbClr val="065A82"/>
                    </a:solidFill>
                  </a:tcPr>
                </a:tc>
                <a:tc>
                  <a:txBody>
                    <a:bodyPr/>
                    <a:lstStyle/>
                    <a:p>
                      <a:pPr algn="ctr">
                        <a:buNone/>
                      </a:pPr>
                      <a:r>
                        <a:rPr sz="1575" b="1">
                          <a:solidFill>
                            <a:srgbClr val="FFFFFF"/>
                          </a:solidFill>
                          <a:latin typeface="Calibri"/>
                          <a:ea typeface="Calibri"/>
                          <a:cs typeface="Calibri"/>
                        </a:rPr>
                        <a:t>Ġcat</a:t>
                      </a:r>
                    </a:p>
                  </a:txBody>
                  <a:tcPr anchor="ctr">
                    <a:solidFill>
                      <a:srgbClr val="065A82"/>
                    </a:solidFill>
                  </a:tcPr>
                </a:tc>
                <a:tc>
                  <a:txBody>
                    <a:bodyPr/>
                    <a:lstStyle/>
                    <a:p>
                      <a:pPr algn="ctr">
                        <a:buNone/>
                      </a:pPr>
                      <a:r>
                        <a:rPr sz="1575" b="1">
                          <a:solidFill>
                            <a:srgbClr val="FFFFFF"/>
                          </a:solidFill>
                          <a:latin typeface="Calibri"/>
                          <a:ea typeface="Calibri"/>
                          <a:cs typeface="Calibri"/>
                        </a:rPr>
                        <a:t>Ġslept</a:t>
                      </a:r>
                    </a:p>
                  </a:txBody>
                  <a:tcPr anchor="ctr">
                    <a:solidFill>
                      <a:srgbClr val="065A82"/>
                    </a:solidFill>
                  </a:tcPr>
                </a:tc>
                <a:tc>
                  <a:txBody>
                    <a:bodyPr/>
                    <a:lstStyle/>
                    <a:p>
                      <a:pPr algn="ctr">
                        <a:buNone/>
                      </a:pPr>
                      <a:r>
                        <a:rPr sz="1575" b="1">
                          <a:solidFill>
                            <a:srgbClr val="FFFFFF"/>
                          </a:solidFill>
                          <a:latin typeface="Calibri"/>
                          <a:ea typeface="Calibri"/>
                          <a:cs typeface="Calibri"/>
                        </a:rPr>
                        <a:t>Ġbecause</a:t>
                      </a:r>
                    </a:p>
                  </a:txBody>
                  <a:tcPr anchor="ctr">
                    <a:solidFill>
                      <a:srgbClr val="065A82"/>
                    </a:solidFill>
                  </a:tcPr>
                </a:tc>
                <a:tc>
                  <a:txBody>
                    <a:bodyPr/>
                    <a:lstStyle/>
                    <a:p>
                      <a:pPr algn="ctr">
                        <a:buNone/>
                      </a:pPr>
                      <a:r>
                        <a:rPr sz="1575" b="1">
                          <a:solidFill>
                            <a:srgbClr val="FFFFFF"/>
                          </a:solidFill>
                          <a:latin typeface="Calibri"/>
                          <a:ea typeface="Calibri"/>
                          <a:cs typeface="Calibri"/>
                        </a:rPr>
                        <a:t>Ġit</a:t>
                      </a:r>
                    </a:p>
                  </a:txBody>
                  <a:tcPr anchor="ctr">
                    <a:solidFill>
                      <a:srgbClr val="065A82"/>
                    </a:solidFill>
                  </a:tcPr>
                </a:tc>
                <a:tc>
                  <a:txBody>
                    <a:bodyPr/>
                    <a:lstStyle/>
                    <a:p>
                      <a:pPr algn="ctr">
                        <a:buNone/>
                      </a:pPr>
                      <a:r>
                        <a:rPr sz="1575" b="1">
                          <a:solidFill>
                            <a:srgbClr val="FFFFFF"/>
                          </a:solidFill>
                          <a:latin typeface="Calibri"/>
                          <a:ea typeface="Calibri"/>
                          <a:cs typeface="Calibri"/>
                        </a:rPr>
                        <a:t>Ġwas</a:t>
                      </a:r>
                    </a:p>
                  </a:txBody>
                  <a:tcPr anchor="ctr">
                    <a:solidFill>
                      <a:srgbClr val="065A82"/>
                    </a:solidFill>
                  </a:tcPr>
                </a:tc>
                <a:tc>
                  <a:txBody>
                    <a:bodyPr/>
                    <a:lstStyle/>
                    <a:p>
                      <a:pPr algn="ctr">
                        <a:buNone/>
                      </a:pPr>
                      <a:r>
                        <a:rPr sz="1575" b="1">
                          <a:solidFill>
                            <a:srgbClr val="FFFFFF"/>
                          </a:solidFill>
                          <a:latin typeface="Calibri"/>
                          <a:ea typeface="Calibri"/>
                          <a:cs typeface="Calibri"/>
                        </a:rPr>
                        <a:t>Ġtired</a:t>
                      </a:r>
                    </a:p>
                  </a:txBody>
                  <a:tcPr anchor="ctr">
                    <a:solidFill>
                      <a:srgbClr val="065A82"/>
                    </a:solidFill>
                  </a:tcPr>
                </a:tc>
                <a:tc>
                  <a:txBody>
                    <a:bodyPr/>
                    <a:lstStyle/>
                    <a:p>
                      <a:pPr algn="ctr">
                        <a:buNone/>
                      </a:pPr>
                      <a:r>
                        <a:rPr sz="1575" b="1">
                          <a:solidFill>
                            <a:srgbClr val="FFFFFF"/>
                          </a:solidFill>
                          <a:latin typeface="Calibri"/>
                          <a:ea typeface="Calibri"/>
                          <a:cs typeface="Calibri"/>
                        </a:rPr>
                        <a:t>.</a:t>
                      </a:r>
                    </a:p>
                  </a:txBody>
                  <a:tcPr anchor="ctr">
                    <a:solidFill>
                      <a:srgbClr val="F59E0B"/>
                    </a:solidFill>
                  </a:tcPr>
                </a:tc>
                <a:extLst>
                  <a:ext uri="{0D108BD9-81ED-4DB2-BD59-A6C34878D82A}">
                    <a16:rowId xmlns:a16="http://schemas.microsoft.com/office/drawing/2014/main" val="10000"/>
                  </a:ext>
                </a:extLst>
              </a:tr>
              <a:tr h="323850">
                <a:tc>
                  <a:txBody>
                    <a:bodyPr/>
                    <a:lstStyle/>
                    <a:p>
                      <a:pPr algn="ctr">
                        <a:buNone/>
                      </a:pPr>
                      <a:r>
                        <a:rPr sz="1425" b="0">
                          <a:solidFill>
                            <a:srgbClr val="1E293B"/>
                          </a:solidFill>
                          <a:latin typeface="Calibri"/>
                          <a:ea typeface="Calibri"/>
                          <a:cs typeface="Calibri"/>
                        </a:rPr>
                        <a:t>785</a:t>
                      </a:r>
                    </a:p>
                  </a:txBody>
                  <a:tcPr anchor="ctr">
                    <a:solidFill>
                      <a:srgbClr val="EAF1F6"/>
                    </a:solidFill>
                  </a:tcPr>
                </a:tc>
                <a:tc>
                  <a:txBody>
                    <a:bodyPr/>
                    <a:lstStyle/>
                    <a:p>
                      <a:pPr algn="ctr">
                        <a:buNone/>
                      </a:pPr>
                      <a:r>
                        <a:rPr sz="1425" b="0">
                          <a:solidFill>
                            <a:srgbClr val="1E293B"/>
                          </a:solidFill>
                          <a:latin typeface="Calibri"/>
                          <a:ea typeface="Calibri"/>
                          <a:cs typeface="Calibri"/>
                        </a:rPr>
                        <a:t>8251</a:t>
                      </a:r>
                    </a:p>
                  </a:txBody>
                  <a:tcPr anchor="ctr">
                    <a:solidFill>
                      <a:srgbClr val="EAF1F6"/>
                    </a:solidFill>
                  </a:tcPr>
                </a:tc>
                <a:tc>
                  <a:txBody>
                    <a:bodyPr/>
                    <a:lstStyle/>
                    <a:p>
                      <a:pPr algn="ctr">
                        <a:buNone/>
                      </a:pPr>
                      <a:r>
                        <a:rPr sz="1425" b="0">
                          <a:solidFill>
                            <a:srgbClr val="1E293B"/>
                          </a:solidFill>
                          <a:latin typeface="Calibri"/>
                          <a:ea typeface="Calibri"/>
                          <a:cs typeface="Calibri"/>
                        </a:rPr>
                        <a:t>45398</a:t>
                      </a:r>
                    </a:p>
                  </a:txBody>
                  <a:tcPr anchor="ctr">
                    <a:solidFill>
                      <a:srgbClr val="EAF1F6"/>
                    </a:solidFill>
                  </a:tcPr>
                </a:tc>
                <a:tc>
                  <a:txBody>
                    <a:bodyPr/>
                    <a:lstStyle/>
                    <a:p>
                      <a:pPr algn="ctr">
                        <a:buNone/>
                      </a:pPr>
                      <a:r>
                        <a:rPr sz="1425" b="0">
                          <a:solidFill>
                            <a:srgbClr val="1E293B"/>
                          </a:solidFill>
                          <a:latin typeface="Calibri"/>
                          <a:ea typeface="Calibri"/>
                          <a:cs typeface="Calibri"/>
                        </a:rPr>
                        <a:t>1576</a:t>
                      </a:r>
                    </a:p>
                  </a:txBody>
                  <a:tcPr anchor="ctr">
                    <a:solidFill>
                      <a:srgbClr val="EAF1F6"/>
                    </a:solidFill>
                  </a:tcPr>
                </a:tc>
                <a:tc>
                  <a:txBody>
                    <a:bodyPr/>
                    <a:lstStyle/>
                    <a:p>
                      <a:pPr algn="ctr">
                        <a:buNone/>
                      </a:pPr>
                      <a:r>
                        <a:rPr sz="1425" b="0">
                          <a:solidFill>
                            <a:srgbClr val="1E293B"/>
                          </a:solidFill>
                          <a:latin typeface="Calibri"/>
                          <a:ea typeface="Calibri"/>
                          <a:cs typeface="Calibri"/>
                        </a:rPr>
                        <a:t>432</a:t>
                      </a:r>
                    </a:p>
                  </a:txBody>
                  <a:tcPr anchor="ctr">
                    <a:solidFill>
                      <a:srgbClr val="EAF1F6"/>
                    </a:solidFill>
                  </a:tcPr>
                </a:tc>
                <a:tc>
                  <a:txBody>
                    <a:bodyPr/>
                    <a:lstStyle/>
                    <a:p>
                      <a:pPr algn="ctr">
                        <a:buNone/>
                      </a:pPr>
                      <a:r>
                        <a:rPr sz="1425" b="0">
                          <a:solidFill>
                            <a:srgbClr val="1E293B"/>
                          </a:solidFill>
                          <a:latin typeface="Calibri"/>
                          <a:ea typeface="Calibri"/>
                          <a:cs typeface="Calibri"/>
                        </a:rPr>
                        <a:t>572</a:t>
                      </a:r>
                    </a:p>
                  </a:txBody>
                  <a:tcPr anchor="ctr">
                    <a:solidFill>
                      <a:srgbClr val="EAF1F6"/>
                    </a:solidFill>
                  </a:tcPr>
                </a:tc>
                <a:tc>
                  <a:txBody>
                    <a:bodyPr/>
                    <a:lstStyle/>
                    <a:p>
                      <a:pPr algn="ctr">
                        <a:buNone/>
                      </a:pPr>
                      <a:r>
                        <a:rPr sz="1425" b="0">
                          <a:solidFill>
                            <a:srgbClr val="1E293B"/>
                          </a:solidFill>
                          <a:latin typeface="Calibri"/>
                          <a:ea typeface="Calibri"/>
                          <a:cs typeface="Calibri"/>
                        </a:rPr>
                        <a:t>19227</a:t>
                      </a:r>
                    </a:p>
                  </a:txBody>
                  <a:tcPr anchor="ctr">
                    <a:solidFill>
                      <a:srgbClr val="EAF1F6"/>
                    </a:solidFill>
                  </a:tcPr>
                </a:tc>
                <a:tc>
                  <a:txBody>
                    <a:bodyPr/>
                    <a:lstStyle/>
                    <a:p>
                      <a:pPr algn="ctr">
                        <a:buNone/>
                      </a:pPr>
                      <a:r>
                        <a:rPr sz="1425" b="0">
                          <a:solidFill>
                            <a:srgbClr val="1E293B"/>
                          </a:solidFill>
                          <a:latin typeface="Calibri"/>
                          <a:ea typeface="Calibri"/>
                          <a:cs typeface="Calibri"/>
                        </a:rPr>
                        <a:t>13</a:t>
                      </a:r>
                    </a:p>
                  </a:txBody>
                  <a:tcPr anchor="ctr">
                    <a:solidFill>
                      <a:srgbClr val="EAF1F6"/>
                    </a:solidFill>
                  </a:tcPr>
                </a:tc>
                <a:extLst>
                  <a:ext uri="{0D108BD9-81ED-4DB2-BD59-A6C34878D82A}">
                    <a16:rowId xmlns:a16="http://schemas.microsoft.com/office/drawing/2014/main" val="10001"/>
                  </a:ext>
                </a:extLst>
              </a:tr>
            </a:tbl>
          </a:graphicData>
        </a:graphic>
      </p:graphicFrame>
      <p:sp>
        <p:nvSpPr>
          <p:cNvPr id="8" name="Ġ marks a space in this tokenizer display. The ful">
            <a:extLst>
              <a:ext uri="{FF2B5EF4-FFF2-40B4-BE49-F238E27FC236}">
                <a16:creationId xmlns:a16="http://schemas.microsoft.com/office/drawing/2014/main" id="{874154A8-02A6-4835-A53B-8B9AFB89D48D}"/>
              </a:ext>
            </a:extLst>
          </p:cNvPr>
          <p:cNvSpPr>
            <a:spLocks noGrp="1"/>
          </p:cNvSpPr>
          <p:nvPr/>
        </p:nvSpPr>
        <p:spPr>
          <a:xfrm>
            <a:off x="381000" y="2628900"/>
            <a:ext cx="8382000" cy="228600"/>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Ġ marks a space in this tokenizer display. The full stop is its own token.</a:t>
            </a:r>
          </a:p>
        </p:txBody>
      </p:sp>
      <p:sp>
        <p:nvSpPr>
          <p:cNvPr id="9" name="A word can split too:  tokenization = token + izat">
            <a:extLst>
              <a:ext uri="{FF2B5EF4-FFF2-40B4-BE49-F238E27FC236}">
                <a16:creationId xmlns:a16="http://schemas.microsoft.com/office/drawing/2014/main" id="{50AA5F27-4087-43F1-B72D-45BADCE66F18}"/>
              </a:ext>
            </a:extLst>
          </p:cNvPr>
          <p:cNvSpPr>
            <a:spLocks noGrp="1"/>
          </p:cNvSpPr>
          <p:nvPr/>
        </p:nvSpPr>
        <p:spPr>
          <a:xfrm>
            <a:off x="381000" y="2952750"/>
            <a:ext cx="8382000" cy="285750"/>
          </a:xfrm>
          <a:prstGeom prst="rect">
            <a:avLst/>
          </a:prstGeom>
          <a:noFill/>
          <a:ln w="0">
            <a:noFill/>
          </a:ln>
        </p:spPr>
        <p:txBody>
          <a:bodyPr lIns="0" tIns="0" rIns="0" bIns="0">
            <a:noAutofit/>
          </a:bodyPr>
          <a:lstStyle/>
          <a:p>
            <a:pPr>
              <a:buNone/>
              <a:defRPr sz="1650" b="1">
                <a:solidFill>
                  <a:srgbClr val="0D2137"/>
                </a:solidFill>
                <a:latin typeface="Calibri"/>
                <a:ea typeface="Calibri"/>
                <a:cs typeface="Calibri"/>
              </a:defRPr>
            </a:pPr>
            <a:r>
              <a:rPr sz="1650" b="1">
                <a:solidFill>
                  <a:srgbClr val="0D2137"/>
                </a:solidFill>
                <a:latin typeface="Calibri"/>
                <a:ea typeface="Calibri"/>
                <a:cs typeface="Calibri"/>
              </a:rPr>
              <a:t>A word can split too:  tokenization = token + ization</a:t>
            </a:r>
          </a:p>
        </p:txBody>
      </p:sp>
      <p:sp>
        <p:nvSpPr>
          <p:cNvPr id="10" name="Special tokens mark chat boundaries">
            <a:extLst>
              <a:ext uri="{FF2B5EF4-FFF2-40B4-BE49-F238E27FC236}">
                <a16:creationId xmlns:a16="http://schemas.microsoft.com/office/drawing/2014/main" id="{EAD4C09E-A6F6-488F-B7FF-1CF2B51504F9}"/>
              </a:ext>
            </a:extLst>
          </p:cNvPr>
          <p:cNvSpPr>
            <a:spLocks noGrp="1"/>
          </p:cNvSpPr>
          <p:nvPr/>
        </p:nvSpPr>
        <p:spPr>
          <a:xfrm>
            <a:off x="381000" y="3419475"/>
            <a:ext cx="8382000" cy="285750"/>
          </a:xfrm>
          <a:prstGeom prst="rect">
            <a:avLst/>
          </a:prstGeom>
          <a:noFill/>
          <a:ln w="0">
            <a:noFill/>
          </a:ln>
        </p:spPr>
        <p:txBody>
          <a:bodyPr lIns="0" tIns="0" rIns="0" bIns="0">
            <a:noAutofit/>
          </a:bodyPr>
          <a:lstStyle/>
          <a:p>
            <a:pPr>
              <a:buNone/>
              <a:defRPr sz="1800" b="1">
                <a:solidFill>
                  <a:srgbClr val="0D2137"/>
                </a:solidFill>
                <a:latin typeface="Georgia"/>
                <a:ea typeface="Georgia"/>
                <a:cs typeface="Georgia"/>
              </a:defRPr>
            </a:pPr>
            <a:r>
              <a:rPr sz="1800" b="1">
                <a:solidFill>
                  <a:srgbClr val="0D2137"/>
                </a:solidFill>
                <a:latin typeface="Georgia"/>
                <a:ea typeface="Georgia"/>
                <a:cs typeface="Georgia"/>
              </a:rPr>
              <a:t>Special tokens mark chat boundaries</a:t>
            </a:r>
          </a:p>
        </p:txBody>
      </p:sp>
      <p:sp>
        <p:nvSpPr>
          <p:cNvPr id="11" name="&lt;|im_start|&gt;user&#10;Hello&lt;|im_end|&gt;&#10;&lt;|im_start|&gt;assis">
            <a:extLst>
              <a:ext uri="{FF2B5EF4-FFF2-40B4-BE49-F238E27FC236}">
                <a16:creationId xmlns:a16="http://schemas.microsoft.com/office/drawing/2014/main" id="{9C79C30B-0EF1-43B9-A0B5-A657A65966FD}"/>
              </a:ext>
            </a:extLst>
          </p:cNvPr>
          <p:cNvSpPr>
            <a:spLocks noGrp="1"/>
          </p:cNvSpPr>
          <p:nvPr/>
        </p:nvSpPr>
        <p:spPr>
          <a:xfrm>
            <a:off x="381000" y="3838575"/>
            <a:ext cx="4476750" cy="828675"/>
          </a:xfrm>
          <a:prstGeom prst="rect">
            <a:avLst/>
          </a:prstGeom>
          <a:noFill/>
          <a:ln w="0">
            <a:noFill/>
          </a:ln>
        </p:spPr>
        <p:txBody>
          <a:bodyPr lIns="0" tIns="0" rIns="0" bIns="0">
            <a:noAutofit/>
          </a:bodyPr>
          <a:lstStyle/>
          <a:p>
            <a:pPr>
              <a:buNone/>
              <a:defRPr sz="1725" b="1">
                <a:solidFill>
                  <a:srgbClr val="065A82"/>
                </a:solidFill>
                <a:latin typeface="Calibri"/>
                <a:ea typeface="Calibri"/>
                <a:cs typeface="Calibri"/>
              </a:defRPr>
            </a:pPr>
            <a:r>
              <a:rPr sz="1725" b="1">
                <a:solidFill>
                  <a:srgbClr val="065A82"/>
                </a:solidFill>
                <a:latin typeface="Calibri"/>
                <a:ea typeface="Calibri"/>
                <a:cs typeface="Calibri"/>
              </a:rPr>
              <a:t>&lt;|im_start|&gt;user</a:t>
            </a:r>
          </a:p>
          <a:p>
            <a:pPr>
              <a:buNone/>
              <a:defRPr sz="1725" b="1">
                <a:solidFill>
                  <a:srgbClr val="065A82"/>
                </a:solidFill>
                <a:latin typeface="Calibri"/>
                <a:ea typeface="Calibri"/>
                <a:cs typeface="Calibri"/>
              </a:defRPr>
            </a:pPr>
            <a:r>
              <a:rPr sz="1725" b="1">
                <a:solidFill>
                  <a:srgbClr val="065A82"/>
                </a:solidFill>
                <a:latin typeface="Calibri"/>
                <a:ea typeface="Calibri"/>
                <a:cs typeface="Calibri"/>
              </a:rPr>
              <a:t>Hello&lt;|im_end|&gt;</a:t>
            </a:r>
          </a:p>
          <a:p>
            <a:pPr>
              <a:buNone/>
              <a:defRPr sz="1725" b="1">
                <a:solidFill>
                  <a:srgbClr val="065A82"/>
                </a:solidFill>
                <a:latin typeface="Calibri"/>
                <a:ea typeface="Calibri"/>
                <a:cs typeface="Calibri"/>
              </a:defRPr>
            </a:pPr>
            <a:r>
              <a:rPr sz="1725" b="1">
                <a:solidFill>
                  <a:srgbClr val="065A82"/>
                </a:solidFill>
                <a:latin typeface="Calibri"/>
                <a:ea typeface="Calibri"/>
                <a:cs typeface="Calibri"/>
              </a:rPr>
              <a:t>&lt;|im_start|&gt;assistant</a:t>
            </a:r>
          </a:p>
        </p:txBody>
      </p:sp>
      <p:sp>
        <p:nvSpPr>
          <p:cNvPr id="12" name="&lt;|im_start|&gt;   ID 151644: starts a message&#10;&lt;|im_en">
            <a:extLst>
              <a:ext uri="{FF2B5EF4-FFF2-40B4-BE49-F238E27FC236}">
                <a16:creationId xmlns:a16="http://schemas.microsoft.com/office/drawing/2014/main" id="{422E2B35-0193-43E6-BAC2-CF13D08EE890}"/>
              </a:ext>
            </a:extLst>
          </p:cNvPr>
          <p:cNvSpPr>
            <a:spLocks noGrp="1"/>
          </p:cNvSpPr>
          <p:nvPr/>
        </p:nvSpPr>
        <p:spPr>
          <a:xfrm>
            <a:off x="4857750" y="3838575"/>
            <a:ext cx="3905250" cy="571500"/>
          </a:xfrm>
          <a:prstGeom prst="rect">
            <a:avLst/>
          </a:prstGeom>
          <a:noFill/>
          <a:ln w="0">
            <a:noFill/>
          </a:ln>
        </p:spPr>
        <p:txBody>
          <a:bodyPr lIns="0" tIns="0" rIns="0" bIns="0">
            <a:noAutofit/>
          </a:bodyPr>
          <a:lstStyle/>
          <a:p>
            <a:pPr>
              <a:buNone/>
              <a:defRPr sz="1425" b="0">
                <a:solidFill>
                  <a:srgbClr val="1E293B"/>
                </a:solidFill>
                <a:latin typeface="Calibri"/>
                <a:ea typeface="Calibri"/>
                <a:cs typeface="Calibri"/>
              </a:defRPr>
            </a:pPr>
            <a:r>
              <a:rPr sz="1425" b="0">
                <a:solidFill>
                  <a:srgbClr val="1E293B"/>
                </a:solidFill>
                <a:latin typeface="Calibri"/>
                <a:ea typeface="Calibri"/>
                <a:cs typeface="Calibri"/>
              </a:rPr>
              <a:t>&lt;|im_start|&gt;   ID 151644: starts a message</a:t>
            </a:r>
          </a:p>
          <a:p>
            <a:pPr>
              <a:buNone/>
              <a:defRPr sz="1425" b="0">
                <a:solidFill>
                  <a:srgbClr val="1E293B"/>
                </a:solidFill>
                <a:latin typeface="Calibri"/>
                <a:ea typeface="Calibri"/>
                <a:cs typeface="Calibri"/>
              </a:defRPr>
            </a:pPr>
            <a:r>
              <a:rPr sz="1425" b="0">
                <a:solidFill>
                  <a:srgbClr val="1E293B"/>
                </a:solidFill>
                <a:latin typeface="Calibri"/>
                <a:ea typeface="Calibri"/>
                <a:cs typeface="Calibri"/>
              </a:rPr>
              <a:t>&lt;|im_end|&gt;    ID 151645: ends a message</a:t>
            </a:r>
          </a:p>
        </p:txBody>
      </p:sp>
      <p:sp>
        <p:nvSpPr>
          <p:cNvPr id="13" name="user and assistant are ordinary role text.">
            <a:extLst>
              <a:ext uri="{FF2B5EF4-FFF2-40B4-BE49-F238E27FC236}">
                <a16:creationId xmlns:a16="http://schemas.microsoft.com/office/drawing/2014/main" id="{3EAFBB31-93B5-400C-9D0D-14C3D72F9DC5}"/>
              </a:ext>
            </a:extLst>
          </p:cNvPr>
          <p:cNvSpPr>
            <a:spLocks noGrp="1"/>
          </p:cNvSpPr>
          <p:nvPr/>
        </p:nvSpPr>
        <p:spPr>
          <a:xfrm>
            <a:off x="4857750" y="4467225"/>
            <a:ext cx="3905250" cy="228600"/>
          </a:xfrm>
          <a:prstGeom prst="rect">
            <a:avLst/>
          </a:prstGeom>
          <a:noFill/>
          <a:ln w="0">
            <a:noFill/>
          </a:ln>
        </p:spPr>
        <p:txBody>
          <a:bodyPr lIns="0" tIns="0" rIns="0" bIns="0">
            <a:noAutofit/>
          </a:bodyPr>
          <a:lstStyle/>
          <a:p>
            <a:pPr>
              <a:buNone/>
              <a:defRPr sz="1350" b="0">
                <a:solidFill>
                  <a:srgbClr val="64748B"/>
                </a:solidFill>
                <a:latin typeface="Calibri"/>
                <a:ea typeface="Calibri"/>
                <a:cs typeface="Calibri"/>
              </a:defRPr>
            </a:pPr>
            <a:r>
              <a:rPr sz="1350" b="0">
                <a:solidFill>
                  <a:srgbClr val="64748B"/>
                </a:solidFill>
                <a:latin typeface="Calibri"/>
                <a:ea typeface="Calibri"/>
                <a:cs typeface="Calibri"/>
              </a:rPr>
              <a:t>user and assistant are ordinary role text.</a:t>
            </a:r>
          </a:p>
        </p:txBody>
      </p:sp>
      <p:sp>
        <p:nvSpPr>
          <p:cNvPr id="14" name="Qwen vocab_size = 151,936 model slots. This is not">
            <a:extLst>
              <a:ext uri="{FF2B5EF4-FFF2-40B4-BE49-F238E27FC236}">
                <a16:creationId xmlns:a16="http://schemas.microsoft.com/office/drawing/2014/main" id="{59E81DA4-1205-429E-B594-D1BE072D535C}"/>
              </a:ext>
            </a:extLst>
          </p:cNvPr>
          <p:cNvSpPr>
            <a:spLocks noGrp="1"/>
          </p:cNvSpPr>
          <p:nvPr/>
        </p:nvSpPr>
        <p:spPr>
          <a:xfrm>
            <a:off x="381000" y="4867275"/>
            <a:ext cx="8382000" cy="219075"/>
          </a:xfrm>
          <a:prstGeom prst="rect">
            <a:avLst/>
          </a:prstGeom>
          <a:noFill/>
          <a:ln w="0">
            <a:noFill/>
          </a:ln>
        </p:spPr>
        <p:txBody>
          <a:bodyPr lIns="0" tIns="0" rIns="0" bIns="0">
            <a:noAutofit/>
          </a:bodyPr>
          <a:lstStyle/>
          <a:p>
            <a:pPr>
              <a:buNone/>
              <a:defRPr sz="1350" b="1">
                <a:solidFill>
                  <a:srgbClr val="A65F00"/>
                </a:solidFill>
                <a:latin typeface="Calibri"/>
                <a:ea typeface="Calibri"/>
                <a:cs typeface="Calibri"/>
              </a:defRPr>
            </a:pPr>
            <a:r>
              <a:rPr sz="1350" b="1">
                <a:solidFill>
                  <a:srgbClr val="A65F00"/>
                </a:solidFill>
                <a:latin typeface="Calibri"/>
                <a:ea typeface="Calibri"/>
                <a:cs typeface="Calibri"/>
              </a:rPr>
              <a:t>Qwen vocab_size = 151,936 model slots. This is not a count of language words.</a:t>
            </a:r>
          </a:p>
        </p:txBody>
      </p:sp>
      <p:sp>
        <p:nvSpPr>
          <p:cNvPr id="16" name="Foundation topic subtitle">
            <a:extLst>
              <a:ext uri="{FF2B5EF4-FFF2-40B4-BE49-F238E27FC236}">
                <a16:creationId xmlns:a16="http://schemas.microsoft.com/office/drawing/2014/main" id="{7BFE699C-120B-4ACF-9E3D-ECF66291C79C}"/>
              </a:ext>
            </a:extLst>
          </p:cNvPr>
          <p:cNvSpPr>
            <a:spLocks noGrp="1"/>
          </p:cNvSpPr>
          <p:nvPr/>
        </p:nvSpPr>
        <p:spPr>
          <a:xfrm>
            <a:off x="381000" y="485775"/>
            <a:ext cx="8229600" cy="276225"/>
          </a:xfrm>
          <a:prstGeom prst="rect">
            <a:avLst/>
          </a:prstGeom>
          <a:noFill/>
          <a:ln w="0">
            <a:noFill/>
          </a:ln>
        </p:spPr>
        <p:txBody>
          <a:bodyPr lIns="0" tIns="0" rIns="0" bIns="0">
            <a:noAutofit/>
          </a:bodyPr>
          <a:lstStyle/>
          <a:p>
            <a:pPr>
              <a:buNone/>
              <a:defRPr sz="1575" b="0">
                <a:solidFill>
                  <a:srgbClr val="F59E0B"/>
                </a:solidFill>
                <a:latin typeface="Calibri"/>
                <a:ea typeface="Calibri"/>
                <a:cs typeface="Calibri"/>
              </a:defRPr>
            </a:pPr>
            <a:r>
              <a:rPr sz="1575" b="0">
                <a:solidFill>
                  <a:srgbClr val="F59E0B"/>
                </a:solidFill>
                <a:latin typeface="Calibri"/>
                <a:ea typeface="Calibri"/>
                <a:cs typeface="Calibri"/>
              </a:rPr>
              <a:t>Tokens and special tokens</a:t>
            </a:r>
          </a:p>
        </p:txBody>
      </p:sp>
    </p:spTree>
    <p:extLst>
      <p:ext uri="{BB962C8B-B14F-4D97-AF65-F5344CB8AC3E}">
        <p14:creationId xmlns:p14="http://schemas.microsoft.com/office/powerpoint/2010/main" val="2061924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Token embeddings and hidden width">
            <a:extLst>
              <a:ext uri="{FF2B5EF4-FFF2-40B4-BE49-F238E27FC236}">
                <a16:creationId xmlns:a16="http://schemas.microsoft.com/office/drawing/2014/main" id="{87665511-5297-45A2-8954-CBDF2C5BC8A8}"/>
              </a:ext>
            </a:extLst>
          </p:cNvPr>
          <p:cNvSpPr>
            <a:spLocks noGrp="1"/>
          </p:cNvSpPr>
          <p:nvPr/>
        </p:nvSpPr>
        <p:spPr>
          <a:xfrm>
            <a:off x="381000" y="485775"/>
            <a:ext cx="8229600" cy="276225"/>
          </a:xfrm>
          <a:prstGeom prst="rect">
            <a:avLst/>
          </a:prstGeom>
          <a:noFill/>
          <a:ln w="0">
            <a:noFill/>
          </a:ln>
        </p:spPr>
        <p:txBody>
          <a:bodyPr lIns="0" tIns="0" rIns="0" bIns="0">
            <a:noAutofit/>
          </a:bodyPr>
          <a:lstStyle/>
          <a:p>
            <a:pPr>
              <a:buNone/>
              <a:defRPr sz="1575" b="0">
                <a:solidFill>
                  <a:srgbClr val="F59E0B"/>
                </a:solidFill>
                <a:latin typeface="Calibri"/>
                <a:ea typeface="Calibri"/>
                <a:cs typeface="Calibri"/>
              </a:defRPr>
            </a:pPr>
            <a:r>
              <a:rPr sz="1575" b="0">
                <a:solidFill>
                  <a:srgbClr val="F59E0B"/>
                </a:solidFill>
                <a:latin typeface="Calibri"/>
                <a:ea typeface="Calibri"/>
                <a:cs typeface="Calibri"/>
              </a:rPr>
              <a:t>Token embeddings and hidden width</a:t>
            </a:r>
          </a:p>
        </p:txBody>
      </p:sp>
      <p:sp>
        <p:nvSpPr>
          <p:cNvPr id="5" name="Each token ID selects a learned vector">
            <a:extLst>
              <a:ext uri="{FF2B5EF4-FFF2-40B4-BE49-F238E27FC236}">
                <a16:creationId xmlns:a16="http://schemas.microsoft.com/office/drawing/2014/main" id="{A58F098B-4B00-4949-B92B-87C859B6945D}"/>
              </a:ext>
            </a:extLst>
          </p:cNvPr>
          <p:cNvSpPr>
            <a:spLocks noGrp="1"/>
          </p:cNvSpPr>
          <p:nvPr/>
        </p:nvSpPr>
        <p:spPr>
          <a:xfrm>
            <a:off x="381000" y="1038225"/>
            <a:ext cx="8382000" cy="342900"/>
          </a:xfrm>
          <a:prstGeom prst="rect">
            <a:avLst/>
          </a:prstGeom>
          <a:noFill/>
          <a:ln w="0">
            <a:noFill/>
          </a:ln>
        </p:spPr>
        <p:txBody>
          <a:bodyPr lIns="0" tIns="0" rIns="0" bIns="0">
            <a:noAutofit/>
          </a:bodyPr>
          <a:lstStyle/>
          <a:p>
            <a:pPr>
              <a:buNone/>
              <a:defRPr sz="2025" b="1">
                <a:solidFill>
                  <a:srgbClr val="0D2137"/>
                </a:solidFill>
                <a:latin typeface="Georgia"/>
                <a:ea typeface="Georgia"/>
                <a:cs typeface="Georgia"/>
              </a:defRPr>
            </a:pPr>
            <a:r>
              <a:rPr sz="2025" b="1">
                <a:solidFill>
                  <a:srgbClr val="0D2137"/>
                </a:solidFill>
                <a:latin typeface="Georgia"/>
                <a:ea typeface="Georgia"/>
                <a:cs typeface="Georgia"/>
              </a:rPr>
              <a:t>Each token ID selects a learned vector</a:t>
            </a:r>
          </a:p>
        </p:txBody>
      </p:sp>
      <p:sp>
        <p:nvSpPr>
          <p:cNvPr id="6" name="“ cat”  ID 8251 selects row 8251">
            <a:extLst>
              <a:ext uri="{FF2B5EF4-FFF2-40B4-BE49-F238E27FC236}">
                <a16:creationId xmlns:a16="http://schemas.microsoft.com/office/drawing/2014/main" id="{5B31802B-CF48-46B6-8A53-C6B35B6EC155}"/>
              </a:ext>
            </a:extLst>
          </p:cNvPr>
          <p:cNvSpPr>
            <a:spLocks noGrp="1"/>
          </p:cNvSpPr>
          <p:nvPr/>
        </p:nvSpPr>
        <p:spPr>
          <a:xfrm>
            <a:off x="381000" y="1533525"/>
            <a:ext cx="4191000" cy="285750"/>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 cat”  ID 8251 selects row 8251</a:t>
            </a:r>
          </a:p>
        </p:txBody>
      </p:sp>
      <p:sp>
        <p:nvSpPr>
          <p:cNvPr id="7" name="Embedding table: 151,936 rows × 896 numbers">
            <a:extLst>
              <a:ext uri="{FF2B5EF4-FFF2-40B4-BE49-F238E27FC236}">
                <a16:creationId xmlns:a16="http://schemas.microsoft.com/office/drawing/2014/main" id="{8C823E9C-0C0E-443E-AB5F-643658D83418}"/>
              </a:ext>
            </a:extLst>
          </p:cNvPr>
          <p:cNvSpPr>
            <a:spLocks noGrp="1"/>
          </p:cNvSpPr>
          <p:nvPr/>
        </p:nvSpPr>
        <p:spPr>
          <a:xfrm>
            <a:off x="381000" y="1895475"/>
            <a:ext cx="4191000" cy="27622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Embedding table: 151,936 rows × 896 numbers</a:t>
            </a:r>
          </a:p>
        </p:txBody>
      </p:sp>
      <p:graphicFrame>
        <p:nvGraphicFramePr>
          <p:cNvPr id="26" name="Table 25"/>
          <p:cNvGraphicFramePr/>
          <p:nvPr/>
        </p:nvGraphicFramePr>
        <p:xfrm>
          <a:off x="381000" y="2257425"/>
          <a:ext cx="4095750" cy="1276352"/>
        </p:xfrm>
        <a:graphic>
          <a:graphicData uri="http://schemas.openxmlformats.org/drawingml/2006/table">
            <a:tbl>
              <a:tblPr/>
              <a:tblGrid>
                <a:gridCol w="104775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1095375">
                  <a:extLst>
                    <a:ext uri="{9D8B030D-6E8A-4147-A177-3AD203B41FA5}">
                      <a16:colId xmlns:a16="http://schemas.microsoft.com/office/drawing/2014/main" val="20004"/>
                    </a:ext>
                  </a:extLst>
                </a:gridCol>
              </a:tblGrid>
              <a:tr h="319088">
                <a:tc>
                  <a:txBody>
                    <a:bodyPr/>
                    <a:lstStyle/>
                    <a:p>
                      <a:pPr algn="ctr">
                        <a:buNone/>
                      </a:pPr>
                      <a:r>
                        <a:rPr sz="1350" b="1">
                          <a:solidFill>
                            <a:srgbClr val="FFFFFF"/>
                          </a:solidFill>
                          <a:latin typeface="Calibri"/>
                          <a:ea typeface="Calibri"/>
                          <a:cs typeface="Calibri"/>
                        </a:rPr>
                        <a:t>Token ID</a:t>
                      </a:r>
                    </a:p>
                  </a:txBody>
                  <a:tcPr anchor="ctr">
                    <a:solidFill>
                      <a:srgbClr val="065A82"/>
                    </a:solidFill>
                  </a:tcPr>
                </a:tc>
                <a:tc>
                  <a:txBody>
                    <a:bodyPr/>
                    <a:lstStyle/>
                    <a:p>
                      <a:pPr algn="ctr">
                        <a:buNone/>
                      </a:pPr>
                      <a:r>
                        <a:rPr sz="1350" b="1">
                          <a:solidFill>
                            <a:srgbClr val="FFFFFF"/>
                          </a:solidFill>
                          <a:latin typeface="Calibri"/>
                          <a:ea typeface="Calibri"/>
                          <a:cs typeface="Calibri"/>
                        </a:rPr>
                        <a:t>Dim 1</a:t>
                      </a:r>
                    </a:p>
                  </a:txBody>
                  <a:tcPr anchor="ctr">
                    <a:solidFill>
                      <a:srgbClr val="065A82"/>
                    </a:solidFill>
                  </a:tcPr>
                </a:tc>
                <a:tc>
                  <a:txBody>
                    <a:bodyPr/>
                    <a:lstStyle/>
                    <a:p>
                      <a:pPr algn="ctr">
                        <a:buNone/>
                      </a:pPr>
                      <a:r>
                        <a:rPr sz="1350" b="1">
                          <a:solidFill>
                            <a:srgbClr val="FFFFFF"/>
                          </a:solidFill>
                          <a:latin typeface="Calibri"/>
                          <a:ea typeface="Calibri"/>
                          <a:cs typeface="Calibri"/>
                        </a:rPr>
                        <a:t>Dim 2</a:t>
                      </a:r>
                    </a:p>
                  </a:txBody>
                  <a:tcPr anchor="ctr">
                    <a:solidFill>
                      <a:srgbClr val="065A82"/>
                    </a:solidFill>
                  </a:tcPr>
                </a:tc>
                <a:tc>
                  <a:txBody>
                    <a:bodyPr/>
                    <a:lstStyle/>
                    <a:p>
                      <a:pPr algn="ctr">
                        <a:buNone/>
                      </a:pPr>
                      <a:r>
                        <a:rPr sz="1350" b="1">
                          <a:solidFill>
                            <a:srgbClr val="FFFFFF"/>
                          </a:solidFill>
                          <a:latin typeface="Calibri"/>
                          <a:ea typeface="Calibri"/>
                          <a:cs typeface="Calibri"/>
                        </a:rPr>
                        <a:t>…</a:t>
                      </a:r>
                    </a:p>
                  </a:txBody>
                  <a:tcPr anchor="ctr">
                    <a:solidFill>
                      <a:srgbClr val="065A82"/>
                    </a:solidFill>
                  </a:tcPr>
                </a:tc>
                <a:tc>
                  <a:txBody>
                    <a:bodyPr/>
                    <a:lstStyle/>
                    <a:p>
                      <a:pPr algn="ctr">
                        <a:buNone/>
                      </a:pPr>
                      <a:r>
                        <a:rPr sz="1350" b="1">
                          <a:solidFill>
                            <a:srgbClr val="FFFFFF"/>
                          </a:solidFill>
                          <a:latin typeface="Calibri"/>
                          <a:ea typeface="Calibri"/>
                          <a:cs typeface="Calibri"/>
                        </a:rPr>
                        <a:t>Dim 896</a:t>
                      </a:r>
                    </a:p>
                  </a:txBody>
                  <a:tcPr anchor="ctr">
                    <a:solidFill>
                      <a:srgbClr val="065A82"/>
                    </a:solidFill>
                  </a:tcPr>
                </a:tc>
                <a:extLst>
                  <a:ext uri="{0D108BD9-81ED-4DB2-BD59-A6C34878D82A}">
                    <a16:rowId xmlns:a16="http://schemas.microsoft.com/office/drawing/2014/main" val="10000"/>
                  </a:ext>
                </a:extLst>
              </a:tr>
              <a:tr h="319088">
                <a:tc>
                  <a:txBody>
                    <a:bodyPr/>
                    <a:lstStyle/>
                    <a:p>
                      <a:pPr algn="ctr">
                        <a:buNone/>
                      </a:pPr>
                      <a:r>
                        <a:rPr sz="1350" b="0">
                          <a:solidFill>
                            <a:srgbClr val="1E293B"/>
                          </a:solidFill>
                          <a:latin typeface="Calibri"/>
                          <a:ea typeface="Calibri"/>
                          <a:cs typeface="Calibri"/>
                        </a:rPr>
                        <a:t>785</a:t>
                      </a:r>
                    </a:p>
                  </a:txBody>
                  <a:tcPr anchor="ctr">
                    <a:solidFill>
                      <a:srgbClr val="FFFFFF"/>
                    </a:solidFill>
                  </a:tcPr>
                </a:tc>
                <a:tc>
                  <a:txBody>
                    <a:bodyPr/>
                    <a:lstStyle/>
                    <a:p>
                      <a:pPr algn="ctr">
                        <a:buNone/>
                      </a:pPr>
                      <a:r>
                        <a:rPr sz="1350" b="0">
                          <a:solidFill>
                            <a:srgbClr val="1E293B"/>
                          </a:solidFill>
                          <a:latin typeface="Calibri"/>
                          <a:ea typeface="Calibri"/>
                          <a:cs typeface="Calibri"/>
                        </a:rPr>
                        <a:t>0.12</a:t>
                      </a:r>
                    </a:p>
                  </a:txBody>
                  <a:tcPr anchor="ctr">
                    <a:solidFill>
                      <a:srgbClr val="FFFFFF"/>
                    </a:solidFill>
                  </a:tcPr>
                </a:tc>
                <a:tc>
                  <a:txBody>
                    <a:bodyPr/>
                    <a:lstStyle/>
                    <a:p>
                      <a:pPr algn="ctr">
                        <a:buNone/>
                      </a:pPr>
                      <a:r>
                        <a:rPr sz="1350" b="0">
                          <a:solidFill>
                            <a:srgbClr val="1E293B"/>
                          </a:solidFill>
                          <a:latin typeface="Calibri"/>
                          <a:ea typeface="Calibri"/>
                          <a:cs typeface="Calibri"/>
                        </a:rPr>
                        <a:t>−0.08</a:t>
                      </a:r>
                    </a:p>
                  </a:txBody>
                  <a:tcPr anchor="ctr">
                    <a:solidFill>
                      <a:srgbClr val="FFFFFF"/>
                    </a:solidFill>
                  </a:tcPr>
                </a:tc>
                <a:tc>
                  <a:txBody>
                    <a:bodyPr/>
                    <a:lstStyle/>
                    <a:p>
                      <a:pPr algn="ctr">
                        <a:buNone/>
                      </a:pPr>
                      <a:r>
                        <a:rPr sz="1350" b="0">
                          <a:solidFill>
                            <a:srgbClr val="1E293B"/>
                          </a:solidFill>
                          <a:latin typeface="Calibri"/>
                          <a:ea typeface="Calibri"/>
                          <a:cs typeface="Calibri"/>
                        </a:rPr>
                        <a:t>…</a:t>
                      </a:r>
                    </a:p>
                  </a:txBody>
                  <a:tcPr anchor="ctr">
                    <a:solidFill>
                      <a:srgbClr val="FFFFFF"/>
                    </a:solidFill>
                  </a:tcPr>
                </a:tc>
                <a:tc>
                  <a:txBody>
                    <a:bodyPr/>
                    <a:lstStyle/>
                    <a:p>
                      <a:pPr algn="ctr">
                        <a:buNone/>
                      </a:pPr>
                      <a:r>
                        <a:rPr sz="1350" b="0">
                          <a:solidFill>
                            <a:srgbClr val="1E293B"/>
                          </a:solidFill>
                          <a:latin typeface="Calibri"/>
                          <a:ea typeface="Calibri"/>
                          <a:cs typeface="Calibri"/>
                        </a:rPr>
                        <a:t>0.31</a:t>
                      </a:r>
                    </a:p>
                  </a:txBody>
                  <a:tcPr anchor="ctr">
                    <a:solidFill>
                      <a:srgbClr val="FFFFFF"/>
                    </a:solidFill>
                  </a:tcPr>
                </a:tc>
                <a:extLst>
                  <a:ext uri="{0D108BD9-81ED-4DB2-BD59-A6C34878D82A}">
                    <a16:rowId xmlns:a16="http://schemas.microsoft.com/office/drawing/2014/main" val="10001"/>
                  </a:ext>
                </a:extLst>
              </a:tr>
              <a:tr h="319088">
                <a:tc>
                  <a:txBody>
                    <a:bodyPr/>
                    <a:lstStyle/>
                    <a:p>
                      <a:pPr algn="ctr">
                        <a:buNone/>
                      </a:pPr>
                      <a:r>
                        <a:rPr sz="1350" b="1">
                          <a:solidFill>
                            <a:srgbClr val="1E293B"/>
                          </a:solidFill>
                          <a:latin typeface="Calibri"/>
                          <a:ea typeface="Calibri"/>
                          <a:cs typeface="Calibri"/>
                        </a:rPr>
                        <a:t>8251</a:t>
                      </a:r>
                    </a:p>
                  </a:txBody>
                  <a:tcPr anchor="ctr">
                    <a:solidFill>
                      <a:srgbClr val="FFF0D4"/>
                    </a:solidFill>
                  </a:tcPr>
                </a:tc>
                <a:tc>
                  <a:txBody>
                    <a:bodyPr/>
                    <a:lstStyle/>
                    <a:p>
                      <a:pPr algn="ctr">
                        <a:buNone/>
                      </a:pPr>
                      <a:r>
                        <a:rPr sz="1350" b="1">
                          <a:solidFill>
                            <a:srgbClr val="1E293B"/>
                          </a:solidFill>
                          <a:latin typeface="Calibri"/>
                          <a:ea typeface="Calibri"/>
                          <a:cs typeface="Calibri"/>
                        </a:rPr>
                        <a:t>0.24</a:t>
                      </a:r>
                    </a:p>
                  </a:txBody>
                  <a:tcPr anchor="ctr">
                    <a:solidFill>
                      <a:srgbClr val="FFF0D4"/>
                    </a:solidFill>
                  </a:tcPr>
                </a:tc>
                <a:tc>
                  <a:txBody>
                    <a:bodyPr/>
                    <a:lstStyle/>
                    <a:p>
                      <a:pPr algn="ctr">
                        <a:buNone/>
                      </a:pPr>
                      <a:r>
                        <a:rPr sz="1350" b="1">
                          <a:solidFill>
                            <a:srgbClr val="1E293B"/>
                          </a:solidFill>
                          <a:latin typeface="Calibri"/>
                          <a:ea typeface="Calibri"/>
                          <a:cs typeface="Calibri"/>
                        </a:rPr>
                        <a:t>0.71</a:t>
                      </a:r>
                    </a:p>
                  </a:txBody>
                  <a:tcPr anchor="ctr">
                    <a:solidFill>
                      <a:srgbClr val="FFF0D4"/>
                    </a:solidFill>
                  </a:tcPr>
                </a:tc>
                <a:tc>
                  <a:txBody>
                    <a:bodyPr/>
                    <a:lstStyle/>
                    <a:p>
                      <a:pPr algn="ctr">
                        <a:buNone/>
                      </a:pPr>
                      <a:r>
                        <a:rPr sz="1350" b="1">
                          <a:solidFill>
                            <a:srgbClr val="1E293B"/>
                          </a:solidFill>
                          <a:latin typeface="Calibri"/>
                          <a:ea typeface="Calibri"/>
                          <a:cs typeface="Calibri"/>
                        </a:rPr>
                        <a:t>…</a:t>
                      </a:r>
                    </a:p>
                  </a:txBody>
                  <a:tcPr anchor="ctr">
                    <a:solidFill>
                      <a:srgbClr val="FFF0D4"/>
                    </a:solidFill>
                  </a:tcPr>
                </a:tc>
                <a:tc>
                  <a:txBody>
                    <a:bodyPr/>
                    <a:lstStyle/>
                    <a:p>
                      <a:pPr algn="ctr">
                        <a:buNone/>
                      </a:pPr>
                      <a:r>
                        <a:rPr sz="1350" b="1">
                          <a:solidFill>
                            <a:srgbClr val="1E293B"/>
                          </a:solidFill>
                          <a:latin typeface="Calibri"/>
                          <a:ea typeface="Calibri"/>
                          <a:cs typeface="Calibri"/>
                        </a:rPr>
                        <a:t>−0.19</a:t>
                      </a:r>
                    </a:p>
                  </a:txBody>
                  <a:tcPr anchor="ctr">
                    <a:solidFill>
                      <a:srgbClr val="FFF0D4"/>
                    </a:solidFill>
                  </a:tcPr>
                </a:tc>
                <a:extLst>
                  <a:ext uri="{0D108BD9-81ED-4DB2-BD59-A6C34878D82A}">
                    <a16:rowId xmlns:a16="http://schemas.microsoft.com/office/drawing/2014/main" val="10002"/>
                  </a:ext>
                </a:extLst>
              </a:tr>
              <a:tr h="319088">
                <a:tc>
                  <a:txBody>
                    <a:bodyPr/>
                    <a:lstStyle/>
                    <a:p>
                      <a:pPr algn="ctr">
                        <a:buNone/>
                      </a:pPr>
                      <a:r>
                        <a:rPr sz="1350" b="0">
                          <a:solidFill>
                            <a:srgbClr val="1E293B"/>
                          </a:solidFill>
                          <a:latin typeface="Calibri"/>
                          <a:ea typeface="Calibri"/>
                          <a:cs typeface="Calibri"/>
                        </a:rPr>
                        <a:t>45398</a:t>
                      </a:r>
                    </a:p>
                  </a:txBody>
                  <a:tcPr anchor="ctr">
                    <a:solidFill>
                      <a:srgbClr val="FFFFFF"/>
                    </a:solidFill>
                  </a:tcPr>
                </a:tc>
                <a:tc>
                  <a:txBody>
                    <a:bodyPr/>
                    <a:lstStyle/>
                    <a:p>
                      <a:pPr algn="ctr">
                        <a:buNone/>
                      </a:pPr>
                      <a:r>
                        <a:rPr sz="1350" b="0">
                          <a:solidFill>
                            <a:srgbClr val="1E293B"/>
                          </a:solidFill>
                          <a:latin typeface="Calibri"/>
                          <a:ea typeface="Calibri"/>
                          <a:cs typeface="Calibri"/>
                        </a:rPr>
                        <a:t>−0.43</a:t>
                      </a:r>
                    </a:p>
                  </a:txBody>
                  <a:tcPr anchor="ctr">
                    <a:solidFill>
                      <a:srgbClr val="FFFFFF"/>
                    </a:solidFill>
                  </a:tcPr>
                </a:tc>
                <a:tc>
                  <a:txBody>
                    <a:bodyPr/>
                    <a:lstStyle/>
                    <a:p>
                      <a:pPr algn="ctr">
                        <a:buNone/>
                      </a:pPr>
                      <a:r>
                        <a:rPr sz="1350" b="0">
                          <a:solidFill>
                            <a:srgbClr val="1E293B"/>
                          </a:solidFill>
                          <a:latin typeface="Calibri"/>
                          <a:ea typeface="Calibri"/>
                          <a:cs typeface="Calibri"/>
                        </a:rPr>
                        <a:t>0.16</a:t>
                      </a:r>
                    </a:p>
                  </a:txBody>
                  <a:tcPr anchor="ctr">
                    <a:solidFill>
                      <a:srgbClr val="FFFFFF"/>
                    </a:solidFill>
                  </a:tcPr>
                </a:tc>
                <a:tc>
                  <a:txBody>
                    <a:bodyPr/>
                    <a:lstStyle/>
                    <a:p>
                      <a:pPr algn="ctr">
                        <a:buNone/>
                      </a:pPr>
                      <a:r>
                        <a:rPr sz="1350" b="0">
                          <a:solidFill>
                            <a:srgbClr val="1E293B"/>
                          </a:solidFill>
                          <a:latin typeface="Calibri"/>
                          <a:ea typeface="Calibri"/>
                          <a:cs typeface="Calibri"/>
                        </a:rPr>
                        <a:t>…</a:t>
                      </a:r>
                    </a:p>
                  </a:txBody>
                  <a:tcPr anchor="ctr">
                    <a:solidFill>
                      <a:srgbClr val="FFFFFF"/>
                    </a:solidFill>
                  </a:tcPr>
                </a:tc>
                <a:tc>
                  <a:txBody>
                    <a:bodyPr/>
                    <a:lstStyle/>
                    <a:p>
                      <a:pPr algn="ctr">
                        <a:buNone/>
                      </a:pPr>
                      <a:r>
                        <a:rPr sz="1350" b="0">
                          <a:solidFill>
                            <a:srgbClr val="1E293B"/>
                          </a:solidFill>
                          <a:latin typeface="Calibri"/>
                          <a:ea typeface="Calibri"/>
                          <a:cs typeface="Calibri"/>
                        </a:rPr>
                        <a:t>0.52</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Illustrative values, not extracted Qwen weights">
            <a:extLst>
              <a:ext uri="{FF2B5EF4-FFF2-40B4-BE49-F238E27FC236}">
                <a16:creationId xmlns:a16="http://schemas.microsoft.com/office/drawing/2014/main" id="{23384069-610C-4EDE-A4EC-4D3F16FE1B5B}"/>
              </a:ext>
            </a:extLst>
          </p:cNvPr>
          <p:cNvSpPr>
            <a:spLocks noGrp="1"/>
          </p:cNvSpPr>
          <p:nvPr/>
        </p:nvSpPr>
        <p:spPr>
          <a:xfrm>
            <a:off x="381000" y="3619500"/>
            <a:ext cx="4238625" cy="228600"/>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a:solidFill>
                  <a:srgbClr val="64748B"/>
                </a:solidFill>
                <a:latin typeface="Calibri"/>
                <a:ea typeface="Calibri"/>
                <a:cs typeface="Calibri"/>
              </a:rPr>
              <a:t>Illustrative values, not extracted Qwen weights</a:t>
            </a:r>
          </a:p>
        </p:txBody>
      </p:sp>
      <p:sp>
        <p:nvSpPr>
          <p:cNvPr id="10" name="896 numbers per token">
            <a:extLst>
              <a:ext uri="{FF2B5EF4-FFF2-40B4-BE49-F238E27FC236}">
                <a16:creationId xmlns:a16="http://schemas.microsoft.com/office/drawing/2014/main" id="{F42AE88C-49AD-42F1-80D4-7FC9D8CE050B}"/>
              </a:ext>
            </a:extLst>
          </p:cNvPr>
          <p:cNvSpPr>
            <a:spLocks noGrp="1"/>
          </p:cNvSpPr>
          <p:nvPr/>
        </p:nvSpPr>
        <p:spPr>
          <a:xfrm>
            <a:off x="381000" y="4038600"/>
            <a:ext cx="4238625" cy="342900"/>
          </a:xfrm>
          <a:prstGeom prst="rect">
            <a:avLst/>
          </a:prstGeom>
          <a:noFill/>
          <a:ln w="0">
            <a:noFill/>
          </a:ln>
        </p:spPr>
        <p:txBody>
          <a:bodyPr lIns="0" tIns="0" rIns="0" bIns="0">
            <a:noAutofit/>
          </a:bodyPr>
          <a:lstStyle/>
          <a:p>
            <a:pPr>
              <a:buNone/>
              <a:defRPr sz="2175" b="1">
                <a:solidFill>
                  <a:srgbClr val="A65F00"/>
                </a:solidFill>
                <a:latin typeface="Georgia"/>
                <a:ea typeface="Georgia"/>
                <a:cs typeface="Georgia"/>
              </a:defRPr>
            </a:pPr>
            <a:r>
              <a:rPr sz="2175" b="1">
                <a:solidFill>
                  <a:srgbClr val="A65F00"/>
                </a:solidFill>
                <a:latin typeface="Georgia"/>
                <a:ea typeface="Georgia"/>
                <a:cs typeface="Georgia"/>
              </a:rPr>
              <a:t>896 numbers per token</a:t>
            </a:r>
          </a:p>
        </p:txBody>
      </p:sp>
      <p:sp>
        <p:nvSpPr>
          <p:cNvPr id="11" name="Qwen hidden_size = 896">
            <a:extLst>
              <a:ext uri="{FF2B5EF4-FFF2-40B4-BE49-F238E27FC236}">
                <a16:creationId xmlns:a16="http://schemas.microsoft.com/office/drawing/2014/main" id="{7EB8ACAA-969F-44BD-AD52-7BB75679614E}"/>
              </a:ext>
            </a:extLst>
          </p:cNvPr>
          <p:cNvSpPr>
            <a:spLocks noGrp="1"/>
          </p:cNvSpPr>
          <p:nvPr/>
        </p:nvSpPr>
        <p:spPr>
          <a:xfrm>
            <a:off x="381000" y="4438650"/>
            <a:ext cx="4238625" cy="257175"/>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Qwen hidden_size = 896</a:t>
            </a:r>
          </a:p>
        </p:txBody>
      </p:sp>
      <p:pic>
        <p:nvPicPr>
          <p:cNvPr id="30" name="Picture 29"/>
          <p:cNvPicPr>
            <a:picLocks noChangeAspect="1"/>
          </p:cNvPicPr>
          <p:nvPr/>
        </p:nvPicPr>
        <p:blipFill>
          <a:blip r:embed="rId3"/>
          <a:srcRect t="10526" b="10526"/>
          <a:stretch>
            <a:fillRect/>
          </a:stretch>
        </p:blipFill>
        <p:spPr>
          <a:xfrm>
            <a:off x="4953000" y="1428750"/>
            <a:ext cx="3619500" cy="2857500"/>
          </a:xfrm>
          <a:prstGeom prst="rect">
            <a:avLst/>
          </a:prstGeom>
        </p:spPr>
      </p:pic>
      <p:sp>
        <p:nvSpPr>
          <p:cNvPr id="13" name="Conceptual 3D view of a 896-dimensional space">
            <a:extLst>
              <a:ext uri="{FF2B5EF4-FFF2-40B4-BE49-F238E27FC236}">
                <a16:creationId xmlns:a16="http://schemas.microsoft.com/office/drawing/2014/main" id="{3522C62C-9284-486B-8C31-DC73FBA1CD13}"/>
              </a:ext>
            </a:extLst>
          </p:cNvPr>
          <p:cNvSpPr>
            <a:spLocks noGrp="1"/>
          </p:cNvSpPr>
          <p:nvPr/>
        </p:nvSpPr>
        <p:spPr>
          <a:xfrm>
            <a:off x="4772025" y="4333875"/>
            <a:ext cx="4000500" cy="219075"/>
          </a:xfrm>
          <a:prstGeom prst="rect">
            <a:avLst/>
          </a:prstGeom>
          <a:noFill/>
          <a:ln w="0">
            <a:noFill/>
          </a:ln>
        </p:spPr>
        <p:txBody>
          <a:bodyPr lIns="0" tIns="0" rIns="0" bIns="0">
            <a:noAutofit/>
          </a:bodyPr>
          <a:lstStyle/>
          <a:p>
            <a:pPr>
              <a:buNone/>
              <a:defRPr sz="1200" b="0">
                <a:solidFill>
                  <a:srgbClr val="64748B"/>
                </a:solidFill>
                <a:latin typeface="Calibri"/>
                <a:ea typeface="Calibri"/>
                <a:cs typeface="Calibri"/>
              </a:defRPr>
            </a:pPr>
            <a:r>
              <a:rPr sz="1200" b="0">
                <a:solidFill>
                  <a:srgbClr val="64748B"/>
                </a:solidFill>
                <a:latin typeface="Calibri"/>
                <a:ea typeface="Calibri"/>
                <a:cs typeface="Calibri"/>
              </a:rPr>
              <a:t>Conceptual 3D illustration</a:t>
            </a:r>
          </a:p>
        </p:txBody>
      </p:sp>
      <p:sp>
        <p:nvSpPr>
          <p:cNvPr id="17" name="Bank in different contexts">
            <a:extLst>
              <a:ext uri="{FF2B5EF4-FFF2-40B4-BE49-F238E27FC236}">
                <a16:creationId xmlns:a16="http://schemas.microsoft.com/office/drawing/2014/main" id="{889B6C97-0224-4409-BC92-15ABE9B71FC5}"/>
              </a:ext>
            </a:extLst>
          </p:cNvPr>
          <p:cNvSpPr>
            <a:spLocks noGrp="1"/>
          </p:cNvSpPr>
          <p:nvPr/>
        </p:nvSpPr>
        <p:spPr>
          <a:xfrm>
            <a:off x="4772025" y="4600575"/>
            <a:ext cx="4000500" cy="495300"/>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“river bank”</a:t>
            </a:r>
          </a:p>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“savings bank”</a:t>
            </a:r>
          </a:p>
        </p:txBody>
      </p:sp>
    </p:spTree>
    <p:extLst>
      <p:ext uri="{BB962C8B-B14F-4D97-AF65-F5344CB8AC3E}">
        <p14:creationId xmlns:p14="http://schemas.microsoft.com/office/powerpoint/2010/main" val="2061924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Position and context">
            <a:extLst>
              <a:ext uri="{FF2B5EF4-FFF2-40B4-BE49-F238E27FC236}">
                <a16:creationId xmlns:a16="http://schemas.microsoft.com/office/drawing/2014/main" id="{D6F07BBA-28A1-4C54-8E8E-1812C85E3923}"/>
              </a:ext>
            </a:extLst>
          </p:cNvPr>
          <p:cNvSpPr>
            <a:spLocks noGrp="1"/>
          </p:cNvSpPr>
          <p:nvPr/>
        </p:nvSpPr>
        <p:spPr>
          <a:xfrm>
            <a:off x="381000" y="485775"/>
            <a:ext cx="8229600" cy="276225"/>
          </a:xfrm>
          <a:prstGeom prst="rect">
            <a:avLst/>
          </a:prstGeom>
          <a:noFill/>
          <a:ln w="0">
            <a:noFill/>
          </a:ln>
        </p:spPr>
        <p:txBody>
          <a:bodyPr lIns="0" tIns="0" rIns="0" bIns="0">
            <a:noAutofit/>
          </a:bodyPr>
          <a:lstStyle/>
          <a:p>
            <a:pPr>
              <a:buNone/>
              <a:defRPr sz="1575" b="0">
                <a:solidFill>
                  <a:srgbClr val="F59E0B"/>
                </a:solidFill>
                <a:latin typeface="Calibri"/>
                <a:ea typeface="Calibri"/>
                <a:cs typeface="Calibri"/>
              </a:defRPr>
            </a:pPr>
            <a:r>
              <a:rPr sz="1575" b="0">
                <a:solidFill>
                  <a:srgbClr val="F59E0B"/>
                </a:solidFill>
                <a:latin typeface="Calibri"/>
                <a:ea typeface="Calibri"/>
                <a:cs typeface="Calibri"/>
              </a:rPr>
              <a:t>Position and context</a:t>
            </a:r>
          </a:p>
        </p:txBody>
      </p:sp>
      <p:sp>
        <p:nvSpPr>
          <p:cNvPr id="5" name="Adding position information to token embeddings">
            <a:extLst>
              <a:ext uri="{FF2B5EF4-FFF2-40B4-BE49-F238E27FC236}">
                <a16:creationId xmlns:a16="http://schemas.microsoft.com/office/drawing/2014/main" id="{9F3B0DDD-AF8B-4344-9558-69962CE2523B}"/>
              </a:ext>
            </a:extLst>
          </p:cNvPr>
          <p:cNvSpPr>
            <a:spLocks noGrp="1"/>
          </p:cNvSpPr>
          <p:nvPr/>
        </p:nvSpPr>
        <p:spPr>
          <a:xfrm>
            <a:off x="381000" y="1028700"/>
            <a:ext cx="8382000" cy="342900"/>
          </a:xfrm>
          <a:prstGeom prst="rect">
            <a:avLst/>
          </a:prstGeom>
          <a:noFill/>
          <a:ln w="0">
            <a:noFill/>
          </a:ln>
        </p:spPr>
        <p:txBody>
          <a:bodyPr lIns="0" tIns="0" rIns="0" bIns="0">
            <a:noAutofit/>
          </a:bodyPr>
          <a:lstStyle/>
          <a:p>
            <a:pPr>
              <a:buNone/>
              <a:defRPr sz="2025" b="1">
                <a:solidFill>
                  <a:srgbClr val="0D2137"/>
                </a:solidFill>
                <a:latin typeface="Georgia"/>
                <a:ea typeface="Georgia"/>
                <a:cs typeface="Georgia"/>
              </a:defRPr>
            </a:pPr>
            <a:r>
              <a:rPr sz="2025" b="1">
                <a:solidFill>
                  <a:srgbClr val="0D2137"/>
                </a:solidFill>
                <a:latin typeface="Georgia"/>
                <a:ea typeface="Georgia"/>
                <a:cs typeface="Georgia"/>
              </a:rPr>
              <a:t>Adding position information to token embeddings</a:t>
            </a:r>
          </a:p>
        </p:txBody>
      </p:sp>
      <p:sp>
        <p:nvSpPr>
          <p:cNvPr id="6" name="Additive position embeddings: illustrative 2-numbe">
            <a:extLst>
              <a:ext uri="{FF2B5EF4-FFF2-40B4-BE49-F238E27FC236}">
                <a16:creationId xmlns:a16="http://schemas.microsoft.com/office/drawing/2014/main" id="{394B0E3A-A209-4BF9-87BF-DD75BFDAE299}"/>
              </a:ext>
            </a:extLst>
          </p:cNvPr>
          <p:cNvSpPr>
            <a:spLocks noGrp="1"/>
          </p:cNvSpPr>
          <p:nvPr/>
        </p:nvSpPr>
        <p:spPr>
          <a:xfrm>
            <a:off x="381000" y="1457325"/>
            <a:ext cx="8382000" cy="247650"/>
          </a:xfrm>
          <a:prstGeom prst="rect">
            <a:avLst/>
          </a:prstGeom>
          <a:noFill/>
          <a:ln w="0">
            <a:noFill/>
          </a:ln>
        </p:spPr>
        <p:txBody>
          <a:bodyPr lIns="0" tIns="0" rIns="0" bIns="0">
            <a:noAutofit/>
          </a:bodyPr>
          <a:lstStyle/>
          <a:p>
            <a:pPr>
              <a:buNone/>
              <a:defRPr sz="1425" b="0">
                <a:solidFill>
                  <a:srgbClr val="64748B"/>
                </a:solidFill>
                <a:latin typeface="Calibri"/>
                <a:ea typeface="Calibri"/>
                <a:cs typeface="Calibri"/>
              </a:defRPr>
            </a:pPr>
            <a:r>
              <a:rPr sz="1425" b="0">
                <a:solidFill>
                  <a:srgbClr val="64748B"/>
                </a:solidFill>
                <a:latin typeface="Calibri"/>
                <a:ea typeface="Calibri"/>
                <a:cs typeface="Calibri"/>
              </a:rPr>
              <a:t>Additive position embeddings: illustrative 2-number vectors</a:t>
            </a:r>
          </a:p>
        </p:txBody>
      </p:sp>
      <p:graphicFrame>
        <p:nvGraphicFramePr>
          <p:cNvPr id="17" name="Table 16"/>
          <p:cNvGraphicFramePr/>
          <p:nvPr/>
        </p:nvGraphicFramePr>
        <p:xfrm>
          <a:off x="381000" y="1828800"/>
          <a:ext cx="8382000" cy="2177415"/>
        </p:xfrm>
        <a:graphic>
          <a:graphicData uri="http://schemas.openxmlformats.org/drawingml/2006/table">
            <a:tbl>
              <a:tblPr/>
              <a:tblGrid>
                <a:gridCol w="1428750">
                  <a:extLst>
                    <a:ext uri="{9D8B030D-6E8A-4147-A177-3AD203B41FA5}">
                      <a16:colId xmlns:a16="http://schemas.microsoft.com/office/drawing/2014/main" val="20000"/>
                    </a:ext>
                  </a:extLst>
                </a:gridCol>
                <a:gridCol w="1390650">
                  <a:extLst>
                    <a:ext uri="{9D8B030D-6E8A-4147-A177-3AD203B41FA5}">
                      <a16:colId xmlns:a16="http://schemas.microsoft.com/office/drawing/2014/main" val="20001"/>
                    </a:ext>
                  </a:extLst>
                </a:gridCol>
                <a:gridCol w="1390650">
                  <a:extLst>
                    <a:ext uri="{9D8B030D-6E8A-4147-A177-3AD203B41FA5}">
                      <a16:colId xmlns:a16="http://schemas.microsoft.com/office/drawing/2014/main" val="20002"/>
                    </a:ext>
                  </a:extLst>
                </a:gridCol>
                <a:gridCol w="1390650">
                  <a:extLst>
                    <a:ext uri="{9D8B030D-6E8A-4147-A177-3AD203B41FA5}">
                      <a16:colId xmlns:a16="http://schemas.microsoft.com/office/drawing/2014/main" val="20003"/>
                    </a:ext>
                  </a:extLst>
                </a:gridCol>
                <a:gridCol w="1390650">
                  <a:extLst>
                    <a:ext uri="{9D8B030D-6E8A-4147-A177-3AD203B41FA5}">
                      <a16:colId xmlns:a16="http://schemas.microsoft.com/office/drawing/2014/main" val="20004"/>
                    </a:ext>
                  </a:extLst>
                </a:gridCol>
                <a:gridCol w="1390650">
                  <a:extLst>
                    <a:ext uri="{9D8B030D-6E8A-4147-A177-3AD203B41FA5}">
                      <a16:colId xmlns:a16="http://schemas.microsoft.com/office/drawing/2014/main" val="20005"/>
                    </a:ext>
                  </a:extLst>
                </a:gridCol>
              </a:tblGrid>
              <a:tr h="542925">
                <a:tc>
                  <a:txBody>
                    <a:bodyPr/>
                    <a:lstStyle/>
                    <a:p>
                      <a:pPr algn="l">
                        <a:buNone/>
                      </a:pPr>
                      <a:r>
                        <a:rPr sz="1500" b="1">
                          <a:solidFill>
                            <a:srgbClr val="FFFFFF"/>
                          </a:solidFill>
                          <a:latin typeface="Calibri"/>
                          <a:ea typeface="Calibri"/>
                          <a:cs typeface="Calibri"/>
                        </a:rPr>
                        <a:t>Word /</a:t>
                      </a:r>
                    </a:p>
                    <a:p>
                      <a:pPr algn="l">
                        <a:buNone/>
                      </a:pPr>
                      <a:r>
                        <a:rPr sz="1500" b="1">
                          <a:solidFill>
                            <a:srgbClr val="FFFFFF"/>
                          </a:solidFill>
                          <a:latin typeface="Calibri"/>
                          <a:ea typeface="Calibri"/>
                          <a:cs typeface="Calibri"/>
                        </a:rPr>
                        <a:t>position</a:t>
                      </a:r>
                    </a:p>
                  </a:txBody>
                  <a:tcPr anchor="ctr">
                    <a:solidFill>
                      <a:srgbClr val="065A82"/>
                    </a:solidFill>
                  </a:tcPr>
                </a:tc>
                <a:tc>
                  <a:txBody>
                    <a:bodyPr/>
                    <a:lstStyle/>
                    <a:p>
                      <a:pPr algn="ctr">
                        <a:buNone/>
                      </a:pPr>
                      <a:r>
                        <a:rPr sz="1500" b="1">
                          <a:solidFill>
                            <a:srgbClr val="FFFFFF"/>
                          </a:solidFill>
                          <a:latin typeface="Calibri"/>
                          <a:ea typeface="Calibri"/>
                          <a:cs typeface="Calibri"/>
                        </a:rPr>
                        <a:t>The</a:t>
                      </a:r>
                    </a:p>
                    <a:p>
                      <a:pPr algn="ctr">
                        <a:buNone/>
                      </a:pPr>
                      <a:r>
                        <a:rPr sz="1500" b="1">
                          <a:solidFill>
                            <a:srgbClr val="FFFFFF"/>
                          </a:solidFill>
                          <a:latin typeface="Calibri"/>
                          <a:ea typeface="Calibri"/>
                          <a:cs typeface="Calibri"/>
                        </a:rPr>
                        <a:t>position 0</a:t>
                      </a:r>
                    </a:p>
                  </a:txBody>
                  <a:tcPr anchor="ctr">
                    <a:solidFill>
                      <a:srgbClr val="065A82"/>
                    </a:solidFill>
                  </a:tcPr>
                </a:tc>
                <a:tc>
                  <a:txBody>
                    <a:bodyPr/>
                    <a:lstStyle/>
                    <a:p>
                      <a:pPr algn="ctr">
                        <a:buNone/>
                      </a:pPr>
                      <a:r>
                        <a:rPr sz="1500" b="1">
                          <a:solidFill>
                            <a:srgbClr val="FFFFFF"/>
                          </a:solidFill>
                          <a:latin typeface="Calibri"/>
                          <a:ea typeface="Calibri"/>
                          <a:cs typeface="Calibri"/>
                        </a:rPr>
                        <a:t>dog</a:t>
                      </a:r>
                    </a:p>
                    <a:p>
                      <a:pPr algn="ctr">
                        <a:buNone/>
                      </a:pPr>
                      <a:r>
                        <a:rPr sz="1500" b="1">
                          <a:solidFill>
                            <a:srgbClr val="FFFFFF"/>
                          </a:solidFill>
                          <a:latin typeface="Calibri"/>
                          <a:ea typeface="Calibri"/>
                          <a:cs typeface="Calibri"/>
                        </a:rPr>
                        <a:t>position 1</a:t>
                      </a:r>
                    </a:p>
                  </a:txBody>
                  <a:tcPr anchor="ctr">
                    <a:solidFill>
                      <a:srgbClr val="065A82"/>
                    </a:solidFill>
                  </a:tcPr>
                </a:tc>
                <a:tc>
                  <a:txBody>
                    <a:bodyPr/>
                    <a:lstStyle/>
                    <a:p>
                      <a:pPr algn="ctr">
                        <a:buNone/>
                      </a:pPr>
                      <a:r>
                        <a:rPr sz="1500" b="1">
                          <a:solidFill>
                            <a:srgbClr val="FFFFFF"/>
                          </a:solidFill>
                          <a:latin typeface="Calibri"/>
                          <a:ea typeface="Calibri"/>
                          <a:cs typeface="Calibri"/>
                        </a:rPr>
                        <a:t>chased</a:t>
                      </a:r>
                    </a:p>
                    <a:p>
                      <a:pPr algn="ctr">
                        <a:buNone/>
                      </a:pPr>
                      <a:r>
                        <a:rPr sz="1500" b="1">
                          <a:solidFill>
                            <a:srgbClr val="FFFFFF"/>
                          </a:solidFill>
                          <a:latin typeface="Calibri"/>
                          <a:ea typeface="Calibri"/>
                          <a:cs typeface="Calibri"/>
                        </a:rPr>
                        <a:t>position 2</a:t>
                      </a:r>
                    </a:p>
                  </a:txBody>
                  <a:tcPr anchor="ctr">
                    <a:solidFill>
                      <a:srgbClr val="065A82"/>
                    </a:solidFill>
                  </a:tcPr>
                </a:tc>
                <a:tc>
                  <a:txBody>
                    <a:bodyPr/>
                    <a:lstStyle/>
                    <a:p>
                      <a:pPr algn="ctr">
                        <a:buNone/>
                      </a:pPr>
                      <a:r>
                        <a:rPr sz="1500" b="1">
                          <a:solidFill>
                            <a:srgbClr val="FFFFFF"/>
                          </a:solidFill>
                          <a:latin typeface="Calibri"/>
                          <a:ea typeface="Calibri"/>
                          <a:cs typeface="Calibri"/>
                        </a:rPr>
                        <a:t>the</a:t>
                      </a:r>
                    </a:p>
                    <a:p>
                      <a:pPr algn="ctr">
                        <a:buNone/>
                      </a:pPr>
                      <a:r>
                        <a:rPr sz="1500" b="1">
                          <a:solidFill>
                            <a:srgbClr val="FFFFFF"/>
                          </a:solidFill>
                          <a:latin typeface="Calibri"/>
                          <a:ea typeface="Calibri"/>
                          <a:cs typeface="Calibri"/>
                        </a:rPr>
                        <a:t>position 3</a:t>
                      </a:r>
                    </a:p>
                  </a:txBody>
                  <a:tcPr anchor="ctr">
                    <a:solidFill>
                      <a:srgbClr val="065A82"/>
                    </a:solidFill>
                  </a:tcPr>
                </a:tc>
                <a:tc>
                  <a:txBody>
                    <a:bodyPr/>
                    <a:lstStyle/>
                    <a:p>
                      <a:pPr algn="ctr">
                        <a:buNone/>
                      </a:pPr>
                      <a:r>
                        <a:rPr sz="1500" b="1">
                          <a:solidFill>
                            <a:srgbClr val="FFFFFF"/>
                          </a:solidFill>
                          <a:latin typeface="Calibri"/>
                          <a:ea typeface="Calibri"/>
                          <a:cs typeface="Calibri"/>
                        </a:rPr>
                        <a:t>cat</a:t>
                      </a:r>
                    </a:p>
                    <a:p>
                      <a:pPr algn="ctr">
                        <a:buNone/>
                      </a:pPr>
                      <a:r>
                        <a:rPr sz="1500" b="1">
                          <a:solidFill>
                            <a:srgbClr val="FFFFFF"/>
                          </a:solidFill>
                          <a:latin typeface="Calibri"/>
                          <a:ea typeface="Calibri"/>
                          <a:cs typeface="Calibri"/>
                        </a:rPr>
                        <a:t>position 4</a:t>
                      </a:r>
                    </a:p>
                  </a:txBody>
                  <a:tcPr anchor="ctr">
                    <a:solidFill>
                      <a:srgbClr val="065A82"/>
                    </a:solidFill>
                  </a:tcPr>
                </a:tc>
                <a:extLst>
                  <a:ext uri="{0D108BD9-81ED-4DB2-BD59-A6C34878D82A}">
                    <a16:rowId xmlns:a16="http://schemas.microsoft.com/office/drawing/2014/main" val="10000"/>
                  </a:ext>
                </a:extLst>
              </a:tr>
              <a:tr h="542925">
                <a:tc>
                  <a:txBody>
                    <a:bodyPr/>
                    <a:lstStyle/>
                    <a:p>
                      <a:pPr algn="l">
                        <a:buNone/>
                      </a:pPr>
                      <a:r>
                        <a:rPr sz="1425" b="0">
                          <a:solidFill>
                            <a:srgbClr val="1E293B"/>
                          </a:solidFill>
                          <a:latin typeface="Calibri"/>
                          <a:ea typeface="Calibri"/>
                          <a:cs typeface="Calibri"/>
                        </a:rPr>
                        <a:t>Token</a:t>
                      </a:r>
                    </a:p>
                    <a:p>
                      <a:pPr algn="l">
                        <a:buNone/>
                      </a:pPr>
                      <a:r>
                        <a:rPr sz="1425" b="0">
                          <a:solidFill>
                            <a:srgbClr val="1E293B"/>
                          </a:solidFill>
                          <a:latin typeface="Calibri"/>
                          <a:ea typeface="Calibri"/>
                          <a:cs typeface="Calibri"/>
                        </a:rPr>
                        <a:t>embedding</a:t>
                      </a:r>
                    </a:p>
                  </a:txBody>
                  <a:tcPr anchor="ctr">
                    <a:solidFill>
                      <a:srgbClr val="FFFFFF"/>
                    </a:solidFill>
                  </a:tcPr>
                </a:tc>
                <a:tc>
                  <a:txBody>
                    <a:bodyPr/>
                    <a:lstStyle/>
                    <a:p>
                      <a:pPr algn="ctr">
                        <a:buNone/>
                      </a:pPr>
                      <a:r>
                        <a:rPr sz="1425" b="0">
                          <a:solidFill>
                            <a:srgbClr val="1E293B"/>
                          </a:solidFill>
                          <a:latin typeface="Calibri"/>
                          <a:ea typeface="Calibri"/>
                          <a:cs typeface="Calibri"/>
                        </a:rPr>
                        <a:t>[0.2, 0.5]</a:t>
                      </a:r>
                    </a:p>
                  </a:txBody>
                  <a:tcPr anchor="ctr">
                    <a:solidFill>
                      <a:srgbClr val="FFFFFF"/>
                    </a:solidFill>
                  </a:tcPr>
                </a:tc>
                <a:tc>
                  <a:txBody>
                    <a:bodyPr/>
                    <a:lstStyle/>
                    <a:p>
                      <a:pPr algn="ctr">
                        <a:buNone/>
                      </a:pPr>
                      <a:r>
                        <a:rPr sz="1425" b="0">
                          <a:solidFill>
                            <a:srgbClr val="1E293B"/>
                          </a:solidFill>
                          <a:latin typeface="Calibri"/>
                          <a:ea typeface="Calibri"/>
                          <a:cs typeface="Calibri"/>
                        </a:rPr>
                        <a:t>[0.6, 0.1]</a:t>
                      </a:r>
                    </a:p>
                  </a:txBody>
                  <a:tcPr anchor="ctr">
                    <a:solidFill>
                      <a:srgbClr val="FFFFFF"/>
                    </a:solidFill>
                  </a:tcPr>
                </a:tc>
                <a:tc>
                  <a:txBody>
                    <a:bodyPr/>
                    <a:lstStyle/>
                    <a:p>
                      <a:pPr algn="ctr">
                        <a:buNone/>
                      </a:pPr>
                      <a:r>
                        <a:rPr sz="1425" b="0">
                          <a:solidFill>
                            <a:srgbClr val="1E293B"/>
                          </a:solidFill>
                          <a:latin typeface="Calibri"/>
                          <a:ea typeface="Calibri"/>
                          <a:cs typeface="Calibri"/>
                        </a:rPr>
                        <a:t>[0.3, −0.2]</a:t>
                      </a:r>
                    </a:p>
                  </a:txBody>
                  <a:tcPr anchor="ctr">
                    <a:solidFill>
                      <a:srgbClr val="FFFFFF"/>
                    </a:solidFill>
                  </a:tcPr>
                </a:tc>
                <a:tc>
                  <a:txBody>
                    <a:bodyPr/>
                    <a:lstStyle/>
                    <a:p>
                      <a:pPr algn="ctr">
                        <a:buNone/>
                      </a:pPr>
                      <a:r>
                        <a:rPr sz="1425" b="0">
                          <a:solidFill>
                            <a:srgbClr val="1E293B"/>
                          </a:solidFill>
                          <a:latin typeface="Calibri"/>
                          <a:ea typeface="Calibri"/>
                          <a:cs typeface="Calibri"/>
                        </a:rPr>
                        <a:t>[−0.1, 0.4]</a:t>
                      </a:r>
                    </a:p>
                  </a:txBody>
                  <a:tcPr anchor="ctr">
                    <a:solidFill>
                      <a:srgbClr val="FFFFFF"/>
                    </a:solidFill>
                  </a:tcPr>
                </a:tc>
                <a:tc>
                  <a:txBody>
                    <a:bodyPr/>
                    <a:lstStyle/>
                    <a:p>
                      <a:pPr algn="ctr">
                        <a:buNone/>
                      </a:pPr>
                      <a:r>
                        <a:rPr sz="1425" b="0">
                          <a:solidFill>
                            <a:srgbClr val="1E293B"/>
                          </a:solidFill>
                          <a:latin typeface="Calibri"/>
                          <a:ea typeface="Calibri"/>
                          <a:cs typeface="Calibri"/>
                        </a:rPr>
                        <a:t>[0.8, 0.2]</a:t>
                      </a:r>
                    </a:p>
                  </a:txBody>
                  <a:tcPr anchor="ctr">
                    <a:solidFill>
                      <a:srgbClr val="FFFFFF"/>
                    </a:solidFill>
                  </a:tcPr>
                </a:tc>
                <a:extLst>
                  <a:ext uri="{0D108BD9-81ED-4DB2-BD59-A6C34878D82A}">
                    <a16:rowId xmlns:a16="http://schemas.microsoft.com/office/drawing/2014/main" val="10001"/>
                  </a:ext>
                </a:extLst>
              </a:tr>
              <a:tr h="542925">
                <a:tc>
                  <a:txBody>
                    <a:bodyPr/>
                    <a:lstStyle/>
                    <a:p>
                      <a:pPr algn="l">
                        <a:buNone/>
                      </a:pPr>
                      <a:r>
                        <a:rPr sz="1425" b="0">
                          <a:solidFill>
                            <a:srgbClr val="A65F00"/>
                          </a:solidFill>
                          <a:latin typeface="Calibri"/>
                          <a:ea typeface="Calibri"/>
                          <a:cs typeface="Calibri"/>
                        </a:rPr>
                        <a:t>+ Position</a:t>
                      </a:r>
                    </a:p>
                    <a:p>
                      <a:pPr algn="l">
                        <a:buNone/>
                      </a:pPr>
                      <a:r>
                        <a:rPr sz="1425" b="0">
                          <a:solidFill>
                            <a:srgbClr val="A65F00"/>
                          </a:solidFill>
                          <a:latin typeface="Calibri"/>
                          <a:ea typeface="Calibri"/>
                          <a:cs typeface="Calibri"/>
                        </a:rPr>
                        <a:t>embedding</a:t>
                      </a:r>
                    </a:p>
                  </a:txBody>
                  <a:tcPr anchor="ctr">
                    <a:solidFill>
                      <a:srgbClr val="FFF3DF"/>
                    </a:solidFill>
                  </a:tcPr>
                </a:tc>
                <a:tc>
                  <a:txBody>
                    <a:bodyPr/>
                    <a:lstStyle/>
                    <a:p>
                      <a:pPr algn="ctr">
                        <a:buNone/>
                      </a:pPr>
                      <a:r>
                        <a:rPr sz="1425" b="0">
                          <a:solidFill>
                            <a:srgbClr val="A65F00"/>
                          </a:solidFill>
                          <a:latin typeface="Calibri"/>
                          <a:ea typeface="Calibri"/>
                          <a:cs typeface="Calibri"/>
                        </a:rPr>
                        <a:t>[0.0, 0.0]</a:t>
                      </a:r>
                    </a:p>
                  </a:txBody>
                  <a:tcPr anchor="ctr">
                    <a:solidFill>
                      <a:srgbClr val="FFF3DF"/>
                    </a:solidFill>
                  </a:tcPr>
                </a:tc>
                <a:tc>
                  <a:txBody>
                    <a:bodyPr/>
                    <a:lstStyle/>
                    <a:p>
                      <a:pPr algn="ctr">
                        <a:buNone/>
                      </a:pPr>
                      <a:r>
                        <a:rPr sz="1425" b="0">
                          <a:solidFill>
                            <a:srgbClr val="A65F00"/>
                          </a:solidFill>
                          <a:latin typeface="Calibri"/>
                          <a:ea typeface="Calibri"/>
                          <a:cs typeface="Calibri"/>
                        </a:rPr>
                        <a:t>[0.1, 0.2]</a:t>
                      </a:r>
                    </a:p>
                  </a:txBody>
                  <a:tcPr anchor="ctr">
                    <a:solidFill>
                      <a:srgbClr val="FFF3DF"/>
                    </a:solidFill>
                  </a:tcPr>
                </a:tc>
                <a:tc>
                  <a:txBody>
                    <a:bodyPr/>
                    <a:lstStyle/>
                    <a:p>
                      <a:pPr algn="ctr">
                        <a:buNone/>
                      </a:pPr>
                      <a:r>
                        <a:rPr sz="1425" b="0">
                          <a:solidFill>
                            <a:srgbClr val="A65F00"/>
                          </a:solidFill>
                          <a:latin typeface="Calibri"/>
                          <a:ea typeface="Calibri"/>
                          <a:cs typeface="Calibri"/>
                        </a:rPr>
                        <a:t>[0.2, 0.4]</a:t>
                      </a:r>
                    </a:p>
                  </a:txBody>
                  <a:tcPr anchor="ctr">
                    <a:solidFill>
                      <a:srgbClr val="FFF3DF"/>
                    </a:solidFill>
                  </a:tcPr>
                </a:tc>
                <a:tc>
                  <a:txBody>
                    <a:bodyPr/>
                    <a:lstStyle/>
                    <a:p>
                      <a:pPr algn="ctr">
                        <a:buNone/>
                      </a:pPr>
                      <a:r>
                        <a:rPr sz="1425" b="0">
                          <a:solidFill>
                            <a:srgbClr val="A65F00"/>
                          </a:solidFill>
                          <a:latin typeface="Calibri"/>
                          <a:ea typeface="Calibri"/>
                          <a:cs typeface="Calibri"/>
                        </a:rPr>
                        <a:t>[0.3, 0.6]</a:t>
                      </a:r>
                    </a:p>
                  </a:txBody>
                  <a:tcPr anchor="ctr">
                    <a:solidFill>
                      <a:srgbClr val="FFF3DF"/>
                    </a:solidFill>
                  </a:tcPr>
                </a:tc>
                <a:tc>
                  <a:txBody>
                    <a:bodyPr/>
                    <a:lstStyle/>
                    <a:p>
                      <a:pPr algn="ctr">
                        <a:buNone/>
                      </a:pPr>
                      <a:r>
                        <a:rPr sz="1425" b="0">
                          <a:solidFill>
                            <a:srgbClr val="A65F00"/>
                          </a:solidFill>
                          <a:latin typeface="Calibri"/>
                          <a:ea typeface="Calibri"/>
                          <a:cs typeface="Calibri"/>
                        </a:rPr>
                        <a:t>[0.4, 0.8]</a:t>
                      </a:r>
                    </a:p>
                  </a:txBody>
                  <a:tcPr anchor="ctr">
                    <a:solidFill>
                      <a:srgbClr val="FFF3DF"/>
                    </a:solidFill>
                  </a:tcPr>
                </a:tc>
                <a:extLst>
                  <a:ext uri="{0D108BD9-81ED-4DB2-BD59-A6C34878D82A}">
                    <a16:rowId xmlns:a16="http://schemas.microsoft.com/office/drawing/2014/main" val="10002"/>
                  </a:ext>
                </a:extLst>
              </a:tr>
              <a:tr h="542925">
                <a:tc>
                  <a:txBody>
                    <a:bodyPr/>
                    <a:lstStyle/>
                    <a:p>
                      <a:pPr algn="l">
                        <a:buNone/>
                      </a:pPr>
                      <a:r>
                        <a:rPr sz="1425" b="1">
                          <a:solidFill>
                            <a:srgbClr val="1E293B"/>
                          </a:solidFill>
                          <a:latin typeface="Calibri"/>
                          <a:ea typeface="Calibri"/>
                          <a:cs typeface="Calibri"/>
                        </a:rPr>
                        <a:t>= Combined</a:t>
                      </a:r>
                    </a:p>
                    <a:p>
                      <a:pPr algn="l">
                        <a:buNone/>
                      </a:pPr>
                      <a:r>
                        <a:rPr sz="1425" b="1">
                          <a:solidFill>
                            <a:srgbClr val="1E293B"/>
                          </a:solidFill>
                          <a:latin typeface="Calibri"/>
                          <a:ea typeface="Calibri"/>
                          <a:cs typeface="Calibri"/>
                        </a:rPr>
                        <a:t>vector</a:t>
                      </a:r>
                    </a:p>
                  </a:txBody>
                  <a:tcPr anchor="ctr">
                    <a:solidFill>
                      <a:srgbClr val="E4F1FA"/>
                    </a:solidFill>
                  </a:tcPr>
                </a:tc>
                <a:tc>
                  <a:txBody>
                    <a:bodyPr/>
                    <a:lstStyle/>
                    <a:p>
                      <a:pPr algn="ctr">
                        <a:buNone/>
                      </a:pPr>
                      <a:r>
                        <a:rPr sz="1425" b="1">
                          <a:solidFill>
                            <a:srgbClr val="1E293B"/>
                          </a:solidFill>
                          <a:latin typeface="Calibri"/>
                          <a:ea typeface="Calibri"/>
                          <a:cs typeface="Calibri"/>
                        </a:rPr>
                        <a:t>[0.2, 0.5]</a:t>
                      </a:r>
                    </a:p>
                  </a:txBody>
                  <a:tcPr anchor="ctr">
                    <a:solidFill>
                      <a:srgbClr val="E4F1FA"/>
                    </a:solidFill>
                  </a:tcPr>
                </a:tc>
                <a:tc>
                  <a:txBody>
                    <a:bodyPr/>
                    <a:lstStyle/>
                    <a:p>
                      <a:pPr algn="ctr">
                        <a:buNone/>
                      </a:pPr>
                      <a:r>
                        <a:rPr sz="1425" b="1">
                          <a:solidFill>
                            <a:srgbClr val="1E293B"/>
                          </a:solidFill>
                          <a:latin typeface="Calibri"/>
                          <a:ea typeface="Calibri"/>
                          <a:cs typeface="Calibri"/>
                        </a:rPr>
                        <a:t>[0.7, 0.3]</a:t>
                      </a:r>
                    </a:p>
                  </a:txBody>
                  <a:tcPr anchor="ctr">
                    <a:solidFill>
                      <a:srgbClr val="E4F1FA"/>
                    </a:solidFill>
                  </a:tcPr>
                </a:tc>
                <a:tc>
                  <a:txBody>
                    <a:bodyPr/>
                    <a:lstStyle/>
                    <a:p>
                      <a:pPr algn="ctr">
                        <a:buNone/>
                      </a:pPr>
                      <a:r>
                        <a:rPr sz="1425" b="1">
                          <a:solidFill>
                            <a:srgbClr val="1E293B"/>
                          </a:solidFill>
                          <a:latin typeface="Calibri"/>
                          <a:ea typeface="Calibri"/>
                          <a:cs typeface="Calibri"/>
                        </a:rPr>
                        <a:t>[0.5, 0.2]</a:t>
                      </a:r>
                    </a:p>
                  </a:txBody>
                  <a:tcPr anchor="ctr">
                    <a:solidFill>
                      <a:srgbClr val="E4F1FA"/>
                    </a:solidFill>
                  </a:tcPr>
                </a:tc>
                <a:tc>
                  <a:txBody>
                    <a:bodyPr/>
                    <a:lstStyle/>
                    <a:p>
                      <a:pPr algn="ctr">
                        <a:buNone/>
                      </a:pPr>
                      <a:r>
                        <a:rPr sz="1425" b="1">
                          <a:solidFill>
                            <a:srgbClr val="1E293B"/>
                          </a:solidFill>
                          <a:latin typeface="Calibri"/>
                          <a:ea typeface="Calibri"/>
                          <a:cs typeface="Calibri"/>
                        </a:rPr>
                        <a:t>[0.2, 1.0]</a:t>
                      </a:r>
                    </a:p>
                  </a:txBody>
                  <a:tcPr anchor="ctr">
                    <a:solidFill>
                      <a:srgbClr val="E4F1FA"/>
                    </a:solidFill>
                  </a:tcPr>
                </a:tc>
                <a:tc>
                  <a:txBody>
                    <a:bodyPr/>
                    <a:lstStyle/>
                    <a:p>
                      <a:pPr algn="ctr">
                        <a:buNone/>
                      </a:pPr>
                      <a:r>
                        <a:rPr sz="1425" b="1">
                          <a:solidFill>
                            <a:srgbClr val="1E293B"/>
                          </a:solidFill>
                          <a:latin typeface="Calibri"/>
                          <a:ea typeface="Calibri"/>
                          <a:cs typeface="Calibri"/>
                        </a:rPr>
                        <a:t>[1.2, 1.0]</a:t>
                      </a:r>
                    </a:p>
                  </a:txBody>
                  <a:tcPr anchor="ctr">
                    <a:solidFill>
                      <a:srgbClr val="E4F1FA"/>
                    </a:solidFill>
                  </a:tcPr>
                </a:tc>
                <a:extLst>
                  <a:ext uri="{0D108BD9-81ED-4DB2-BD59-A6C34878D82A}">
                    <a16:rowId xmlns:a16="http://schemas.microsoft.com/office/drawing/2014/main" val="10003"/>
                  </a:ext>
                </a:extLst>
              </a:tr>
            </a:tbl>
          </a:graphicData>
        </a:graphic>
      </p:graphicFrame>
      <p:sp>
        <p:nvSpPr>
          <p:cNvPr id="8" name="Each component adds to its matching component. The">
            <a:extLst>
              <a:ext uri="{FF2B5EF4-FFF2-40B4-BE49-F238E27FC236}">
                <a16:creationId xmlns:a16="http://schemas.microsoft.com/office/drawing/2014/main" id="{E79B9C1F-3713-440C-82D8-80150171CF05}"/>
              </a:ext>
            </a:extLst>
          </p:cNvPr>
          <p:cNvSpPr>
            <a:spLocks noGrp="1"/>
          </p:cNvSpPr>
          <p:nvPr/>
        </p:nvSpPr>
        <p:spPr>
          <a:xfrm>
            <a:off x="381000" y="4105275"/>
            <a:ext cx="8382000" cy="276225"/>
          </a:xfrm>
          <a:prstGeom prst="rect">
            <a:avLst/>
          </a:prstGeom>
          <a:noFill/>
          <a:ln w="0">
            <a:noFill/>
          </a:ln>
        </p:spPr>
        <p:txBody>
          <a:bodyPr lIns="0" tIns="0" rIns="0" bIns="0">
            <a:noAutofit/>
          </a:bodyPr>
          <a:lstStyle/>
          <a:p>
            <a:pPr>
              <a:buNone/>
              <a:defRPr sz="1575" b="1">
                <a:solidFill>
                  <a:srgbClr val="065A82"/>
                </a:solidFill>
                <a:latin typeface="Calibri"/>
                <a:ea typeface="Calibri"/>
                <a:cs typeface="Calibri"/>
              </a:defRPr>
            </a:pPr>
            <a:r>
              <a:rPr sz="1575" b="1">
                <a:solidFill>
                  <a:srgbClr val="065A82"/>
                </a:solidFill>
                <a:latin typeface="Calibri"/>
                <a:ea typeface="Calibri"/>
                <a:cs typeface="Calibri"/>
              </a:rPr>
              <a:t>Each component adds to its matching component. The width stays 2.</a:t>
            </a:r>
          </a:p>
        </p:txBody>
      </p:sp>
      <p:sp>
        <p:nvSpPr>
          <p:cNvPr id="9" name="Context also matters:  “river bank”  and  “savings">
            <a:extLst>
              <a:ext uri="{FF2B5EF4-FFF2-40B4-BE49-F238E27FC236}">
                <a16:creationId xmlns:a16="http://schemas.microsoft.com/office/drawing/2014/main" id="{EFA82AC4-0EF0-4086-8458-4DB4EC2AFA87}"/>
              </a:ext>
            </a:extLst>
          </p:cNvPr>
          <p:cNvSpPr>
            <a:spLocks noGrp="1"/>
          </p:cNvSpPr>
          <p:nvPr/>
        </p:nvSpPr>
        <p:spPr>
          <a:xfrm>
            <a:off x="381000" y="4505325"/>
            <a:ext cx="8382000" cy="266700"/>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Context also matters:  “river bank”  and  “savings bank”</a:t>
            </a:r>
          </a:p>
        </p:txBody>
      </p:sp>
      <p:sp>
        <p:nvSpPr>
          <p:cNvPr id="10" name="Qwen uses RoPE: position-dependent rotations of qu">
            <a:extLst>
              <a:ext uri="{FF2B5EF4-FFF2-40B4-BE49-F238E27FC236}">
                <a16:creationId xmlns:a16="http://schemas.microsoft.com/office/drawing/2014/main" id="{83A7E2DF-A581-48C9-86BB-53FCCBAF5B77}"/>
              </a:ext>
            </a:extLst>
          </p:cNvPr>
          <p:cNvSpPr>
            <a:spLocks noGrp="1"/>
          </p:cNvSpPr>
          <p:nvPr/>
        </p:nvSpPr>
        <p:spPr>
          <a:xfrm>
            <a:off x="381000" y="4876800"/>
            <a:ext cx="8382000" cy="228600"/>
          </a:xfrm>
          <a:prstGeom prst="rect">
            <a:avLst/>
          </a:prstGeom>
          <a:noFill/>
          <a:ln w="0">
            <a:noFill/>
          </a:ln>
        </p:spPr>
        <p:txBody>
          <a:bodyPr lIns="0" tIns="0" rIns="0" bIns="0">
            <a:noAutofit/>
          </a:bodyPr>
          <a:lstStyle/>
          <a:p>
            <a:pPr>
              <a:buNone/>
              <a:defRPr sz="1500" b="1">
                <a:solidFill>
                  <a:srgbClr val="A65F00"/>
                </a:solidFill>
                <a:latin typeface="Calibri"/>
                <a:ea typeface="Calibri"/>
                <a:cs typeface="Calibri"/>
              </a:defRPr>
            </a:pPr>
            <a:r>
              <a:rPr sz="1500" b="1">
                <a:solidFill>
                  <a:srgbClr val="A65F00"/>
                </a:solidFill>
                <a:latin typeface="Calibri"/>
                <a:ea typeface="Calibri"/>
                <a:cs typeface="Calibri"/>
              </a:rPr>
              <a:t>Qwen uses RoPE: position-dependent rotations of queries and keys.</a:t>
            </a:r>
          </a:p>
        </p:txBody>
      </p:sp>
    </p:spTree>
    <p:extLst>
      <p:ext uri="{BB962C8B-B14F-4D97-AF65-F5344CB8AC3E}">
        <p14:creationId xmlns:p14="http://schemas.microsoft.com/office/powerpoint/2010/main" val="2061924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Vectors, matrices, and weights">
            <a:extLst>
              <a:ext uri="{FF2B5EF4-FFF2-40B4-BE49-F238E27FC236}">
                <a16:creationId xmlns:a16="http://schemas.microsoft.com/office/drawing/2014/main" id="{75B1DA1D-69FE-496F-ABFD-A75744ED7E42}"/>
              </a:ext>
            </a:extLst>
          </p:cNvPr>
          <p:cNvSpPr>
            <a:spLocks noGrp="1"/>
          </p:cNvSpPr>
          <p:nvPr/>
        </p:nvSpPr>
        <p:spPr>
          <a:xfrm>
            <a:off x="381000" y="485775"/>
            <a:ext cx="8229600" cy="276225"/>
          </a:xfrm>
          <a:prstGeom prst="rect">
            <a:avLst/>
          </a:prstGeom>
          <a:noFill/>
          <a:ln w="0">
            <a:noFill/>
          </a:ln>
        </p:spPr>
        <p:txBody>
          <a:bodyPr lIns="0" tIns="0" rIns="0" bIns="0">
            <a:noAutofit/>
          </a:bodyPr>
          <a:lstStyle/>
          <a:p>
            <a:pPr>
              <a:buNone/>
              <a:defRPr sz="1575" b="0">
                <a:solidFill>
                  <a:srgbClr val="F59E0B"/>
                </a:solidFill>
                <a:latin typeface="Calibri"/>
                <a:ea typeface="Calibri"/>
                <a:cs typeface="Calibri"/>
              </a:defRPr>
            </a:pPr>
            <a:r>
              <a:rPr sz="1575" b="0">
                <a:solidFill>
                  <a:srgbClr val="F59E0B"/>
                </a:solidFill>
                <a:latin typeface="Calibri"/>
                <a:ea typeface="Calibri"/>
                <a:cs typeface="Calibri"/>
              </a:rPr>
              <a:t>Vectors, matrices, and weights</a:t>
            </a:r>
          </a:p>
        </p:txBody>
      </p:sp>
      <p:sp>
        <p:nvSpPr>
          <p:cNvPr id="5" name="Vectors hold numbers. Weight matrices mix them.">
            <a:extLst>
              <a:ext uri="{FF2B5EF4-FFF2-40B4-BE49-F238E27FC236}">
                <a16:creationId xmlns:a16="http://schemas.microsoft.com/office/drawing/2014/main" id="{5E3CF789-30A5-4CE6-BCB9-853FE3E2209E}"/>
              </a:ext>
            </a:extLst>
          </p:cNvPr>
          <p:cNvSpPr>
            <a:spLocks noGrp="1"/>
          </p:cNvSpPr>
          <p:nvPr/>
        </p:nvSpPr>
        <p:spPr>
          <a:xfrm>
            <a:off x="381000" y="1047750"/>
            <a:ext cx="8382000" cy="333375"/>
          </a:xfrm>
          <a:prstGeom prst="rect">
            <a:avLst/>
          </a:prstGeom>
          <a:noFill/>
          <a:ln w="0">
            <a:noFill/>
          </a:ln>
        </p:spPr>
        <p:txBody>
          <a:bodyPr lIns="0" tIns="0" rIns="0" bIns="0">
            <a:noAutofit/>
          </a:bodyPr>
          <a:lstStyle/>
          <a:p>
            <a:pPr>
              <a:buNone/>
              <a:defRPr sz="1950" b="1">
                <a:solidFill>
                  <a:srgbClr val="0D2137"/>
                </a:solidFill>
                <a:latin typeface="Georgia"/>
                <a:ea typeface="Georgia"/>
                <a:cs typeface="Georgia"/>
              </a:defRPr>
            </a:pPr>
            <a:r>
              <a:rPr sz="1950" b="1">
                <a:solidFill>
                  <a:srgbClr val="0D2137"/>
                </a:solidFill>
                <a:latin typeface="Georgia"/>
                <a:ea typeface="Georgia"/>
                <a:cs typeface="Georgia"/>
              </a:rPr>
              <a:t>Vectors hold numbers. Weight matrices mix them.</a:t>
            </a:r>
          </a:p>
        </p:txBody>
      </p:sp>
      <p:sp>
        <p:nvSpPr>
          <p:cNvPr id="6" name="W: weight matrix">
            <a:extLst>
              <a:ext uri="{FF2B5EF4-FFF2-40B4-BE49-F238E27FC236}">
                <a16:creationId xmlns:a16="http://schemas.microsoft.com/office/drawing/2014/main" id="{1A84E2F0-471A-4C85-8C04-B3C69A7893E9}"/>
              </a:ext>
            </a:extLst>
          </p:cNvPr>
          <p:cNvSpPr>
            <a:spLocks noGrp="1"/>
          </p:cNvSpPr>
          <p:nvPr/>
        </p:nvSpPr>
        <p:spPr>
          <a:xfrm>
            <a:off x="695325" y="1524000"/>
            <a:ext cx="2762250" cy="295275"/>
          </a:xfrm>
          <a:prstGeom prst="rect">
            <a:avLst/>
          </a:prstGeom>
          <a:noFill/>
          <a:ln w="0">
            <a:noFill/>
          </a:ln>
        </p:spPr>
        <p:txBody>
          <a:bodyPr lIns="0" tIns="0" rIns="0" bIns="0">
            <a:noAutofit/>
          </a:bodyPr>
          <a:lstStyle/>
          <a:p>
            <a:pPr>
              <a:buNone/>
              <a:defRPr sz="1800" b="1">
                <a:solidFill>
                  <a:srgbClr val="065A82"/>
                </a:solidFill>
                <a:latin typeface="Calibri"/>
                <a:ea typeface="Calibri"/>
                <a:cs typeface="Calibri"/>
              </a:defRPr>
            </a:pPr>
            <a:r>
              <a:rPr sz="1800" b="1">
                <a:solidFill>
                  <a:srgbClr val="065A82"/>
                </a:solidFill>
                <a:latin typeface="Calibri"/>
                <a:ea typeface="Calibri"/>
                <a:cs typeface="Calibri"/>
              </a:rPr>
              <a:t>W: weight matrix</a:t>
            </a:r>
          </a:p>
        </p:txBody>
      </p:sp>
      <p:sp>
        <p:nvSpPr>
          <p:cNvPr id="7" name="x: input vector">
            <a:extLst>
              <a:ext uri="{FF2B5EF4-FFF2-40B4-BE49-F238E27FC236}">
                <a16:creationId xmlns:a16="http://schemas.microsoft.com/office/drawing/2014/main" id="{DB44B853-5E5D-44D9-BD70-60B73A17F16C}"/>
              </a:ext>
            </a:extLst>
          </p:cNvPr>
          <p:cNvSpPr>
            <a:spLocks noGrp="1"/>
          </p:cNvSpPr>
          <p:nvPr/>
        </p:nvSpPr>
        <p:spPr>
          <a:xfrm>
            <a:off x="4219575" y="1524000"/>
            <a:ext cx="2095500" cy="295275"/>
          </a:xfrm>
          <a:prstGeom prst="rect">
            <a:avLst/>
          </a:prstGeom>
          <a:noFill/>
          <a:ln w="0">
            <a:noFill/>
          </a:ln>
        </p:spPr>
        <p:txBody>
          <a:bodyPr lIns="0" tIns="0" rIns="0" bIns="0">
            <a:noAutofit/>
          </a:bodyPr>
          <a:lstStyle/>
          <a:p>
            <a:pPr>
              <a:buNone/>
              <a:defRPr sz="1800" b="1">
                <a:solidFill>
                  <a:srgbClr val="1E293B"/>
                </a:solidFill>
                <a:latin typeface="Calibri"/>
                <a:ea typeface="Calibri"/>
                <a:cs typeface="Calibri"/>
              </a:defRPr>
            </a:pPr>
            <a:r>
              <a:rPr sz="1800" b="1">
                <a:solidFill>
                  <a:srgbClr val="1E293B"/>
                </a:solidFill>
                <a:latin typeface="Calibri"/>
                <a:ea typeface="Calibri"/>
                <a:cs typeface="Calibri"/>
              </a:rPr>
              <a:t>x: input vector</a:t>
            </a:r>
          </a:p>
        </p:txBody>
      </p:sp>
      <p:sp>
        <p:nvSpPr>
          <p:cNvPr id="8" name="y: output vector">
            <a:extLst>
              <a:ext uri="{FF2B5EF4-FFF2-40B4-BE49-F238E27FC236}">
                <a16:creationId xmlns:a16="http://schemas.microsoft.com/office/drawing/2014/main" id="{FA93C8F6-730D-4CC5-9BDB-8D06B84BEB40}"/>
              </a:ext>
            </a:extLst>
          </p:cNvPr>
          <p:cNvSpPr>
            <a:spLocks noGrp="1"/>
          </p:cNvSpPr>
          <p:nvPr/>
        </p:nvSpPr>
        <p:spPr>
          <a:xfrm>
            <a:off x="6800850" y="1524000"/>
            <a:ext cx="2095500" cy="295275"/>
          </a:xfrm>
          <a:prstGeom prst="rect">
            <a:avLst/>
          </a:prstGeom>
          <a:noFill/>
          <a:ln w="0">
            <a:noFill/>
          </a:ln>
        </p:spPr>
        <p:txBody>
          <a:bodyPr lIns="0" tIns="0" rIns="0" bIns="0">
            <a:noAutofit/>
          </a:bodyPr>
          <a:lstStyle/>
          <a:p>
            <a:pPr>
              <a:buNone/>
              <a:defRPr sz="1800" b="1">
                <a:solidFill>
                  <a:srgbClr val="A65F00"/>
                </a:solidFill>
                <a:latin typeface="Calibri"/>
                <a:ea typeface="Calibri"/>
                <a:cs typeface="Calibri"/>
              </a:defRPr>
            </a:pPr>
            <a:r>
              <a:rPr sz="1800" b="1">
                <a:solidFill>
                  <a:srgbClr val="A65F00"/>
                </a:solidFill>
                <a:latin typeface="Calibri"/>
                <a:ea typeface="Calibri"/>
                <a:cs typeface="Calibri"/>
              </a:rPr>
              <a:t>y: output vector</a:t>
            </a:r>
          </a:p>
        </p:txBody>
      </p:sp>
      <p:graphicFrame>
        <p:nvGraphicFramePr>
          <p:cNvPr id="29" name="Table 28"/>
          <p:cNvGraphicFramePr/>
          <p:nvPr/>
        </p:nvGraphicFramePr>
        <p:xfrm>
          <a:off x="857250" y="2143125"/>
          <a:ext cx="2286000" cy="1143000"/>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571500">
                <a:tc>
                  <a:txBody>
                    <a:bodyPr/>
                    <a:lstStyle/>
                    <a:p>
                      <a:pPr algn="ctr">
                        <a:buNone/>
                      </a:pPr>
                      <a:r>
                        <a:rPr sz="2400" b="1">
                          <a:solidFill>
                            <a:srgbClr val="065A82"/>
                          </a:solidFill>
                          <a:latin typeface="Calibri"/>
                          <a:ea typeface="Calibri"/>
                          <a:cs typeface="Calibri"/>
                        </a:rPr>
                        <a:t>1</a:t>
                      </a:r>
                    </a:p>
                  </a:txBody>
                  <a:tcPr anchor="ctr">
                    <a:solidFill>
                      <a:srgbClr val="FFFFFF"/>
                    </a:solidFill>
                  </a:tcPr>
                </a:tc>
                <a:tc>
                  <a:txBody>
                    <a:bodyPr/>
                    <a:lstStyle/>
                    <a:p>
                      <a:pPr algn="ctr">
                        <a:buNone/>
                      </a:pPr>
                      <a:r>
                        <a:rPr sz="2400" b="1">
                          <a:solidFill>
                            <a:srgbClr val="065A82"/>
                          </a:solidFill>
                          <a:latin typeface="Calibri"/>
                          <a:ea typeface="Calibri"/>
                          <a:cs typeface="Calibri"/>
                        </a:rPr>
                        <a:t>0</a:t>
                      </a:r>
                    </a:p>
                  </a:txBody>
                  <a:tcPr anchor="ctr">
                    <a:solidFill>
                      <a:srgbClr val="FFFFFF"/>
                    </a:solidFill>
                  </a:tcPr>
                </a:tc>
                <a:tc>
                  <a:txBody>
                    <a:bodyPr/>
                    <a:lstStyle/>
                    <a:p>
                      <a:pPr algn="ctr">
                        <a:buNone/>
                      </a:pPr>
                      <a:r>
                        <a:rPr sz="2400" b="1">
                          <a:solidFill>
                            <a:srgbClr val="065A82"/>
                          </a:solidFill>
                          <a:latin typeface="Calibri"/>
                          <a:ea typeface="Calibri"/>
                          <a:cs typeface="Calibri"/>
                        </a:rPr>
                        <a:t>2</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buNone/>
                      </a:pPr>
                      <a:r>
                        <a:rPr sz="2400" b="1">
                          <a:solidFill>
                            <a:srgbClr val="065A82"/>
                          </a:solidFill>
                          <a:latin typeface="Calibri"/>
                          <a:ea typeface="Calibri"/>
                          <a:cs typeface="Calibri"/>
                        </a:rPr>
                        <a:t>0</a:t>
                      </a:r>
                    </a:p>
                  </a:txBody>
                  <a:tcPr anchor="ctr">
                    <a:solidFill>
                      <a:srgbClr val="FFFFFF"/>
                    </a:solidFill>
                  </a:tcPr>
                </a:tc>
                <a:tc>
                  <a:txBody>
                    <a:bodyPr/>
                    <a:lstStyle/>
                    <a:p>
                      <a:pPr algn="ctr">
                        <a:buNone/>
                      </a:pPr>
                      <a:r>
                        <a:rPr sz="2400" b="1">
                          <a:solidFill>
                            <a:srgbClr val="065A82"/>
                          </a:solidFill>
                          <a:latin typeface="Calibri"/>
                          <a:ea typeface="Calibri"/>
                          <a:cs typeface="Calibri"/>
                        </a:rPr>
                        <a:t>1</a:t>
                      </a:r>
                    </a:p>
                  </a:txBody>
                  <a:tcPr anchor="ctr">
                    <a:solidFill>
                      <a:srgbClr val="FFFFFF"/>
                    </a:solidFill>
                  </a:tcPr>
                </a:tc>
                <a:tc>
                  <a:txBody>
                    <a:bodyPr/>
                    <a:lstStyle/>
                    <a:p>
                      <a:pPr algn="ctr">
                        <a:buNone/>
                      </a:pPr>
                      <a:r>
                        <a:rPr sz="2400" b="1">
                          <a:solidFill>
                            <a:srgbClr val="065A82"/>
                          </a:solidFill>
                          <a:latin typeface="Calibri"/>
                          <a:ea typeface="Calibri"/>
                          <a:cs typeface="Calibri"/>
                        </a:rPr>
                        <a:t>-1</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10" name="×">
            <a:extLst>
              <a:ext uri="{FF2B5EF4-FFF2-40B4-BE49-F238E27FC236}">
                <a16:creationId xmlns:a16="http://schemas.microsoft.com/office/drawing/2014/main" id="{9D645570-269B-41F3-9A82-B54C5C33EEFC}"/>
              </a:ext>
            </a:extLst>
          </p:cNvPr>
          <p:cNvSpPr>
            <a:spLocks noGrp="1"/>
          </p:cNvSpPr>
          <p:nvPr/>
        </p:nvSpPr>
        <p:spPr>
          <a:xfrm>
            <a:off x="3476625" y="2419350"/>
            <a:ext cx="666750" cy="590550"/>
          </a:xfrm>
          <a:prstGeom prst="rect">
            <a:avLst/>
          </a:prstGeom>
          <a:noFill/>
          <a:ln w="0">
            <a:noFill/>
          </a:ln>
        </p:spPr>
        <p:txBody>
          <a:bodyPr lIns="0" tIns="0" rIns="0" bIns="0">
            <a:noAutofit/>
          </a:bodyPr>
          <a:lstStyle/>
          <a:p>
            <a:pPr>
              <a:buNone/>
              <a:defRPr sz="3600" b="0">
                <a:solidFill>
                  <a:srgbClr val="0D2137"/>
                </a:solidFill>
                <a:latin typeface="Georgia"/>
                <a:ea typeface="Georgia"/>
                <a:cs typeface="Georgia"/>
              </a:defRPr>
            </a:pPr>
            <a:r>
              <a:rPr sz="3600" b="0">
                <a:solidFill>
                  <a:srgbClr val="0D2137"/>
                </a:solidFill>
                <a:latin typeface="Georgia"/>
                <a:ea typeface="Georgia"/>
                <a:cs typeface="Georgia"/>
              </a:rPr>
              <a:t>×</a:t>
            </a:r>
          </a:p>
        </p:txBody>
      </p:sp>
      <p:graphicFrame>
        <p:nvGraphicFramePr>
          <p:cNvPr id="31" name="Table 30"/>
          <p:cNvGraphicFramePr/>
          <p:nvPr/>
        </p:nvGraphicFramePr>
        <p:xfrm>
          <a:off x="4667250" y="1857375"/>
          <a:ext cx="857250" cy="1714500"/>
        </p:xfrm>
        <a:graphic>
          <a:graphicData uri="http://schemas.openxmlformats.org/drawingml/2006/table">
            <a:tbl>
              <a:tblPr/>
              <a:tblGrid>
                <a:gridCol w="857250">
                  <a:extLst>
                    <a:ext uri="{9D8B030D-6E8A-4147-A177-3AD203B41FA5}">
                      <a16:colId xmlns:a16="http://schemas.microsoft.com/office/drawing/2014/main" val="20000"/>
                    </a:ext>
                  </a:extLst>
                </a:gridCol>
              </a:tblGrid>
              <a:tr h="571500">
                <a:tc>
                  <a:txBody>
                    <a:bodyPr/>
                    <a:lstStyle/>
                    <a:p>
                      <a:pPr algn="ctr">
                        <a:buNone/>
                      </a:pPr>
                      <a:r>
                        <a:rPr sz="2400" b="1">
                          <a:solidFill>
                            <a:srgbClr val="1E293B"/>
                          </a:solidFill>
                          <a:latin typeface="Calibri"/>
                          <a:ea typeface="Calibri"/>
                          <a:cs typeface="Calibri"/>
                        </a:rPr>
                        <a:t>1</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buNone/>
                      </a:pPr>
                      <a:r>
                        <a:rPr sz="2400" b="1">
                          <a:solidFill>
                            <a:srgbClr val="1E293B"/>
                          </a:solidFill>
                          <a:latin typeface="Calibri"/>
                          <a:ea typeface="Calibri"/>
                          <a:cs typeface="Calibri"/>
                        </a:rPr>
                        <a:t>2</a:t>
                      </a:r>
                    </a:p>
                  </a:txBody>
                  <a:tcPr anchor="ctr">
                    <a:solidFill>
                      <a:srgbClr val="FFFFFF"/>
                    </a:solidFill>
                  </a:tcPr>
                </a:tc>
                <a:extLst>
                  <a:ext uri="{0D108BD9-81ED-4DB2-BD59-A6C34878D82A}">
                    <a16:rowId xmlns:a16="http://schemas.microsoft.com/office/drawing/2014/main" val="10001"/>
                  </a:ext>
                </a:extLst>
              </a:tr>
              <a:tr h="571500">
                <a:tc>
                  <a:txBody>
                    <a:bodyPr/>
                    <a:lstStyle/>
                    <a:p>
                      <a:pPr algn="ctr">
                        <a:buNone/>
                      </a:pPr>
                      <a:r>
                        <a:rPr sz="2400" b="1">
                          <a:solidFill>
                            <a:srgbClr val="1E293B"/>
                          </a:solidFill>
                          <a:latin typeface="Calibri"/>
                          <a:ea typeface="Calibri"/>
                          <a:cs typeface="Calibri"/>
                        </a:rPr>
                        <a:t>3</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2" name="=">
            <a:extLst>
              <a:ext uri="{FF2B5EF4-FFF2-40B4-BE49-F238E27FC236}">
                <a16:creationId xmlns:a16="http://schemas.microsoft.com/office/drawing/2014/main" id="{419FE53D-B3B9-4858-ADEB-B031C6D0262A}"/>
              </a:ext>
            </a:extLst>
          </p:cNvPr>
          <p:cNvSpPr>
            <a:spLocks noGrp="1"/>
          </p:cNvSpPr>
          <p:nvPr/>
        </p:nvSpPr>
        <p:spPr>
          <a:xfrm>
            <a:off x="6000750" y="2419350"/>
            <a:ext cx="666750" cy="590550"/>
          </a:xfrm>
          <a:prstGeom prst="rect">
            <a:avLst/>
          </a:prstGeom>
          <a:noFill/>
          <a:ln w="0">
            <a:noFill/>
          </a:ln>
        </p:spPr>
        <p:txBody>
          <a:bodyPr lIns="0" tIns="0" rIns="0" bIns="0">
            <a:noAutofit/>
          </a:bodyPr>
          <a:lstStyle/>
          <a:p>
            <a:pPr>
              <a:buNone/>
              <a:defRPr sz="3600" b="0">
                <a:solidFill>
                  <a:srgbClr val="0D2137"/>
                </a:solidFill>
                <a:latin typeface="Georgia"/>
                <a:ea typeface="Georgia"/>
                <a:cs typeface="Georgia"/>
              </a:defRPr>
            </a:pPr>
            <a:r>
              <a:rPr sz="3600" b="0">
                <a:solidFill>
                  <a:srgbClr val="0D2137"/>
                </a:solidFill>
                <a:latin typeface="Georgia"/>
                <a:ea typeface="Georgia"/>
                <a:cs typeface="Georgia"/>
              </a:rPr>
              <a:t>=</a:t>
            </a:r>
          </a:p>
        </p:txBody>
      </p:sp>
      <p:graphicFrame>
        <p:nvGraphicFramePr>
          <p:cNvPr id="33" name="Table 32"/>
          <p:cNvGraphicFramePr/>
          <p:nvPr/>
        </p:nvGraphicFramePr>
        <p:xfrm>
          <a:off x="7286625" y="2143125"/>
          <a:ext cx="857250" cy="1143000"/>
        </p:xfrm>
        <a:graphic>
          <a:graphicData uri="http://schemas.openxmlformats.org/drawingml/2006/table">
            <a:tbl>
              <a:tblPr/>
              <a:tblGrid>
                <a:gridCol w="857250">
                  <a:extLst>
                    <a:ext uri="{9D8B030D-6E8A-4147-A177-3AD203B41FA5}">
                      <a16:colId xmlns:a16="http://schemas.microsoft.com/office/drawing/2014/main" val="20000"/>
                    </a:ext>
                  </a:extLst>
                </a:gridCol>
              </a:tblGrid>
              <a:tr h="571500">
                <a:tc>
                  <a:txBody>
                    <a:bodyPr/>
                    <a:lstStyle/>
                    <a:p>
                      <a:pPr algn="ctr">
                        <a:buNone/>
                      </a:pPr>
                      <a:r>
                        <a:rPr sz="2400" b="1">
                          <a:solidFill>
                            <a:srgbClr val="A65F00"/>
                          </a:solidFill>
                          <a:latin typeface="Calibri"/>
                          <a:ea typeface="Calibri"/>
                          <a:cs typeface="Calibri"/>
                        </a:rPr>
                        <a:t>7</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buNone/>
                      </a:pPr>
                      <a:r>
                        <a:rPr sz="2400" b="1">
                          <a:solidFill>
                            <a:srgbClr val="A65F00"/>
                          </a:solidFill>
                          <a:latin typeface="Calibri"/>
                          <a:ea typeface="Calibri"/>
                          <a:cs typeface="Calibri"/>
                        </a:rPr>
                        <a:t>-1</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14" name="2 × 3 matrix&#10;6 learned weights">
            <a:extLst>
              <a:ext uri="{FF2B5EF4-FFF2-40B4-BE49-F238E27FC236}">
                <a16:creationId xmlns:a16="http://schemas.microsoft.com/office/drawing/2014/main" id="{84180DFC-0AD1-411D-AF12-002CEC411A8F}"/>
              </a:ext>
            </a:extLst>
          </p:cNvPr>
          <p:cNvSpPr>
            <a:spLocks noGrp="1"/>
          </p:cNvSpPr>
          <p:nvPr/>
        </p:nvSpPr>
        <p:spPr>
          <a:xfrm>
            <a:off x="857250" y="3638550"/>
            <a:ext cx="2667000" cy="504825"/>
          </a:xfrm>
          <a:prstGeom prst="rect">
            <a:avLst/>
          </a:prstGeom>
          <a:noFill/>
          <a:ln w="0">
            <a:noFill/>
          </a:ln>
        </p:spPr>
        <p:txBody>
          <a:bodyPr lIns="0" tIns="0" rIns="0" bIns="0">
            <a:noAutofit/>
          </a:bodyPr>
          <a:lstStyle/>
          <a:p>
            <a:pPr>
              <a:buNone/>
              <a:defRPr sz="1575" b="0">
                <a:solidFill>
                  <a:srgbClr val="065A82"/>
                </a:solidFill>
                <a:latin typeface="Calibri"/>
                <a:ea typeface="Calibri"/>
                <a:cs typeface="Calibri"/>
              </a:defRPr>
            </a:pPr>
            <a:r>
              <a:rPr sz="1575" b="0">
                <a:solidFill>
                  <a:srgbClr val="065A82"/>
                </a:solidFill>
                <a:latin typeface="Calibri"/>
                <a:ea typeface="Calibri"/>
                <a:cs typeface="Calibri"/>
              </a:rPr>
              <a:t>2 × 3 matrix</a:t>
            </a:r>
          </a:p>
          <a:p>
            <a:pPr>
              <a:buNone/>
              <a:defRPr sz="1575" b="0">
                <a:solidFill>
                  <a:srgbClr val="065A82"/>
                </a:solidFill>
                <a:latin typeface="Calibri"/>
                <a:ea typeface="Calibri"/>
                <a:cs typeface="Calibri"/>
              </a:defRPr>
            </a:pPr>
            <a:r>
              <a:rPr sz="1575" b="0">
                <a:solidFill>
                  <a:srgbClr val="065A82"/>
                </a:solidFill>
                <a:latin typeface="Calibri"/>
                <a:ea typeface="Calibri"/>
                <a:cs typeface="Calibri"/>
              </a:rPr>
              <a:t>6 learned weights</a:t>
            </a:r>
          </a:p>
        </p:txBody>
      </p:sp>
      <p:sp>
        <p:nvSpPr>
          <p:cNvPr id="15" name="3 numbers&#10;Input activations">
            <a:extLst>
              <a:ext uri="{FF2B5EF4-FFF2-40B4-BE49-F238E27FC236}">
                <a16:creationId xmlns:a16="http://schemas.microsoft.com/office/drawing/2014/main" id="{BB61CF5B-2E73-42FC-BE8A-E644850D7F6B}"/>
              </a:ext>
            </a:extLst>
          </p:cNvPr>
          <p:cNvSpPr>
            <a:spLocks noGrp="1"/>
          </p:cNvSpPr>
          <p:nvPr/>
        </p:nvSpPr>
        <p:spPr>
          <a:xfrm>
            <a:off x="4276725" y="3638550"/>
            <a:ext cx="2190750" cy="504825"/>
          </a:xfrm>
          <a:prstGeom prst="rect">
            <a:avLst/>
          </a:prstGeom>
          <a:noFill/>
          <a:ln w="0">
            <a:noFill/>
          </a:ln>
        </p:spPr>
        <p:txBody>
          <a:bodyPr lIns="0" tIns="0" rIns="0" bIns="0">
            <a:noAutofit/>
          </a:bodyPr>
          <a:lstStyle/>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3 numbers</a:t>
            </a:r>
          </a:p>
          <a:p>
            <a:pPr>
              <a:buNone/>
              <a:defRPr sz="1575" b="0">
                <a:solidFill>
                  <a:srgbClr val="1E293B"/>
                </a:solidFill>
                <a:latin typeface="Calibri"/>
                <a:ea typeface="Calibri"/>
                <a:cs typeface="Calibri"/>
              </a:defRPr>
            </a:pPr>
            <a:r>
              <a:rPr sz="1575" b="0">
                <a:solidFill>
                  <a:srgbClr val="1E293B"/>
                </a:solidFill>
                <a:latin typeface="Calibri"/>
                <a:ea typeface="Calibri"/>
                <a:cs typeface="Calibri"/>
              </a:rPr>
              <a:t>Input activations</a:t>
            </a:r>
          </a:p>
        </p:txBody>
      </p:sp>
      <p:sp>
        <p:nvSpPr>
          <p:cNvPr id="16" name="2 numbers&#10;Output activations">
            <a:extLst>
              <a:ext uri="{FF2B5EF4-FFF2-40B4-BE49-F238E27FC236}">
                <a16:creationId xmlns:a16="http://schemas.microsoft.com/office/drawing/2014/main" id="{A5F7D0ED-80F2-4C40-A35C-9C26CF9D8911}"/>
              </a:ext>
            </a:extLst>
          </p:cNvPr>
          <p:cNvSpPr>
            <a:spLocks noGrp="1"/>
          </p:cNvSpPr>
          <p:nvPr/>
        </p:nvSpPr>
        <p:spPr>
          <a:xfrm>
            <a:off x="6896100" y="3638550"/>
            <a:ext cx="2000250" cy="504825"/>
          </a:xfrm>
          <a:prstGeom prst="rect">
            <a:avLst/>
          </a:prstGeom>
          <a:noFill/>
          <a:ln w="0">
            <a:noFill/>
          </a:ln>
        </p:spPr>
        <p:txBody>
          <a:bodyPr lIns="0" tIns="0" rIns="0" bIns="0">
            <a:noAutofit/>
          </a:bodyPr>
          <a:lstStyle/>
          <a:p>
            <a:pPr>
              <a:buNone/>
              <a:defRPr sz="1575" b="0">
                <a:solidFill>
                  <a:srgbClr val="A65F00"/>
                </a:solidFill>
                <a:latin typeface="Calibri"/>
                <a:ea typeface="Calibri"/>
                <a:cs typeface="Calibri"/>
              </a:defRPr>
            </a:pPr>
            <a:r>
              <a:rPr sz="1575" b="0">
                <a:solidFill>
                  <a:srgbClr val="A65F00"/>
                </a:solidFill>
                <a:latin typeface="Calibri"/>
                <a:ea typeface="Calibri"/>
                <a:cs typeface="Calibri"/>
              </a:rPr>
              <a:t>2 numbers</a:t>
            </a:r>
          </a:p>
          <a:p>
            <a:pPr>
              <a:buNone/>
              <a:defRPr sz="1575" b="0">
                <a:solidFill>
                  <a:srgbClr val="A65F00"/>
                </a:solidFill>
                <a:latin typeface="Calibri"/>
                <a:ea typeface="Calibri"/>
                <a:cs typeface="Calibri"/>
              </a:defRPr>
            </a:pPr>
            <a:r>
              <a:rPr sz="1575" b="0">
                <a:solidFill>
                  <a:srgbClr val="A65F00"/>
                </a:solidFill>
                <a:latin typeface="Calibri"/>
                <a:ea typeface="Calibri"/>
                <a:cs typeface="Calibri"/>
              </a:rPr>
              <a:t>Output activations</a:t>
            </a:r>
          </a:p>
        </p:txBody>
      </p:sp>
      <p:sp>
        <p:nvSpPr>
          <p:cNvPr id="17" name="First output:  1 × 1 + 0 × 2 + 2 × 3 = 7">
            <a:extLst>
              <a:ext uri="{FF2B5EF4-FFF2-40B4-BE49-F238E27FC236}">
                <a16:creationId xmlns:a16="http://schemas.microsoft.com/office/drawing/2014/main" id="{F4D33730-742F-4BDC-9C24-C90D2BB63584}"/>
              </a:ext>
            </a:extLst>
          </p:cNvPr>
          <p:cNvSpPr>
            <a:spLocks noGrp="1"/>
          </p:cNvSpPr>
          <p:nvPr/>
        </p:nvSpPr>
        <p:spPr>
          <a:xfrm>
            <a:off x="857250" y="4324350"/>
            <a:ext cx="7810500" cy="295275"/>
          </a:xfrm>
          <a:prstGeom prst="rect">
            <a:avLst/>
          </a:prstGeom>
          <a:noFill/>
          <a:ln w="0">
            <a:noFill/>
          </a:ln>
        </p:spPr>
        <p:txBody>
          <a:bodyPr lIns="0" tIns="0" rIns="0" bIns="0">
            <a:noAutofit/>
          </a:bodyPr>
          <a:lstStyle/>
          <a:p>
            <a:pPr>
              <a:buNone/>
              <a:defRPr sz="1800" b="0">
                <a:solidFill>
                  <a:srgbClr val="0D2137"/>
                </a:solidFill>
                <a:latin typeface="Calibri"/>
                <a:ea typeface="Calibri"/>
                <a:cs typeface="Calibri"/>
              </a:defRPr>
            </a:pPr>
            <a:r>
              <a:rPr sz="1800" b="0">
                <a:solidFill>
                  <a:srgbClr val="0D2137"/>
                </a:solidFill>
                <a:latin typeface="Calibri"/>
                <a:ea typeface="Calibri"/>
                <a:cs typeface="Calibri"/>
              </a:rPr>
              <a:t>First output:  1 × 1 + 0 × 2 + 2 × 3 = 7</a:t>
            </a:r>
          </a:p>
        </p:txBody>
      </p:sp>
      <p:sp>
        <p:nvSpPr>
          <p:cNvPr id="18" name="Training can update weights. Each input produces n">
            <a:extLst>
              <a:ext uri="{FF2B5EF4-FFF2-40B4-BE49-F238E27FC236}">
                <a16:creationId xmlns:a16="http://schemas.microsoft.com/office/drawing/2014/main" id="{084825A5-683C-430C-9368-A54966B80544}"/>
              </a:ext>
            </a:extLst>
          </p:cNvPr>
          <p:cNvSpPr>
            <a:spLocks noGrp="1"/>
          </p:cNvSpPr>
          <p:nvPr/>
        </p:nvSpPr>
        <p:spPr>
          <a:xfrm>
            <a:off x="381000" y="4838700"/>
            <a:ext cx="8382000" cy="238125"/>
          </a:xfrm>
          <a:prstGeom prst="rect">
            <a:avLst/>
          </a:prstGeom>
          <a:noFill/>
          <a:ln w="0">
            <a:noFill/>
          </a:ln>
        </p:spPr>
        <p:txBody>
          <a:bodyPr lIns="0" tIns="0" rIns="0" bIns="0">
            <a:noAutofit/>
          </a:bodyPr>
          <a:lstStyle/>
          <a:p>
            <a:pPr>
              <a:buNone/>
              <a:defRPr sz="1575" b="1">
                <a:solidFill>
                  <a:srgbClr val="065A82"/>
                </a:solidFill>
                <a:latin typeface="Calibri"/>
                <a:ea typeface="Calibri"/>
                <a:cs typeface="Calibri"/>
              </a:defRPr>
            </a:pPr>
            <a:r>
              <a:rPr sz="1575" b="1">
                <a:solidFill>
                  <a:srgbClr val="065A82"/>
                </a:solidFill>
                <a:latin typeface="Calibri"/>
                <a:ea typeface="Calibri"/>
                <a:cs typeface="Calibri"/>
              </a:rPr>
              <a:t>Training can update weights. Each input produces new activations.</a:t>
            </a:r>
          </a:p>
        </p:txBody>
      </p:sp>
    </p:spTree>
    <p:extLst>
      <p:ext uri="{BB962C8B-B14F-4D97-AF65-F5344CB8AC3E}">
        <p14:creationId xmlns:p14="http://schemas.microsoft.com/office/powerpoint/2010/main" val="2061924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Attention: connecting tokens through context">
            <a:extLst>
              <a:ext uri="{FF2B5EF4-FFF2-40B4-BE49-F238E27FC236}">
                <a16:creationId xmlns:a16="http://schemas.microsoft.com/office/drawing/2014/main" id="{C32C1BBC-BB45-4CE7-B366-E4588E21DDFE}"/>
              </a:ext>
            </a:extLst>
          </p:cNvPr>
          <p:cNvSpPr>
            <a:spLocks noGrp="1"/>
          </p:cNvSpPr>
          <p:nvPr/>
        </p:nvSpPr>
        <p:spPr>
          <a:xfrm>
            <a:off x="381000" y="485775"/>
            <a:ext cx="8229600" cy="276225"/>
          </a:xfrm>
          <a:prstGeom prst="rect">
            <a:avLst/>
          </a:prstGeom>
          <a:noFill/>
          <a:ln w="0">
            <a:noFill/>
          </a:ln>
        </p:spPr>
        <p:txBody>
          <a:bodyPr lIns="0" tIns="0" rIns="0" bIns="0">
            <a:noAutofit/>
          </a:bodyPr>
          <a:lstStyle/>
          <a:p>
            <a:pPr>
              <a:buNone/>
              <a:defRPr sz="1575" b="0">
                <a:solidFill>
                  <a:srgbClr val="F59E0B"/>
                </a:solidFill>
                <a:latin typeface="Calibri"/>
                <a:ea typeface="Calibri"/>
                <a:cs typeface="Calibri"/>
              </a:defRPr>
            </a:pPr>
            <a:r>
              <a:rPr sz="1575" b="0">
                <a:solidFill>
                  <a:srgbClr val="F59E0B"/>
                </a:solidFill>
                <a:latin typeface="Calibri"/>
                <a:ea typeface="Calibri"/>
                <a:cs typeface="Calibri"/>
              </a:rPr>
              <a:t>Attention: connecting tokens through context</a:t>
            </a:r>
          </a:p>
        </p:txBody>
      </p:sp>
      <p:sp>
        <p:nvSpPr>
          <p:cNvPr id="5" name="“The cat slept because it was tired.”">
            <a:extLst>
              <a:ext uri="{FF2B5EF4-FFF2-40B4-BE49-F238E27FC236}">
                <a16:creationId xmlns:a16="http://schemas.microsoft.com/office/drawing/2014/main" id="{73042F11-7883-481C-AA5B-AC6F5B4BBA70}"/>
              </a:ext>
            </a:extLst>
          </p:cNvPr>
          <p:cNvSpPr>
            <a:spLocks noGrp="1"/>
          </p:cNvSpPr>
          <p:nvPr/>
        </p:nvSpPr>
        <p:spPr>
          <a:xfrm>
            <a:off x="381000" y="1019175"/>
            <a:ext cx="8382000" cy="352425"/>
          </a:xfrm>
          <a:prstGeom prst="rect">
            <a:avLst/>
          </a:prstGeom>
          <a:noFill/>
          <a:ln w="0">
            <a:noFill/>
          </a:ln>
        </p:spPr>
        <p:txBody>
          <a:bodyPr lIns="0" tIns="0" rIns="0" bIns="0">
            <a:noAutofit/>
          </a:bodyPr>
          <a:lstStyle/>
          <a:p>
            <a:pPr>
              <a:buNone/>
              <a:defRPr sz="2025" b="1">
                <a:solidFill>
                  <a:srgbClr val="0D2137"/>
                </a:solidFill>
                <a:latin typeface="Georgia"/>
                <a:ea typeface="Georgia"/>
                <a:cs typeface="Georgia"/>
              </a:defRPr>
            </a:pPr>
            <a:r>
              <a:rPr sz="2025" b="1">
                <a:solidFill>
                  <a:srgbClr val="0D2137"/>
                </a:solidFill>
                <a:latin typeface="Georgia"/>
                <a:ea typeface="Georgia"/>
                <a:cs typeface="Georgia"/>
              </a:rPr>
              <a:t>“The cat slept because it was tired.”</a:t>
            </a:r>
          </a:p>
        </p:txBody>
      </p:sp>
      <p:sp>
        <p:nvSpPr>
          <p:cNvPr id="6" name="One head: each row gathers from the columns">
            <a:extLst>
              <a:ext uri="{FF2B5EF4-FFF2-40B4-BE49-F238E27FC236}">
                <a16:creationId xmlns:a16="http://schemas.microsoft.com/office/drawing/2014/main" id="{A9B0E909-869D-49F6-9A5B-E0F51B58B8C5}"/>
              </a:ext>
            </a:extLst>
          </p:cNvPr>
          <p:cNvSpPr>
            <a:spLocks noGrp="1"/>
          </p:cNvSpPr>
          <p:nvPr/>
        </p:nvSpPr>
        <p:spPr>
          <a:xfrm>
            <a:off x="381000" y="1319212"/>
            <a:ext cx="4857750" cy="257175"/>
          </a:xfrm>
          <a:prstGeom prst="rect">
            <a:avLst/>
          </a:prstGeom>
          <a:noFill/>
          <a:ln w="0">
            <a:noFill/>
          </a:ln>
        </p:spPr>
        <p:txBody>
          <a:bodyPr lIns="0" tIns="0" rIns="0" bIns="0">
            <a:noAutofit/>
          </a:bodyPr>
          <a:lstStyle/>
          <a:p>
            <a:pPr>
              <a:buNone/>
              <a:defRPr sz="1500" b="1">
                <a:solidFill>
                  <a:srgbClr val="065A82"/>
                </a:solidFill>
                <a:latin typeface="Calibri"/>
                <a:ea typeface="Calibri"/>
                <a:cs typeface="Calibri"/>
              </a:defRPr>
            </a:pPr>
            <a:r>
              <a:rPr sz="1500" b="1" dirty="0">
                <a:solidFill>
                  <a:srgbClr val="065A82"/>
                </a:solidFill>
                <a:latin typeface="Calibri"/>
                <a:ea typeface="Calibri"/>
                <a:cs typeface="Calibri"/>
              </a:rPr>
              <a:t>One head: each row gathers from the columns</a:t>
            </a:r>
          </a:p>
        </p:txBody>
      </p:sp>
      <p:graphicFrame>
        <p:nvGraphicFramePr>
          <p:cNvPr id="25" name="Table 24"/>
          <p:cNvGraphicFramePr/>
          <p:nvPr>
            <p:extLst>
              <p:ext uri="{D42A27DB-BD31-4B8C-83A1-F6EECF244321}">
                <p14:modId xmlns:p14="http://schemas.microsoft.com/office/powerpoint/2010/main" val="899224603"/>
              </p:ext>
            </p:extLst>
          </p:nvPr>
        </p:nvGraphicFramePr>
        <p:xfrm>
          <a:off x="381000" y="1556401"/>
          <a:ext cx="4953000" cy="3202305"/>
        </p:xfrm>
        <a:graphic>
          <a:graphicData uri="http://schemas.openxmlformats.org/drawingml/2006/table">
            <a:tbl>
              <a:tblPr/>
              <a:tblGrid>
                <a:gridCol w="742950">
                  <a:extLst>
                    <a:ext uri="{9D8B030D-6E8A-4147-A177-3AD203B41FA5}">
                      <a16:colId xmlns:a16="http://schemas.microsoft.com/office/drawing/2014/main" val="20000"/>
                    </a:ext>
                  </a:extLst>
                </a:gridCol>
                <a:gridCol w="466725">
                  <a:extLst>
                    <a:ext uri="{9D8B030D-6E8A-4147-A177-3AD203B41FA5}">
                      <a16:colId xmlns:a16="http://schemas.microsoft.com/office/drawing/2014/main" val="20001"/>
                    </a:ext>
                  </a:extLst>
                </a:gridCol>
                <a:gridCol w="466725">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66725">
                  <a:extLst>
                    <a:ext uri="{9D8B030D-6E8A-4147-A177-3AD203B41FA5}">
                      <a16:colId xmlns:a16="http://schemas.microsoft.com/office/drawing/2014/main" val="20006"/>
                    </a:ext>
                  </a:extLst>
                </a:gridCol>
                <a:gridCol w="571500">
                  <a:extLst>
                    <a:ext uri="{9D8B030D-6E8A-4147-A177-3AD203B41FA5}">
                      <a16:colId xmlns:a16="http://schemas.microsoft.com/office/drawing/2014/main" val="20007"/>
                    </a:ext>
                  </a:extLst>
                </a:gridCol>
                <a:gridCol w="447675">
                  <a:extLst>
                    <a:ext uri="{9D8B030D-6E8A-4147-A177-3AD203B41FA5}">
                      <a16:colId xmlns:a16="http://schemas.microsoft.com/office/drawing/2014/main" val="20008"/>
                    </a:ext>
                  </a:extLst>
                </a:gridCol>
              </a:tblGrid>
              <a:tr h="276225">
                <a:tc>
                  <a:txBody>
                    <a:bodyPr/>
                    <a:lstStyle/>
                    <a:p>
                      <a:endParaRPr/>
                    </a:p>
                  </a:txBody>
                  <a:tcPr anchor="ctr">
                    <a:solidFill>
                      <a:srgbClr val="065A82"/>
                    </a:solidFill>
                  </a:tcPr>
                </a:tc>
                <a:tc>
                  <a:txBody>
                    <a:bodyPr/>
                    <a:lstStyle/>
                    <a:p>
                      <a:pPr algn="ctr">
                        <a:buNone/>
                      </a:pPr>
                      <a:r>
                        <a:rPr sz="975" b="1">
                          <a:solidFill>
                            <a:srgbClr val="FFFFFF"/>
                          </a:solidFill>
                          <a:latin typeface="Calibri"/>
                          <a:ea typeface="Calibri"/>
                          <a:cs typeface="Calibri"/>
                        </a:rPr>
                        <a:t>The</a:t>
                      </a:r>
                    </a:p>
                  </a:txBody>
                  <a:tcPr anchor="ctr">
                    <a:solidFill>
                      <a:srgbClr val="065A82"/>
                    </a:solidFill>
                  </a:tcPr>
                </a:tc>
                <a:tc>
                  <a:txBody>
                    <a:bodyPr/>
                    <a:lstStyle/>
                    <a:p>
                      <a:pPr algn="ctr">
                        <a:buNone/>
                      </a:pPr>
                      <a:r>
                        <a:rPr sz="975" b="1">
                          <a:solidFill>
                            <a:srgbClr val="FFFFFF"/>
                          </a:solidFill>
                          <a:latin typeface="Calibri"/>
                          <a:ea typeface="Calibri"/>
                          <a:cs typeface="Calibri"/>
                        </a:rPr>
                        <a:t>cat</a:t>
                      </a:r>
                    </a:p>
                  </a:txBody>
                  <a:tcPr anchor="ctr">
                    <a:solidFill>
                      <a:srgbClr val="065A82"/>
                    </a:solidFill>
                  </a:tcPr>
                </a:tc>
                <a:tc>
                  <a:txBody>
                    <a:bodyPr/>
                    <a:lstStyle/>
                    <a:p>
                      <a:pPr algn="ctr">
                        <a:buNone/>
                      </a:pPr>
                      <a:r>
                        <a:rPr sz="975" b="1">
                          <a:solidFill>
                            <a:srgbClr val="FFFFFF"/>
                          </a:solidFill>
                          <a:latin typeface="Calibri"/>
                          <a:ea typeface="Calibri"/>
                          <a:cs typeface="Calibri"/>
                        </a:rPr>
                        <a:t>slept</a:t>
                      </a:r>
                    </a:p>
                  </a:txBody>
                  <a:tcPr anchor="ctr">
                    <a:solidFill>
                      <a:srgbClr val="065A82"/>
                    </a:solidFill>
                  </a:tcPr>
                </a:tc>
                <a:tc>
                  <a:txBody>
                    <a:bodyPr/>
                    <a:lstStyle/>
                    <a:p>
                      <a:pPr algn="ctr">
                        <a:buNone/>
                      </a:pPr>
                      <a:r>
                        <a:rPr sz="975" b="1">
                          <a:solidFill>
                            <a:srgbClr val="FFFFFF"/>
                          </a:solidFill>
                          <a:latin typeface="Calibri"/>
                          <a:ea typeface="Calibri"/>
                          <a:cs typeface="Calibri"/>
                        </a:rPr>
                        <a:t>because</a:t>
                      </a:r>
                    </a:p>
                  </a:txBody>
                  <a:tcPr anchor="ctr">
                    <a:solidFill>
                      <a:srgbClr val="065A82"/>
                    </a:solidFill>
                  </a:tcPr>
                </a:tc>
                <a:tc>
                  <a:txBody>
                    <a:bodyPr/>
                    <a:lstStyle/>
                    <a:p>
                      <a:pPr algn="ctr">
                        <a:buNone/>
                      </a:pPr>
                      <a:r>
                        <a:rPr sz="975" b="1">
                          <a:solidFill>
                            <a:srgbClr val="FFFFFF"/>
                          </a:solidFill>
                          <a:latin typeface="Calibri"/>
                          <a:ea typeface="Calibri"/>
                          <a:cs typeface="Calibri"/>
                        </a:rPr>
                        <a:t>it</a:t>
                      </a:r>
                    </a:p>
                  </a:txBody>
                  <a:tcPr anchor="ctr">
                    <a:solidFill>
                      <a:srgbClr val="065A82"/>
                    </a:solidFill>
                  </a:tcPr>
                </a:tc>
                <a:tc>
                  <a:txBody>
                    <a:bodyPr/>
                    <a:lstStyle/>
                    <a:p>
                      <a:pPr algn="ctr">
                        <a:buNone/>
                      </a:pPr>
                      <a:r>
                        <a:rPr sz="975" b="1">
                          <a:solidFill>
                            <a:srgbClr val="FFFFFF"/>
                          </a:solidFill>
                          <a:latin typeface="Calibri"/>
                          <a:ea typeface="Calibri"/>
                          <a:cs typeface="Calibri"/>
                        </a:rPr>
                        <a:t>was</a:t>
                      </a:r>
                    </a:p>
                  </a:txBody>
                  <a:tcPr anchor="ctr">
                    <a:solidFill>
                      <a:srgbClr val="065A82"/>
                    </a:solidFill>
                  </a:tcPr>
                </a:tc>
                <a:tc>
                  <a:txBody>
                    <a:bodyPr/>
                    <a:lstStyle/>
                    <a:p>
                      <a:pPr algn="ctr">
                        <a:buNone/>
                      </a:pPr>
                      <a:r>
                        <a:rPr sz="975" b="1">
                          <a:solidFill>
                            <a:srgbClr val="FFFFFF"/>
                          </a:solidFill>
                          <a:latin typeface="Calibri"/>
                          <a:ea typeface="Calibri"/>
                          <a:cs typeface="Calibri"/>
                        </a:rPr>
                        <a:t>tired</a:t>
                      </a:r>
                    </a:p>
                  </a:txBody>
                  <a:tcPr anchor="ctr">
                    <a:solidFill>
                      <a:srgbClr val="065A82"/>
                    </a:solidFill>
                  </a:tcPr>
                </a:tc>
                <a:tc>
                  <a:txBody>
                    <a:bodyPr/>
                    <a:lstStyle/>
                    <a:p>
                      <a:pPr algn="ctr">
                        <a:buNone/>
                      </a:pPr>
                      <a:r>
                        <a:rPr sz="975" b="1">
                          <a:solidFill>
                            <a:srgbClr val="FFFFFF"/>
                          </a:solidFill>
                          <a:latin typeface="Calibri"/>
                          <a:ea typeface="Calibri"/>
                          <a:cs typeface="Calibri"/>
                        </a:rPr>
                        <a:t>.</a:t>
                      </a:r>
                    </a:p>
                  </a:txBody>
                  <a:tcPr anchor="ctr">
                    <a:solidFill>
                      <a:srgbClr val="065A82"/>
                    </a:solidFill>
                  </a:tcPr>
                </a:tc>
                <a:extLst>
                  <a:ext uri="{0D108BD9-81ED-4DB2-BD59-A6C34878D82A}">
                    <a16:rowId xmlns:a16="http://schemas.microsoft.com/office/drawing/2014/main" val="10000"/>
                  </a:ext>
                </a:extLst>
              </a:tr>
              <a:tr h="276225">
                <a:tc>
                  <a:txBody>
                    <a:bodyPr/>
                    <a:lstStyle/>
                    <a:p>
                      <a:pPr algn="ctr">
                        <a:buNone/>
                      </a:pPr>
                      <a:r>
                        <a:rPr sz="975" b="1">
                          <a:solidFill>
                            <a:srgbClr val="FFFFFF"/>
                          </a:solidFill>
                          <a:latin typeface="Calibri"/>
                          <a:ea typeface="Calibri"/>
                          <a:cs typeface="Calibri"/>
                        </a:rPr>
                        <a:t>The</a:t>
                      </a:r>
                    </a:p>
                  </a:txBody>
                  <a:tcPr anchor="ctr">
                    <a:solidFill>
                      <a:srgbClr val="065A82"/>
                    </a:solidFill>
                  </a:tcPr>
                </a:tc>
                <a:tc>
                  <a:txBody>
                    <a:bodyPr/>
                    <a:lstStyle/>
                    <a:p>
                      <a:endParaRPr/>
                    </a:p>
                  </a:txBody>
                  <a:tcPr anchor="ctr">
                    <a:solidFill>
                      <a:srgbClr val="005279"/>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dirty="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1"/>
                  </a:ext>
                </a:extLst>
              </a:tr>
              <a:tr h="276225">
                <a:tc>
                  <a:txBody>
                    <a:bodyPr/>
                    <a:lstStyle/>
                    <a:p>
                      <a:pPr algn="ctr">
                        <a:buNone/>
                      </a:pPr>
                      <a:r>
                        <a:rPr sz="975" b="1">
                          <a:solidFill>
                            <a:srgbClr val="FFFFFF"/>
                          </a:solidFill>
                          <a:latin typeface="Calibri"/>
                          <a:ea typeface="Calibri"/>
                          <a:cs typeface="Calibri"/>
                        </a:rPr>
                        <a:t>cat</a:t>
                      </a:r>
                    </a:p>
                  </a:txBody>
                  <a:tcPr anchor="ctr">
                    <a:solidFill>
                      <a:srgbClr val="065A82"/>
                    </a:solidFill>
                  </a:tcPr>
                </a:tc>
                <a:tc>
                  <a:txBody>
                    <a:bodyPr/>
                    <a:lstStyle/>
                    <a:p>
                      <a:endParaRPr/>
                    </a:p>
                  </a:txBody>
                  <a:tcPr anchor="ctr">
                    <a:solidFill>
                      <a:srgbClr val="82ACC0"/>
                    </a:solidFill>
                  </a:tcPr>
                </a:tc>
                <a:tc>
                  <a:txBody>
                    <a:bodyPr/>
                    <a:lstStyle/>
                    <a:p>
                      <a:endParaRPr/>
                    </a:p>
                  </a:txBody>
                  <a:tcPr anchor="ctr">
                    <a:solidFill>
                      <a:srgbClr val="196387"/>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2"/>
                  </a:ext>
                </a:extLst>
              </a:tr>
              <a:tr h="276225">
                <a:tc>
                  <a:txBody>
                    <a:bodyPr/>
                    <a:lstStyle/>
                    <a:p>
                      <a:pPr algn="ctr">
                        <a:buNone/>
                      </a:pPr>
                      <a:r>
                        <a:rPr sz="975" b="1">
                          <a:solidFill>
                            <a:srgbClr val="FFFFFF"/>
                          </a:solidFill>
                          <a:latin typeface="Calibri"/>
                          <a:ea typeface="Calibri"/>
                          <a:cs typeface="Calibri"/>
                        </a:rPr>
                        <a:t>slept</a:t>
                      </a:r>
                    </a:p>
                  </a:txBody>
                  <a:tcPr anchor="ctr">
                    <a:solidFill>
                      <a:srgbClr val="065A82"/>
                    </a:solidFill>
                  </a:tcPr>
                </a:tc>
                <a:tc>
                  <a:txBody>
                    <a:bodyPr/>
                    <a:lstStyle/>
                    <a:p>
                      <a:endParaRPr/>
                    </a:p>
                  </a:txBody>
                  <a:tcPr anchor="ctr">
                    <a:solidFill>
                      <a:srgbClr val="A1C1D1"/>
                    </a:solidFill>
                  </a:tcPr>
                </a:tc>
                <a:tc>
                  <a:txBody>
                    <a:bodyPr/>
                    <a:lstStyle/>
                    <a:p>
                      <a:endParaRPr/>
                    </a:p>
                  </a:txBody>
                  <a:tcPr anchor="ctr">
                    <a:solidFill>
                      <a:srgbClr val="4D88A3"/>
                    </a:solidFill>
                  </a:tcPr>
                </a:tc>
                <a:tc>
                  <a:txBody>
                    <a:bodyPr/>
                    <a:lstStyle/>
                    <a:p>
                      <a:endParaRPr/>
                    </a:p>
                  </a:txBody>
                  <a:tcPr anchor="ctr">
                    <a:solidFill>
                      <a:srgbClr val="4D88A3"/>
                    </a:solidFill>
                  </a:tcPr>
                </a:tc>
                <a:tc>
                  <a:txBody>
                    <a:bodyPr/>
                    <a:lstStyle/>
                    <a:p>
                      <a:pPr algn="ctr">
                        <a:buNone/>
                      </a:pPr>
                      <a:r>
                        <a:rPr sz="938" b="0" dirty="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3"/>
                  </a:ext>
                </a:extLst>
              </a:tr>
              <a:tr h="276225">
                <a:tc>
                  <a:txBody>
                    <a:bodyPr/>
                    <a:lstStyle/>
                    <a:p>
                      <a:pPr algn="ctr">
                        <a:buNone/>
                      </a:pPr>
                      <a:r>
                        <a:rPr sz="975" b="1">
                          <a:solidFill>
                            <a:srgbClr val="FFFFFF"/>
                          </a:solidFill>
                          <a:latin typeface="Calibri"/>
                          <a:ea typeface="Calibri"/>
                          <a:cs typeface="Calibri"/>
                        </a:rPr>
                        <a:t>because</a:t>
                      </a:r>
                    </a:p>
                  </a:txBody>
                  <a:tcPr anchor="ctr">
                    <a:solidFill>
                      <a:srgbClr val="065A82"/>
                    </a:solidFill>
                  </a:tcPr>
                </a:tc>
                <a:tc>
                  <a:txBody>
                    <a:bodyPr/>
                    <a:lstStyle/>
                    <a:p>
                      <a:endParaRPr/>
                    </a:p>
                  </a:txBody>
                  <a:tcPr anchor="ctr">
                    <a:solidFill>
                      <a:srgbClr val="A1C1D1"/>
                    </a:solidFill>
                  </a:tcPr>
                </a:tc>
                <a:tc>
                  <a:txBody>
                    <a:bodyPr/>
                    <a:lstStyle/>
                    <a:p>
                      <a:endParaRPr/>
                    </a:p>
                  </a:txBody>
                  <a:tcPr anchor="ctr">
                    <a:solidFill>
                      <a:srgbClr val="82ACC0"/>
                    </a:solidFill>
                  </a:tcPr>
                </a:tc>
                <a:tc>
                  <a:txBody>
                    <a:bodyPr/>
                    <a:lstStyle/>
                    <a:p>
                      <a:endParaRPr/>
                    </a:p>
                  </a:txBody>
                  <a:tcPr anchor="ctr">
                    <a:solidFill>
                      <a:srgbClr val="82ACC0"/>
                    </a:solidFill>
                  </a:tcPr>
                </a:tc>
                <a:tc>
                  <a:txBody>
                    <a:bodyPr/>
                    <a:lstStyle/>
                    <a:p>
                      <a:endParaRPr/>
                    </a:p>
                  </a:txBody>
                  <a:tcPr anchor="ctr">
                    <a:solidFill>
                      <a:srgbClr val="45829F"/>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4"/>
                  </a:ext>
                </a:extLst>
              </a:tr>
              <a:tr h="276225">
                <a:tc>
                  <a:txBody>
                    <a:bodyPr/>
                    <a:lstStyle/>
                    <a:p>
                      <a:pPr algn="ctr">
                        <a:buNone/>
                      </a:pPr>
                      <a:r>
                        <a:rPr sz="975" b="1">
                          <a:solidFill>
                            <a:srgbClr val="FFFFFF"/>
                          </a:solidFill>
                          <a:latin typeface="Calibri"/>
                          <a:ea typeface="Calibri"/>
                          <a:cs typeface="Calibri"/>
                        </a:rPr>
                        <a:t>it</a:t>
                      </a:r>
                    </a:p>
                  </a:txBody>
                  <a:tcPr anchor="ctr">
                    <a:solidFill>
                      <a:srgbClr val="F59E0B"/>
                    </a:solidFill>
                  </a:tcPr>
                </a:tc>
                <a:tc>
                  <a:txBody>
                    <a:bodyPr/>
                    <a:lstStyle/>
                    <a:p>
                      <a:pPr algn="ctr">
                        <a:buNone/>
                      </a:pPr>
                      <a:r>
                        <a:rPr sz="938" b="1">
                          <a:solidFill>
                            <a:srgbClr val="1E293B"/>
                          </a:solidFill>
                          <a:latin typeface="Calibri"/>
                          <a:ea typeface="Calibri"/>
                          <a:cs typeface="Calibri"/>
                        </a:rPr>
                        <a:t>5%</a:t>
                      </a:r>
                    </a:p>
                  </a:txBody>
                  <a:tcPr anchor="ctr">
                    <a:solidFill>
                      <a:srgbClr val="EAD1AC"/>
                    </a:solidFill>
                  </a:tcPr>
                </a:tc>
                <a:tc>
                  <a:txBody>
                    <a:bodyPr/>
                    <a:lstStyle/>
                    <a:p>
                      <a:pPr algn="ctr">
                        <a:buNone/>
                      </a:pPr>
                      <a:r>
                        <a:rPr sz="938" b="1">
                          <a:solidFill>
                            <a:srgbClr val="FFFFFF"/>
                          </a:solidFill>
                          <a:latin typeface="Calibri"/>
                          <a:ea typeface="Calibri"/>
                          <a:cs typeface="Calibri"/>
                        </a:rPr>
                        <a:t>55%</a:t>
                      </a:r>
                    </a:p>
                  </a:txBody>
                  <a:tcPr anchor="ctr">
                    <a:solidFill>
                      <a:srgbClr val="B88039"/>
                    </a:solidFill>
                  </a:tcPr>
                </a:tc>
                <a:tc>
                  <a:txBody>
                    <a:bodyPr/>
                    <a:lstStyle/>
                    <a:p>
                      <a:pPr algn="ctr">
                        <a:buNone/>
                      </a:pPr>
                      <a:r>
                        <a:rPr sz="938" b="1">
                          <a:solidFill>
                            <a:srgbClr val="1E293B"/>
                          </a:solidFill>
                          <a:latin typeface="Calibri"/>
                          <a:ea typeface="Calibri"/>
                          <a:cs typeface="Calibri"/>
                        </a:rPr>
                        <a:t>10%</a:t>
                      </a:r>
                    </a:p>
                  </a:txBody>
                  <a:tcPr anchor="ctr">
                    <a:solidFill>
                      <a:srgbClr val="E1C398"/>
                    </a:solidFill>
                  </a:tcPr>
                </a:tc>
                <a:tc>
                  <a:txBody>
                    <a:bodyPr/>
                    <a:lstStyle/>
                    <a:p>
                      <a:pPr algn="ctr">
                        <a:buNone/>
                      </a:pPr>
                      <a:r>
                        <a:rPr sz="938" b="1">
                          <a:solidFill>
                            <a:srgbClr val="1E293B"/>
                          </a:solidFill>
                          <a:latin typeface="Calibri"/>
                          <a:ea typeface="Calibri"/>
                          <a:cs typeface="Calibri"/>
                        </a:rPr>
                        <a:t>10%</a:t>
                      </a:r>
                    </a:p>
                  </a:txBody>
                  <a:tcPr anchor="ctr">
                    <a:solidFill>
                      <a:srgbClr val="E1C398"/>
                    </a:solidFill>
                  </a:tcPr>
                </a:tc>
                <a:tc>
                  <a:txBody>
                    <a:bodyPr/>
                    <a:lstStyle/>
                    <a:p>
                      <a:pPr algn="ctr">
                        <a:buNone/>
                      </a:pPr>
                      <a:r>
                        <a:rPr sz="938" b="1">
                          <a:solidFill>
                            <a:srgbClr val="1E293B"/>
                          </a:solidFill>
                          <a:latin typeface="Calibri"/>
                          <a:ea typeface="Calibri"/>
                          <a:cs typeface="Calibri"/>
                        </a:rPr>
                        <a:t>20%</a:t>
                      </a:r>
                    </a:p>
                  </a:txBody>
                  <a:tcPr anchor="ctr">
                    <a:solidFill>
                      <a:srgbClr val="D4AE7B"/>
                    </a:solidFill>
                  </a:tcPr>
                </a:tc>
                <a:tc>
                  <a:txBody>
                    <a:bodyPr/>
                    <a:lstStyle/>
                    <a:p>
                      <a:pPr algn="ctr">
                        <a:buNone/>
                      </a:pPr>
                      <a:r>
                        <a:rPr sz="938" b="1">
                          <a:solidFill>
                            <a:srgbClr val="7D8793"/>
                          </a:solidFill>
                          <a:latin typeface="Calibri"/>
                          <a:ea typeface="Calibri"/>
                          <a:cs typeface="Calibri"/>
                        </a:rPr>
                        <a:t>×</a:t>
                      </a:r>
                    </a:p>
                  </a:txBody>
                  <a:tcPr anchor="ctr">
                    <a:solidFill>
                      <a:srgbClr val="E6E9ED"/>
                    </a:solidFill>
                  </a:tcPr>
                </a:tc>
                <a:tc>
                  <a:txBody>
                    <a:bodyPr/>
                    <a:lstStyle/>
                    <a:p>
                      <a:pPr algn="ctr">
                        <a:buNone/>
                      </a:pPr>
                      <a:r>
                        <a:rPr sz="938" b="1">
                          <a:solidFill>
                            <a:srgbClr val="7D8793"/>
                          </a:solidFill>
                          <a:latin typeface="Calibri"/>
                          <a:ea typeface="Calibri"/>
                          <a:cs typeface="Calibri"/>
                        </a:rPr>
                        <a:t>×</a:t>
                      </a:r>
                    </a:p>
                  </a:txBody>
                  <a:tcPr anchor="ctr">
                    <a:solidFill>
                      <a:srgbClr val="E6E9ED"/>
                    </a:solidFill>
                  </a:tcPr>
                </a:tc>
                <a:tc>
                  <a:txBody>
                    <a:bodyPr/>
                    <a:lstStyle/>
                    <a:p>
                      <a:pPr algn="ctr">
                        <a:buNone/>
                      </a:pPr>
                      <a:r>
                        <a:rPr sz="938" b="1">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5"/>
                  </a:ext>
                </a:extLst>
              </a:tr>
              <a:tr h="276225">
                <a:tc>
                  <a:txBody>
                    <a:bodyPr/>
                    <a:lstStyle/>
                    <a:p>
                      <a:pPr algn="ctr">
                        <a:buNone/>
                      </a:pPr>
                      <a:r>
                        <a:rPr sz="975" b="1">
                          <a:solidFill>
                            <a:srgbClr val="FFFFFF"/>
                          </a:solidFill>
                          <a:latin typeface="Calibri"/>
                          <a:ea typeface="Calibri"/>
                          <a:cs typeface="Calibri"/>
                        </a:rPr>
                        <a:t>was</a:t>
                      </a:r>
                    </a:p>
                  </a:txBody>
                  <a:tcPr anchor="ctr">
                    <a:solidFill>
                      <a:srgbClr val="065A82"/>
                    </a:solidFill>
                  </a:tcPr>
                </a:tc>
                <a:tc>
                  <a:txBody>
                    <a:bodyPr/>
                    <a:lstStyle/>
                    <a:p>
                      <a:endParaRPr/>
                    </a:p>
                  </a:txBody>
                  <a:tcPr anchor="ctr">
                    <a:solidFill>
                      <a:srgbClr val="B6D1DD"/>
                    </a:solidFill>
                  </a:tcPr>
                </a:tc>
                <a:tc>
                  <a:txBody>
                    <a:bodyPr/>
                    <a:lstStyle/>
                    <a:p>
                      <a:endParaRPr/>
                    </a:p>
                  </a:txBody>
                  <a:tcPr anchor="ctr">
                    <a:solidFill>
                      <a:srgbClr val="82ACC0"/>
                    </a:solidFill>
                  </a:tcPr>
                </a:tc>
                <a:tc>
                  <a:txBody>
                    <a:bodyPr/>
                    <a:lstStyle/>
                    <a:p>
                      <a:endParaRPr/>
                    </a:p>
                  </a:txBody>
                  <a:tcPr anchor="ctr">
                    <a:solidFill>
                      <a:srgbClr val="A1C1D1"/>
                    </a:solidFill>
                  </a:tcPr>
                </a:tc>
                <a:tc>
                  <a:txBody>
                    <a:bodyPr/>
                    <a:lstStyle/>
                    <a:p>
                      <a:endParaRPr/>
                    </a:p>
                  </a:txBody>
                  <a:tcPr anchor="ctr">
                    <a:solidFill>
                      <a:srgbClr val="A1C1D1"/>
                    </a:solidFill>
                  </a:tcPr>
                </a:tc>
                <a:tc>
                  <a:txBody>
                    <a:bodyPr/>
                    <a:lstStyle/>
                    <a:p>
                      <a:endParaRPr/>
                    </a:p>
                  </a:txBody>
                  <a:tcPr anchor="ctr">
                    <a:solidFill>
                      <a:srgbClr val="6095AE"/>
                    </a:solidFill>
                  </a:tcPr>
                </a:tc>
                <a:tc>
                  <a:txBody>
                    <a:bodyPr/>
                    <a:lstStyle/>
                    <a:p>
                      <a:endParaRPr/>
                    </a:p>
                  </a:txBody>
                  <a:tcPr anchor="ctr">
                    <a:solidFill>
                      <a:srgbClr val="82ACC0"/>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6"/>
                  </a:ext>
                </a:extLst>
              </a:tr>
              <a:tr h="276225">
                <a:tc>
                  <a:txBody>
                    <a:bodyPr/>
                    <a:lstStyle/>
                    <a:p>
                      <a:pPr algn="ctr">
                        <a:buNone/>
                      </a:pPr>
                      <a:r>
                        <a:rPr sz="975" b="1">
                          <a:solidFill>
                            <a:srgbClr val="FFFFFF"/>
                          </a:solidFill>
                          <a:latin typeface="Calibri"/>
                          <a:ea typeface="Calibri"/>
                          <a:cs typeface="Calibri"/>
                        </a:rPr>
                        <a:t>tired</a:t>
                      </a:r>
                    </a:p>
                  </a:txBody>
                  <a:tcPr anchor="ctr">
                    <a:solidFill>
                      <a:srgbClr val="065A82"/>
                    </a:solidFill>
                  </a:tcPr>
                </a:tc>
                <a:tc>
                  <a:txBody>
                    <a:bodyPr/>
                    <a:lstStyle/>
                    <a:p>
                      <a:endParaRPr/>
                    </a:p>
                  </a:txBody>
                  <a:tcPr anchor="ctr">
                    <a:solidFill>
                      <a:srgbClr val="C2D9E4"/>
                    </a:solidFill>
                  </a:tcPr>
                </a:tc>
                <a:tc>
                  <a:txBody>
                    <a:bodyPr/>
                    <a:lstStyle/>
                    <a:p>
                      <a:endParaRPr/>
                    </a:p>
                  </a:txBody>
                  <a:tcPr anchor="ctr">
                    <a:solidFill>
                      <a:srgbClr val="82ACC0"/>
                    </a:solidFill>
                  </a:tcPr>
                </a:tc>
                <a:tc>
                  <a:txBody>
                    <a:bodyPr/>
                    <a:lstStyle/>
                    <a:p>
                      <a:endParaRPr/>
                    </a:p>
                  </a:txBody>
                  <a:tcPr anchor="ctr">
                    <a:solidFill>
                      <a:srgbClr val="90B6C8"/>
                    </a:solidFill>
                  </a:tcPr>
                </a:tc>
                <a:tc>
                  <a:txBody>
                    <a:bodyPr/>
                    <a:lstStyle/>
                    <a:p>
                      <a:endParaRPr/>
                    </a:p>
                  </a:txBody>
                  <a:tcPr anchor="ctr">
                    <a:solidFill>
                      <a:srgbClr val="A1C1D1"/>
                    </a:solidFill>
                  </a:tcPr>
                </a:tc>
                <a:tc>
                  <a:txBody>
                    <a:bodyPr/>
                    <a:lstStyle/>
                    <a:p>
                      <a:endParaRPr/>
                    </a:p>
                  </a:txBody>
                  <a:tcPr anchor="ctr">
                    <a:solidFill>
                      <a:srgbClr val="82ACC0"/>
                    </a:solidFill>
                  </a:tcPr>
                </a:tc>
                <a:tc>
                  <a:txBody>
                    <a:bodyPr/>
                    <a:lstStyle/>
                    <a:p>
                      <a:endParaRPr/>
                    </a:p>
                  </a:txBody>
                  <a:tcPr anchor="ctr">
                    <a:solidFill>
                      <a:srgbClr val="9ABDCD"/>
                    </a:solidFill>
                  </a:tcPr>
                </a:tc>
                <a:tc>
                  <a:txBody>
                    <a:bodyPr/>
                    <a:lstStyle/>
                    <a:p>
                      <a:endParaRPr/>
                    </a:p>
                  </a:txBody>
                  <a:tcPr anchor="ctr">
                    <a:solidFill>
                      <a:srgbClr val="82ACC0"/>
                    </a:solidFill>
                  </a:tcPr>
                </a:tc>
                <a:tc>
                  <a:txBody>
                    <a:bodyPr/>
                    <a:lstStyle/>
                    <a:p>
                      <a:pPr algn="ctr">
                        <a:buNone/>
                      </a:pPr>
                      <a:r>
                        <a:rPr sz="938" b="0">
                          <a:solidFill>
                            <a:srgbClr val="7D8793"/>
                          </a:solidFill>
                          <a:latin typeface="Calibri"/>
                          <a:ea typeface="Calibri"/>
                          <a:cs typeface="Calibri"/>
                        </a:rPr>
                        <a:t>×</a:t>
                      </a:r>
                    </a:p>
                  </a:txBody>
                  <a:tcPr anchor="ctr">
                    <a:solidFill>
                      <a:srgbClr val="E6E9ED"/>
                    </a:solidFill>
                  </a:tcPr>
                </a:tc>
                <a:extLst>
                  <a:ext uri="{0D108BD9-81ED-4DB2-BD59-A6C34878D82A}">
                    <a16:rowId xmlns:a16="http://schemas.microsoft.com/office/drawing/2014/main" val="10007"/>
                  </a:ext>
                </a:extLst>
              </a:tr>
              <a:tr h="276225">
                <a:tc>
                  <a:txBody>
                    <a:bodyPr/>
                    <a:lstStyle/>
                    <a:p>
                      <a:pPr algn="ctr">
                        <a:buNone/>
                      </a:pPr>
                      <a:r>
                        <a:rPr sz="975" b="1">
                          <a:solidFill>
                            <a:srgbClr val="FFFFFF"/>
                          </a:solidFill>
                          <a:latin typeface="Calibri"/>
                          <a:ea typeface="Calibri"/>
                          <a:cs typeface="Calibri"/>
                        </a:rPr>
                        <a:t>.</a:t>
                      </a:r>
                    </a:p>
                  </a:txBody>
                  <a:tcPr anchor="ctr">
                    <a:solidFill>
                      <a:srgbClr val="065A82"/>
                    </a:solidFill>
                  </a:tcPr>
                </a:tc>
                <a:tc>
                  <a:txBody>
                    <a:bodyPr/>
                    <a:lstStyle/>
                    <a:p>
                      <a:endParaRPr/>
                    </a:p>
                  </a:txBody>
                  <a:tcPr anchor="ctr">
                    <a:solidFill>
                      <a:srgbClr val="CADEE8"/>
                    </a:solidFill>
                  </a:tcPr>
                </a:tc>
                <a:tc>
                  <a:txBody>
                    <a:bodyPr/>
                    <a:lstStyle/>
                    <a:p>
                      <a:endParaRPr/>
                    </a:p>
                  </a:txBody>
                  <a:tcPr anchor="ctr">
                    <a:solidFill>
                      <a:srgbClr val="87B0C3"/>
                    </a:solidFill>
                  </a:tcPr>
                </a:tc>
                <a:tc>
                  <a:txBody>
                    <a:bodyPr/>
                    <a:lstStyle/>
                    <a:p>
                      <a:endParaRPr/>
                    </a:p>
                  </a:txBody>
                  <a:tcPr anchor="ctr">
                    <a:solidFill>
                      <a:srgbClr val="A1C1D1"/>
                    </a:solidFill>
                  </a:tcPr>
                </a:tc>
                <a:tc>
                  <a:txBody>
                    <a:bodyPr/>
                    <a:lstStyle/>
                    <a:p>
                      <a:endParaRPr/>
                    </a:p>
                  </a:txBody>
                  <a:tcPr anchor="ctr">
                    <a:solidFill>
                      <a:srgbClr val="A1C1D1"/>
                    </a:solidFill>
                  </a:tcPr>
                </a:tc>
                <a:tc>
                  <a:txBody>
                    <a:bodyPr/>
                    <a:lstStyle/>
                    <a:p>
                      <a:endParaRPr/>
                    </a:p>
                  </a:txBody>
                  <a:tcPr anchor="ctr">
                    <a:solidFill>
                      <a:srgbClr val="90B6C8"/>
                    </a:solidFill>
                  </a:tcPr>
                </a:tc>
                <a:tc>
                  <a:txBody>
                    <a:bodyPr/>
                    <a:lstStyle/>
                    <a:p>
                      <a:endParaRPr/>
                    </a:p>
                  </a:txBody>
                  <a:tcPr anchor="ctr">
                    <a:solidFill>
                      <a:srgbClr val="A1C1D1"/>
                    </a:solidFill>
                  </a:tcPr>
                </a:tc>
                <a:tc>
                  <a:txBody>
                    <a:bodyPr/>
                    <a:lstStyle/>
                    <a:p>
                      <a:endParaRPr/>
                    </a:p>
                  </a:txBody>
                  <a:tcPr anchor="ctr">
                    <a:solidFill>
                      <a:srgbClr val="76A4BA"/>
                    </a:solidFill>
                  </a:tcPr>
                </a:tc>
                <a:tc>
                  <a:txBody>
                    <a:bodyPr/>
                    <a:lstStyle/>
                    <a:p>
                      <a:endParaRPr dirty="0"/>
                    </a:p>
                  </a:txBody>
                  <a:tcPr anchor="ctr">
                    <a:solidFill>
                      <a:srgbClr val="A1C1D1"/>
                    </a:solidFill>
                  </a:tcPr>
                </a:tc>
                <a:extLst>
                  <a:ext uri="{0D108BD9-81ED-4DB2-BD59-A6C34878D82A}">
                    <a16:rowId xmlns:a16="http://schemas.microsoft.com/office/drawing/2014/main" val="10008"/>
                  </a:ext>
                </a:extLst>
              </a:tr>
            </a:tbl>
          </a:graphicData>
        </a:graphic>
      </p:graphicFrame>
      <p:sp>
        <p:nvSpPr>
          <p:cNvPr id="8" name="Illustrative weights. Darker = more attention. × =">
            <a:extLst>
              <a:ext uri="{FF2B5EF4-FFF2-40B4-BE49-F238E27FC236}">
                <a16:creationId xmlns:a16="http://schemas.microsoft.com/office/drawing/2014/main" id="{04D7263F-5AC6-4E1D-943A-7F03246F9255}"/>
              </a:ext>
            </a:extLst>
          </p:cNvPr>
          <p:cNvSpPr>
            <a:spLocks noGrp="1"/>
          </p:cNvSpPr>
          <p:nvPr/>
        </p:nvSpPr>
        <p:spPr>
          <a:xfrm>
            <a:off x="151032" y="4772367"/>
            <a:ext cx="3438525" cy="219075"/>
          </a:xfrm>
          <a:prstGeom prst="rect">
            <a:avLst/>
          </a:prstGeom>
          <a:noFill/>
          <a:ln w="0">
            <a:noFill/>
          </a:ln>
        </p:spPr>
        <p:txBody>
          <a:bodyPr lIns="0" tIns="0" rIns="0" bIns="0">
            <a:noAutofit/>
          </a:bodyPr>
          <a:lstStyle/>
          <a:p>
            <a:pPr>
              <a:buNone/>
              <a:defRPr sz="1125" b="0">
                <a:solidFill>
                  <a:srgbClr val="64748B"/>
                </a:solidFill>
                <a:latin typeface="Calibri"/>
                <a:ea typeface="Calibri"/>
                <a:cs typeface="Calibri"/>
              </a:defRPr>
            </a:pPr>
            <a:r>
              <a:rPr sz="1125" b="0" dirty="0">
                <a:solidFill>
                  <a:srgbClr val="64748B"/>
                </a:solidFill>
                <a:latin typeface="Calibri"/>
                <a:ea typeface="Calibri"/>
                <a:cs typeface="Calibri"/>
              </a:rPr>
              <a:t>Illustrative weights. Darker = more attention. × = blocked.</a:t>
            </a:r>
          </a:p>
        </p:txBody>
      </p:sp>
      <p:sp>
        <p:nvSpPr>
          <p:cNvPr id="9" name="Q: query at “it”">
            <a:extLst>
              <a:ext uri="{FF2B5EF4-FFF2-40B4-BE49-F238E27FC236}">
                <a16:creationId xmlns:a16="http://schemas.microsoft.com/office/drawing/2014/main" id="{68DE44F5-3CE9-4C4C-B240-9E64CF55EF2A}"/>
              </a:ext>
            </a:extLst>
          </p:cNvPr>
          <p:cNvSpPr>
            <a:spLocks noGrp="1"/>
          </p:cNvSpPr>
          <p:nvPr/>
        </p:nvSpPr>
        <p:spPr>
          <a:xfrm>
            <a:off x="5514975" y="1495425"/>
            <a:ext cx="3257550" cy="285750"/>
          </a:xfrm>
          <a:prstGeom prst="rect">
            <a:avLst/>
          </a:prstGeom>
          <a:noFill/>
          <a:ln w="0">
            <a:noFill/>
          </a:ln>
        </p:spPr>
        <p:txBody>
          <a:bodyPr lIns="0" tIns="0" rIns="0" bIns="0">
            <a:noAutofit/>
          </a:bodyPr>
          <a:lstStyle/>
          <a:p>
            <a:pPr>
              <a:buNone/>
              <a:defRPr sz="1800" b="1">
                <a:solidFill>
                  <a:srgbClr val="065A82"/>
                </a:solidFill>
                <a:latin typeface="Calibri"/>
                <a:ea typeface="Calibri"/>
                <a:cs typeface="Calibri"/>
              </a:defRPr>
            </a:pPr>
            <a:r>
              <a:rPr sz="1800" b="1">
                <a:solidFill>
                  <a:srgbClr val="065A82"/>
                </a:solidFill>
                <a:latin typeface="Calibri"/>
                <a:ea typeface="Calibri"/>
                <a:cs typeface="Calibri"/>
              </a:rPr>
              <a:t>Q: query at “it”</a:t>
            </a:r>
          </a:p>
        </p:txBody>
      </p:sp>
      <p:sp>
        <p:nvSpPr>
          <p:cNvPr id="10" name="What information matches this token?">
            <a:extLst>
              <a:ext uri="{FF2B5EF4-FFF2-40B4-BE49-F238E27FC236}">
                <a16:creationId xmlns:a16="http://schemas.microsoft.com/office/drawing/2014/main" id="{CD0F4303-8883-42F3-8C60-8054A0D1B59B}"/>
              </a:ext>
            </a:extLst>
          </p:cNvPr>
          <p:cNvSpPr>
            <a:spLocks noGrp="1"/>
          </p:cNvSpPr>
          <p:nvPr/>
        </p:nvSpPr>
        <p:spPr>
          <a:xfrm>
            <a:off x="5514975" y="1828800"/>
            <a:ext cx="3257550" cy="457200"/>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What information matches this token?</a:t>
            </a:r>
          </a:p>
        </p:txBody>
      </p:sp>
      <p:sp>
        <p:nvSpPr>
          <p:cNvPr id="11" name="K: keys at accessible positions">
            <a:extLst>
              <a:ext uri="{FF2B5EF4-FFF2-40B4-BE49-F238E27FC236}">
                <a16:creationId xmlns:a16="http://schemas.microsoft.com/office/drawing/2014/main" id="{F85251C3-2EE0-4BD8-99AA-F62C9D6B6DF6}"/>
              </a:ext>
            </a:extLst>
          </p:cNvPr>
          <p:cNvSpPr>
            <a:spLocks noGrp="1"/>
          </p:cNvSpPr>
          <p:nvPr/>
        </p:nvSpPr>
        <p:spPr>
          <a:xfrm>
            <a:off x="5514975" y="2333625"/>
            <a:ext cx="3257550" cy="276225"/>
          </a:xfrm>
          <a:prstGeom prst="rect">
            <a:avLst/>
          </a:prstGeom>
          <a:noFill/>
          <a:ln w="0">
            <a:noFill/>
          </a:ln>
        </p:spPr>
        <p:txBody>
          <a:bodyPr lIns="0" tIns="0" rIns="0" bIns="0">
            <a:noAutofit/>
          </a:bodyPr>
          <a:lstStyle/>
          <a:p>
            <a:pPr>
              <a:buNone/>
              <a:defRPr sz="1650" b="1">
                <a:solidFill>
                  <a:srgbClr val="065A82"/>
                </a:solidFill>
                <a:latin typeface="Calibri"/>
                <a:ea typeface="Calibri"/>
                <a:cs typeface="Calibri"/>
              </a:defRPr>
            </a:pPr>
            <a:r>
              <a:rPr sz="1650" b="1">
                <a:solidFill>
                  <a:srgbClr val="065A82"/>
                </a:solidFill>
                <a:latin typeface="Calibri"/>
                <a:ea typeface="Calibri"/>
                <a:cs typeface="Calibri"/>
              </a:rPr>
              <a:t>K: keys at accessible positions</a:t>
            </a:r>
          </a:p>
        </p:txBody>
      </p:sp>
      <p:sp>
        <p:nvSpPr>
          <p:cNvPr id="12" name="Compare the query with each key.">
            <a:extLst>
              <a:ext uri="{FF2B5EF4-FFF2-40B4-BE49-F238E27FC236}">
                <a16:creationId xmlns:a16="http://schemas.microsoft.com/office/drawing/2014/main" id="{5C032C9C-BDD1-446D-8645-1D7C6AE3025F}"/>
              </a:ext>
            </a:extLst>
          </p:cNvPr>
          <p:cNvSpPr>
            <a:spLocks noGrp="1"/>
          </p:cNvSpPr>
          <p:nvPr/>
        </p:nvSpPr>
        <p:spPr>
          <a:xfrm>
            <a:off x="5514975" y="2667000"/>
            <a:ext cx="3257550" cy="276225"/>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Compare the query with each key.</a:t>
            </a:r>
          </a:p>
        </p:txBody>
      </p:sp>
      <p:sp>
        <p:nvSpPr>
          <p:cNvPr id="13" name="V: values to combine">
            <a:extLst>
              <a:ext uri="{FF2B5EF4-FFF2-40B4-BE49-F238E27FC236}">
                <a16:creationId xmlns:a16="http://schemas.microsoft.com/office/drawing/2014/main" id="{FE26586F-A653-4F54-A917-75A065CEED73}"/>
              </a:ext>
            </a:extLst>
          </p:cNvPr>
          <p:cNvSpPr>
            <a:spLocks noGrp="1"/>
          </p:cNvSpPr>
          <p:nvPr/>
        </p:nvSpPr>
        <p:spPr>
          <a:xfrm>
            <a:off x="5514975" y="3028950"/>
            <a:ext cx="3257550" cy="285750"/>
          </a:xfrm>
          <a:prstGeom prst="rect">
            <a:avLst/>
          </a:prstGeom>
          <a:noFill/>
          <a:ln w="0">
            <a:noFill/>
          </a:ln>
        </p:spPr>
        <p:txBody>
          <a:bodyPr lIns="0" tIns="0" rIns="0" bIns="0">
            <a:noAutofit/>
          </a:bodyPr>
          <a:lstStyle/>
          <a:p>
            <a:pPr>
              <a:buNone/>
              <a:defRPr sz="1800" b="1">
                <a:solidFill>
                  <a:srgbClr val="065A82"/>
                </a:solidFill>
                <a:latin typeface="Calibri"/>
                <a:ea typeface="Calibri"/>
                <a:cs typeface="Calibri"/>
              </a:defRPr>
            </a:pPr>
            <a:r>
              <a:rPr sz="1800" b="1">
                <a:solidFill>
                  <a:srgbClr val="065A82"/>
                </a:solidFill>
                <a:latin typeface="Calibri"/>
                <a:ea typeface="Calibri"/>
                <a:cs typeface="Calibri"/>
              </a:rPr>
              <a:t>V: values to combine</a:t>
            </a:r>
          </a:p>
        </p:txBody>
      </p:sp>
      <p:sp>
        <p:nvSpPr>
          <p:cNvPr id="14" name="Mix value vectors using the row’s weights.">
            <a:extLst>
              <a:ext uri="{FF2B5EF4-FFF2-40B4-BE49-F238E27FC236}">
                <a16:creationId xmlns:a16="http://schemas.microsoft.com/office/drawing/2014/main" id="{FA6A0565-C392-40D4-BD6F-EFF47F653EA1}"/>
              </a:ext>
            </a:extLst>
          </p:cNvPr>
          <p:cNvSpPr>
            <a:spLocks noGrp="1"/>
          </p:cNvSpPr>
          <p:nvPr/>
        </p:nvSpPr>
        <p:spPr>
          <a:xfrm>
            <a:off x="5514975" y="3362325"/>
            <a:ext cx="3257550" cy="476250"/>
          </a:xfrm>
          <a:prstGeom prst="rect">
            <a:avLst/>
          </a:prstGeom>
          <a:noFill/>
          <a:ln w="0">
            <a:noFill/>
          </a:ln>
        </p:spPr>
        <p:txBody>
          <a:bodyPr lIns="0" tIns="0" rIns="0" bIns="0">
            <a:noAutofit/>
          </a:bodyPr>
          <a:lstStyle/>
          <a:p>
            <a:pPr>
              <a:buNone/>
              <a:defRPr sz="1500" b="0">
                <a:solidFill>
                  <a:srgbClr val="1E293B"/>
                </a:solidFill>
                <a:latin typeface="Calibri"/>
                <a:ea typeface="Calibri"/>
                <a:cs typeface="Calibri"/>
              </a:defRPr>
            </a:pPr>
            <a:r>
              <a:rPr sz="1500" b="0">
                <a:solidFill>
                  <a:srgbClr val="1E293B"/>
                </a:solidFill>
                <a:latin typeface="Calibri"/>
                <a:ea typeface="Calibri"/>
                <a:cs typeface="Calibri"/>
              </a:rPr>
              <a:t>Mix value vectors using the row’s weights.</a:t>
            </a:r>
          </a:p>
        </p:txBody>
      </p:sp>
      <p:sp>
        <p:nvSpPr>
          <p:cNvPr id="15" name="Output for “it”">
            <a:extLst>
              <a:ext uri="{FF2B5EF4-FFF2-40B4-BE49-F238E27FC236}">
                <a16:creationId xmlns:a16="http://schemas.microsoft.com/office/drawing/2014/main" id="{56CE3A38-5EE7-42BB-A061-A4E7930846F9}"/>
              </a:ext>
            </a:extLst>
          </p:cNvPr>
          <p:cNvSpPr>
            <a:spLocks noGrp="1"/>
          </p:cNvSpPr>
          <p:nvPr/>
        </p:nvSpPr>
        <p:spPr>
          <a:xfrm>
            <a:off x="5505450" y="3698780"/>
            <a:ext cx="3257550" cy="257175"/>
          </a:xfrm>
          <a:prstGeom prst="rect">
            <a:avLst/>
          </a:prstGeom>
          <a:noFill/>
          <a:ln w="0">
            <a:noFill/>
          </a:ln>
        </p:spPr>
        <p:txBody>
          <a:bodyPr lIns="0" tIns="0" rIns="0" bIns="0">
            <a:noAutofit/>
          </a:bodyPr>
          <a:lstStyle/>
          <a:p>
            <a:pPr>
              <a:buNone/>
              <a:defRPr sz="1650" b="1">
                <a:solidFill>
                  <a:srgbClr val="A65F00"/>
                </a:solidFill>
                <a:latin typeface="Calibri"/>
                <a:ea typeface="Calibri"/>
                <a:cs typeface="Calibri"/>
              </a:defRPr>
            </a:pPr>
            <a:r>
              <a:rPr sz="1650" b="1" dirty="0">
                <a:solidFill>
                  <a:srgbClr val="A65F00"/>
                </a:solidFill>
                <a:latin typeface="Calibri"/>
                <a:ea typeface="Calibri"/>
                <a:cs typeface="Calibri"/>
              </a:rPr>
              <a:t>Output for “it”</a:t>
            </a:r>
          </a:p>
        </p:txBody>
      </p:sp>
      <p:sp>
        <p:nvSpPr>
          <p:cNvPr id="16" name="5% v(The) + 55% v(cat) + 10% v(slept)&#10;+ 10% v(beca">
            <a:extLst>
              <a:ext uri="{FF2B5EF4-FFF2-40B4-BE49-F238E27FC236}">
                <a16:creationId xmlns:a16="http://schemas.microsoft.com/office/drawing/2014/main" id="{27E49860-E9FC-4295-A979-EA41A0874FC6}"/>
              </a:ext>
            </a:extLst>
          </p:cNvPr>
          <p:cNvSpPr>
            <a:spLocks noGrp="1"/>
          </p:cNvSpPr>
          <p:nvPr/>
        </p:nvSpPr>
        <p:spPr>
          <a:xfrm>
            <a:off x="5514975" y="3984815"/>
            <a:ext cx="3257550" cy="409575"/>
          </a:xfrm>
          <a:prstGeom prst="rect">
            <a:avLst/>
          </a:prstGeom>
          <a:noFill/>
          <a:ln w="0">
            <a:noFill/>
          </a:ln>
        </p:spPr>
        <p:txBody>
          <a:bodyPr lIns="0" tIns="0" rIns="0" bIns="0">
            <a:noAutofit/>
          </a:bodyPr>
          <a:lstStyle/>
          <a:p>
            <a:pPr>
              <a:buNone/>
              <a:defRPr sz="1275" b="0">
                <a:solidFill>
                  <a:srgbClr val="A65F00"/>
                </a:solidFill>
                <a:latin typeface="Calibri"/>
                <a:ea typeface="Calibri"/>
                <a:cs typeface="Calibri"/>
              </a:defRPr>
            </a:pPr>
            <a:r>
              <a:rPr sz="1275" b="0" dirty="0">
                <a:solidFill>
                  <a:srgbClr val="A65F00"/>
                </a:solidFill>
                <a:latin typeface="Calibri"/>
                <a:ea typeface="Calibri"/>
                <a:cs typeface="Calibri"/>
              </a:rPr>
              <a:t>5% v(The) + 55% v(cat) + 10% v(slept)</a:t>
            </a:r>
          </a:p>
          <a:p>
            <a:pPr>
              <a:buNone/>
              <a:defRPr sz="1275" b="0">
                <a:solidFill>
                  <a:srgbClr val="A65F00"/>
                </a:solidFill>
                <a:latin typeface="Calibri"/>
                <a:ea typeface="Calibri"/>
                <a:cs typeface="Calibri"/>
              </a:defRPr>
            </a:pPr>
            <a:r>
              <a:rPr sz="1275" b="0" dirty="0">
                <a:solidFill>
                  <a:srgbClr val="A65F00"/>
                </a:solidFill>
                <a:latin typeface="Calibri"/>
                <a:ea typeface="Calibri"/>
                <a:cs typeface="Calibri"/>
              </a:rPr>
              <a:t>+ 10% v(because) + 20% v(it)</a:t>
            </a:r>
          </a:p>
        </p:txBody>
      </p:sp>
      <p:sp>
        <p:nvSpPr>
          <p:cNvPr id="17" name="Multiple heads can learn syntax, meaning and dista">
            <a:extLst>
              <a:ext uri="{FF2B5EF4-FFF2-40B4-BE49-F238E27FC236}">
                <a16:creationId xmlns:a16="http://schemas.microsoft.com/office/drawing/2014/main" id="{44502828-6B6A-4ED5-BA6A-A0449D61F01E}"/>
              </a:ext>
            </a:extLst>
          </p:cNvPr>
          <p:cNvSpPr>
            <a:spLocks noGrp="1"/>
          </p:cNvSpPr>
          <p:nvPr/>
        </p:nvSpPr>
        <p:spPr>
          <a:xfrm>
            <a:off x="5514975" y="4492435"/>
            <a:ext cx="6764461" cy="219075"/>
          </a:xfrm>
          <a:prstGeom prst="rect">
            <a:avLst/>
          </a:prstGeom>
          <a:noFill/>
          <a:ln w="0">
            <a:noFill/>
          </a:ln>
        </p:spPr>
        <p:txBody>
          <a:bodyPr lIns="0" tIns="0" rIns="0" bIns="0">
            <a:noAutofit/>
          </a:bodyPr>
          <a:lstStyle/>
          <a:p>
            <a:pPr>
              <a:buNone/>
              <a:defRPr sz="1350" b="1">
                <a:solidFill>
                  <a:srgbClr val="065A82"/>
                </a:solidFill>
                <a:latin typeface="Calibri"/>
                <a:ea typeface="Calibri"/>
                <a:cs typeface="Calibri"/>
              </a:defRPr>
            </a:pPr>
            <a:r>
              <a:rPr sz="1350" b="1" dirty="0">
                <a:solidFill>
                  <a:srgbClr val="065A82"/>
                </a:solidFill>
                <a:latin typeface="Calibri"/>
                <a:ea typeface="Calibri"/>
                <a:cs typeface="Calibri"/>
              </a:rPr>
              <a:t>Multiple heads can learn syntax, meaning and </a:t>
            </a:r>
            <a:endParaRPr lang="en-US" sz="1350" b="1" dirty="0">
              <a:solidFill>
                <a:srgbClr val="065A82"/>
              </a:solidFill>
              <a:latin typeface="Calibri"/>
              <a:ea typeface="Calibri"/>
              <a:cs typeface="Calibri"/>
            </a:endParaRPr>
          </a:p>
          <a:p>
            <a:pPr>
              <a:buNone/>
              <a:defRPr sz="1350" b="1">
                <a:solidFill>
                  <a:srgbClr val="065A82"/>
                </a:solidFill>
                <a:latin typeface="Calibri"/>
                <a:ea typeface="Calibri"/>
                <a:cs typeface="Calibri"/>
              </a:defRPr>
            </a:pPr>
            <a:r>
              <a:rPr sz="1350" b="1" dirty="0">
                <a:solidFill>
                  <a:srgbClr val="065A82"/>
                </a:solidFill>
                <a:latin typeface="Calibri"/>
                <a:ea typeface="Calibri"/>
                <a:cs typeface="Calibri"/>
              </a:rPr>
              <a:t>distant connections.</a:t>
            </a:r>
          </a:p>
        </p:txBody>
      </p:sp>
      <p:sp>
        <p:nvSpPr>
          <p:cNvPr id="18" name="2017: The Transformer made attention central, enab">
            <a:extLst>
              <a:ext uri="{FF2B5EF4-FFF2-40B4-BE49-F238E27FC236}">
                <a16:creationId xmlns:a16="http://schemas.microsoft.com/office/drawing/2014/main" id="{A162508F-523F-416B-8EF1-9AF8CF0769E1}"/>
              </a:ext>
            </a:extLst>
          </p:cNvPr>
          <p:cNvSpPr>
            <a:spLocks noGrp="1"/>
          </p:cNvSpPr>
          <p:nvPr/>
        </p:nvSpPr>
        <p:spPr>
          <a:xfrm>
            <a:off x="151032" y="4921345"/>
            <a:ext cx="8382000" cy="219075"/>
          </a:xfrm>
          <a:prstGeom prst="rect">
            <a:avLst/>
          </a:prstGeom>
          <a:noFill/>
          <a:ln w="0">
            <a:noFill/>
          </a:ln>
        </p:spPr>
        <p:txBody>
          <a:bodyPr lIns="0" tIns="0" rIns="0" bIns="0">
            <a:noAutofit/>
          </a:bodyPr>
          <a:lstStyle/>
          <a:p>
            <a:pPr>
              <a:buNone/>
              <a:defRPr sz="1275" b="0">
                <a:solidFill>
                  <a:srgbClr val="64748B"/>
                </a:solidFill>
                <a:latin typeface="Calibri"/>
                <a:ea typeface="Calibri"/>
                <a:cs typeface="Calibri"/>
              </a:defRPr>
            </a:pPr>
            <a:r>
              <a:rPr sz="1275" b="0" dirty="0">
                <a:solidFill>
                  <a:srgbClr val="64748B"/>
                </a:solidFill>
                <a:latin typeface="Calibri"/>
                <a:ea typeface="Calibri"/>
                <a:cs typeface="Calibri"/>
              </a:rPr>
              <a:t>2017: The Transformer made attention central, enabling parallel training.</a:t>
            </a:r>
          </a:p>
        </p:txBody>
      </p:sp>
    </p:spTree>
    <p:extLst>
      <p:ext uri="{BB962C8B-B14F-4D97-AF65-F5344CB8AC3E}">
        <p14:creationId xmlns:p14="http://schemas.microsoft.com/office/powerpoint/2010/main" val="2061924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MLP: computation within each token">
            <a:extLst>
              <a:ext uri="{FF2B5EF4-FFF2-40B4-BE49-F238E27FC236}">
                <a16:creationId xmlns:a16="http://schemas.microsoft.com/office/drawing/2014/main" id="{EF324412-63C8-47B8-8713-1AF4C3C57477}"/>
              </a:ext>
            </a:extLst>
          </p:cNvPr>
          <p:cNvSpPr>
            <a:spLocks noGrp="1"/>
          </p:cNvSpPr>
          <p:nvPr/>
        </p:nvSpPr>
        <p:spPr>
          <a:xfrm>
            <a:off x="381000" y="485775"/>
            <a:ext cx="82296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MLP: computation within each token</a:t>
            </a:r>
          </a:p>
        </p:txBody>
      </p:sp>
      <p:sp>
        <p:nvSpPr>
          <p:cNvPr id="5" name="An MLP can have multiple hidden layers">
            <a:extLst>
              <a:ext uri="{FF2B5EF4-FFF2-40B4-BE49-F238E27FC236}">
                <a16:creationId xmlns:a16="http://schemas.microsoft.com/office/drawing/2014/main" id="{A4623772-AB6E-41F8-AB3A-4CB7D4D5C592}"/>
              </a:ext>
            </a:extLst>
          </p:cNvPr>
          <p:cNvSpPr>
            <a:spLocks noGrp="1"/>
          </p:cNvSpPr>
          <p:nvPr/>
        </p:nvSpPr>
        <p:spPr>
          <a:xfrm>
            <a:off x="381000" y="1028700"/>
            <a:ext cx="8382000" cy="342900"/>
          </a:xfrm>
          <a:prstGeom prst="rect">
            <a:avLst/>
          </a:prstGeom>
          <a:noFill/>
          <a:ln w="0">
            <a:noFill/>
          </a:ln>
        </p:spPr>
        <p:txBody>
          <a:bodyPr lIns="0" tIns="0" rIns="0" bIns="0">
            <a:noAutofit/>
          </a:bodyPr>
          <a:lstStyle/>
          <a:p>
            <a:pPr algn="l">
              <a:buNone/>
              <a:defRPr sz="1950" b="1">
                <a:solidFill>
                  <a:srgbClr val="0D2137"/>
                </a:solidFill>
                <a:latin typeface="Georgia"/>
                <a:ea typeface="Georgia"/>
                <a:cs typeface="Georgia"/>
              </a:defRPr>
            </a:pPr>
            <a:r>
              <a:rPr sz="1950" b="1">
                <a:solidFill>
                  <a:srgbClr val="0D2137"/>
                </a:solidFill>
                <a:latin typeface="Georgia"/>
                <a:ea typeface="Georgia"/>
                <a:cs typeface="Georgia"/>
              </a:rPr>
              <a:t>An MLP can have multiple hidden layers</a:t>
            </a:r>
          </a:p>
        </p:txBody>
      </p:sp>
      <p:sp>
        <p:nvSpPr>
          <p:cNvPr id="6" name="Input values">
            <a:extLst>
              <a:ext uri="{FF2B5EF4-FFF2-40B4-BE49-F238E27FC236}">
                <a16:creationId xmlns:a16="http://schemas.microsoft.com/office/drawing/2014/main" id="{AD2E41D3-D0A0-4C80-9C41-001BB5224BE6}"/>
              </a:ext>
            </a:extLst>
          </p:cNvPr>
          <p:cNvSpPr>
            <a:spLocks noGrp="1"/>
          </p:cNvSpPr>
          <p:nvPr/>
        </p:nvSpPr>
        <p:spPr>
          <a:xfrm>
            <a:off x="730187" y="1428750"/>
            <a:ext cx="2667000" cy="542925"/>
          </a:xfrm>
          <a:prstGeom prst="rect">
            <a:avLst/>
          </a:prstGeom>
          <a:noFill/>
          <a:ln w="0">
            <a:noFill/>
          </a:ln>
        </p:spPr>
        <p:txBody>
          <a:bodyPr lIns="0" tIns="0" rIns="0" bIns="0">
            <a:noAutofit/>
          </a:bodyPr>
          <a:lstStyle/>
          <a:p>
            <a:pPr algn="ctr">
              <a:buNone/>
              <a:defRPr sz="1650" b="1">
                <a:solidFill>
                  <a:srgbClr val="065A82"/>
                </a:solidFill>
                <a:latin typeface="Calibri"/>
                <a:ea typeface="Calibri"/>
                <a:cs typeface="Calibri"/>
              </a:defRPr>
            </a:pPr>
            <a:r>
              <a:rPr sz="1650" b="1">
                <a:solidFill>
                  <a:srgbClr val="065A82"/>
                </a:solidFill>
                <a:latin typeface="Calibri"/>
                <a:ea typeface="Calibri"/>
                <a:cs typeface="Calibri"/>
              </a:rPr>
              <a:t>Input values</a:t>
            </a:r>
          </a:p>
        </p:txBody>
      </p:sp>
      <p:sp>
        <p:nvSpPr>
          <p:cNvPr id="7" name="Hidden layers">
            <a:extLst>
              <a:ext uri="{FF2B5EF4-FFF2-40B4-BE49-F238E27FC236}">
                <a16:creationId xmlns:a16="http://schemas.microsoft.com/office/drawing/2014/main" id="{9FF016F1-A06C-4431-9128-940339EE07CE}"/>
              </a:ext>
            </a:extLst>
          </p:cNvPr>
          <p:cNvSpPr>
            <a:spLocks noGrp="1"/>
          </p:cNvSpPr>
          <p:nvPr/>
        </p:nvSpPr>
        <p:spPr>
          <a:xfrm>
            <a:off x="3238500" y="1428750"/>
            <a:ext cx="2667000" cy="542925"/>
          </a:xfrm>
          <a:prstGeom prst="rect">
            <a:avLst/>
          </a:prstGeom>
          <a:noFill/>
          <a:ln w="0">
            <a:noFill/>
          </a:ln>
        </p:spPr>
        <p:txBody>
          <a:bodyPr lIns="0" tIns="0" rIns="0" bIns="0">
            <a:noAutofit/>
          </a:bodyPr>
          <a:lstStyle/>
          <a:p>
            <a:pPr algn="ctr">
              <a:buNone/>
              <a:defRPr sz="1650" b="1">
                <a:solidFill>
                  <a:srgbClr val="A65F00"/>
                </a:solidFill>
                <a:latin typeface="Calibri"/>
                <a:ea typeface="Calibri"/>
                <a:cs typeface="Calibri"/>
              </a:defRPr>
            </a:pPr>
            <a:r>
              <a:rPr sz="1650" b="1">
                <a:solidFill>
                  <a:srgbClr val="A65F00"/>
                </a:solidFill>
                <a:latin typeface="Calibri"/>
                <a:ea typeface="Calibri"/>
                <a:cs typeface="Calibri"/>
              </a:rPr>
              <a:t>Hidden layers</a:t>
            </a:r>
          </a:p>
        </p:txBody>
      </p:sp>
      <p:sp>
        <p:nvSpPr>
          <p:cNvPr id="8" name="Output values">
            <a:extLst>
              <a:ext uri="{FF2B5EF4-FFF2-40B4-BE49-F238E27FC236}">
                <a16:creationId xmlns:a16="http://schemas.microsoft.com/office/drawing/2014/main" id="{0BA5249B-0834-48C9-BE7C-706C3AEEBECF}"/>
              </a:ext>
            </a:extLst>
          </p:cNvPr>
          <p:cNvSpPr>
            <a:spLocks noGrp="1"/>
          </p:cNvSpPr>
          <p:nvPr/>
        </p:nvSpPr>
        <p:spPr>
          <a:xfrm>
            <a:off x="5746814" y="1428750"/>
            <a:ext cx="2667000" cy="542925"/>
          </a:xfrm>
          <a:prstGeom prst="rect">
            <a:avLst/>
          </a:prstGeom>
          <a:noFill/>
          <a:ln w="0">
            <a:noFill/>
          </a:ln>
        </p:spPr>
        <p:txBody>
          <a:bodyPr lIns="0" tIns="0" rIns="0" bIns="0">
            <a:noAutofit/>
          </a:bodyPr>
          <a:lstStyle/>
          <a:p>
            <a:pPr algn="ctr">
              <a:buNone/>
              <a:defRPr sz="1650" b="1">
                <a:solidFill>
                  <a:srgbClr val="065A82"/>
                </a:solidFill>
                <a:latin typeface="Calibri"/>
                <a:ea typeface="Calibri"/>
                <a:cs typeface="Calibri"/>
              </a:defRPr>
            </a:pPr>
            <a:r>
              <a:rPr sz="1650" b="1">
                <a:solidFill>
                  <a:srgbClr val="065A82"/>
                </a:solidFill>
                <a:latin typeface="Calibri"/>
                <a:ea typeface="Calibri"/>
                <a:cs typeface="Calibri"/>
              </a:rPr>
              <a:t>Output values</a:t>
            </a:r>
          </a:p>
        </p:txBody>
      </p:sp>
      <p:pic>
        <p:nvPicPr>
          <p:cNvPr id="110" name="Picture 109"/>
          <p:cNvPicPr>
            <a:picLocks noChangeAspect="1"/>
          </p:cNvPicPr>
          <p:nvPr/>
        </p:nvPicPr>
        <p:blipFill>
          <a:blip r:embed="rId3"/>
          <a:stretch/>
        </p:blipFill>
        <p:spPr>
          <a:xfrm>
            <a:off x="1585913" y="1971675"/>
            <a:ext cx="5972175" cy="1990725"/>
          </a:xfrm>
          <a:prstGeom prst="rect">
            <a:avLst/>
          </a:prstGeom>
        </p:spPr>
      </p:pic>
      <p:sp>
        <p:nvSpPr>
          <p:cNvPr id="10" name="Generic MLP. Qwen uses a gated 896–4,864–896 struc">
            <a:extLst>
              <a:ext uri="{FF2B5EF4-FFF2-40B4-BE49-F238E27FC236}">
                <a16:creationId xmlns:a16="http://schemas.microsoft.com/office/drawing/2014/main" id="{9C465D6E-44EF-439E-9DAB-D7A9E2B1412D}"/>
              </a:ext>
            </a:extLst>
          </p:cNvPr>
          <p:cNvSpPr>
            <a:spLocks noGrp="1"/>
          </p:cNvSpPr>
          <p:nvPr/>
        </p:nvSpPr>
        <p:spPr>
          <a:xfrm>
            <a:off x="381000" y="4010025"/>
            <a:ext cx="8382000" cy="238125"/>
          </a:xfrm>
          <a:prstGeom prst="rect">
            <a:avLst/>
          </a:prstGeom>
          <a:noFill/>
          <a:ln w="0">
            <a:noFill/>
          </a:ln>
        </p:spPr>
        <p:txBody>
          <a:bodyPr lIns="0" tIns="0" rIns="0" bIns="0">
            <a:noAutofit/>
          </a:bodyPr>
          <a:lstStyle/>
          <a:p>
            <a:pPr algn="l">
              <a:buNone/>
              <a:defRPr sz="1275" b="0">
                <a:solidFill>
                  <a:srgbClr val="64748B"/>
                </a:solidFill>
                <a:latin typeface="Calibri"/>
                <a:ea typeface="Calibri"/>
                <a:cs typeface="Calibri"/>
              </a:defRPr>
            </a:pPr>
            <a:r>
              <a:rPr sz="1275" b="0">
                <a:solidFill>
                  <a:srgbClr val="64748B"/>
                </a:solidFill>
                <a:latin typeface="Calibri"/>
                <a:ea typeface="Calibri"/>
                <a:cs typeface="Calibri"/>
              </a:rPr>
              <a:t>Generic MLP. Qwen uses a gated 896–4,864–896 structure.</a:t>
            </a:r>
          </a:p>
        </p:txBody>
      </p:sp>
      <p:sp>
        <p:nvSpPr>
          <p:cNvPr id="11" name="Connections carry learned weights, which are model">
            <a:extLst>
              <a:ext uri="{FF2B5EF4-FFF2-40B4-BE49-F238E27FC236}">
                <a16:creationId xmlns:a16="http://schemas.microsoft.com/office/drawing/2014/main" id="{C32F103E-8BA2-4E1D-8866-01DA43B1DDF0}"/>
              </a:ext>
            </a:extLst>
          </p:cNvPr>
          <p:cNvSpPr>
            <a:spLocks noGrp="1"/>
          </p:cNvSpPr>
          <p:nvPr/>
        </p:nvSpPr>
        <p:spPr>
          <a:xfrm>
            <a:off x="381000" y="4352925"/>
            <a:ext cx="8382000" cy="276225"/>
          </a:xfrm>
          <a:prstGeom prst="rect">
            <a:avLst/>
          </a:prstGeom>
          <a:noFill/>
          <a:ln w="0">
            <a:noFill/>
          </a:ln>
        </p:spPr>
        <p:txBody>
          <a:bodyPr lIns="0" tIns="0" rIns="0" bIns="0">
            <a:noAutofit/>
          </a:bodyPr>
          <a:lstStyle/>
          <a:p>
            <a:pPr algn="l">
              <a:buNone/>
              <a:defRPr sz="1650" b="1">
                <a:solidFill>
                  <a:srgbClr val="065A82"/>
                </a:solidFill>
                <a:latin typeface="Calibri"/>
                <a:ea typeface="Calibri"/>
                <a:cs typeface="Calibri"/>
              </a:defRPr>
            </a:pPr>
            <a:r>
              <a:rPr sz="1650" b="1">
                <a:solidFill>
                  <a:srgbClr val="065A82"/>
                </a:solidFill>
                <a:latin typeface="Calibri"/>
                <a:ea typeface="Calibri"/>
                <a:cs typeface="Calibri"/>
              </a:rPr>
              <a:t>Connections carry learned weights, which are model parameters.</a:t>
            </a:r>
          </a:p>
        </p:txBody>
      </p:sp>
      <p:sp>
        <p:nvSpPr>
          <p:cNvPr id="12" name="gpt-oss">
            <a:extLst>
              <a:ext uri="{FF2B5EF4-FFF2-40B4-BE49-F238E27FC236}">
                <a16:creationId xmlns:a16="http://schemas.microsoft.com/office/drawing/2014/main" id="{2FA1A85F-F9E9-4EC2-A137-5B5EEB78CCCC}"/>
              </a:ext>
            </a:extLst>
          </p:cNvPr>
          <p:cNvSpPr>
            <a:spLocks noGrp="1"/>
          </p:cNvSpPr>
          <p:nvPr/>
        </p:nvSpPr>
        <p:spPr>
          <a:xfrm>
            <a:off x="381000" y="4800600"/>
            <a:ext cx="1238250" cy="238125"/>
          </a:xfrm>
          <a:prstGeom prst="rect">
            <a:avLst/>
          </a:prstGeom>
          <a:noFill/>
          <a:ln w="0">
            <a:noFill/>
          </a:ln>
        </p:spPr>
        <p:txBody>
          <a:bodyPr lIns="0" tIns="0" rIns="0" bIns="0">
            <a:noAutofit/>
          </a:bodyPr>
          <a:lstStyle/>
          <a:p>
            <a:pPr algn="l">
              <a:buNone/>
              <a:defRPr sz="1500" b="1">
                <a:solidFill>
                  <a:srgbClr val="0D2137"/>
                </a:solidFill>
                <a:latin typeface="Georgia"/>
                <a:ea typeface="Georgia"/>
                <a:cs typeface="Georgia"/>
              </a:defRPr>
            </a:pPr>
            <a:r>
              <a:rPr sz="1500" b="1">
                <a:solidFill>
                  <a:srgbClr val="0D2137"/>
                </a:solidFill>
                <a:latin typeface="Georgia"/>
                <a:ea typeface="Georgia"/>
                <a:cs typeface="Georgia"/>
              </a:rPr>
              <a:t>gpt-oss</a:t>
            </a:r>
          </a:p>
        </p:txBody>
      </p:sp>
      <p:sp>
        <p:nvSpPr>
          <p:cNvPr id="13" name="Router">
            <a:extLst>
              <a:ext uri="{FF2B5EF4-FFF2-40B4-BE49-F238E27FC236}">
                <a16:creationId xmlns:a16="http://schemas.microsoft.com/office/drawing/2014/main" id="{AAD33122-69CB-4079-8A36-0896726198AF}"/>
              </a:ext>
            </a:extLst>
          </p:cNvPr>
          <p:cNvSpPr>
            <a:spLocks noGrp="1"/>
          </p:cNvSpPr>
          <p:nvPr/>
        </p:nvSpPr>
        <p:spPr>
          <a:xfrm>
            <a:off x="1809750" y="4772025"/>
            <a:ext cx="952500" cy="314325"/>
          </a:xfrm>
          <a:prstGeom prst="rect">
            <a:avLst/>
          </a:prstGeom>
          <a:solidFill>
            <a:srgbClr val="FFFFFF"/>
          </a:solidFill>
          <a:ln w="9525">
            <a:solidFill>
              <a:srgbClr val="A8BECF"/>
            </a:solidFill>
          </a:ln>
        </p:spPr>
        <p:txBody>
          <a:bodyPr lIns="28575" tIns="28575" rIns="28575" bIns="28575" anchor="ctr">
            <a:noAutofit/>
          </a:bodyPr>
          <a:lstStyle/>
          <a:p>
            <a:pPr algn="ctr">
              <a:buNone/>
              <a:defRPr sz="1275" b="1">
                <a:solidFill>
                  <a:srgbClr val="065A82"/>
                </a:solidFill>
                <a:latin typeface="Calibri"/>
                <a:ea typeface="Calibri"/>
                <a:cs typeface="Calibri"/>
              </a:defRPr>
            </a:pPr>
            <a:r>
              <a:rPr sz="1275" b="1">
                <a:solidFill>
                  <a:srgbClr val="065A82"/>
                </a:solidFill>
                <a:latin typeface="Calibri"/>
                <a:ea typeface="Calibri"/>
                <a:cs typeface="Calibri"/>
              </a:rPr>
              <a:t>Router</a:t>
            </a:r>
          </a:p>
        </p:txBody>
      </p:sp>
      <p:sp>
        <p:nvSpPr>
          <p:cNvPr id="14" name="4 of 128 expert MLPs">
            <a:extLst>
              <a:ext uri="{FF2B5EF4-FFF2-40B4-BE49-F238E27FC236}">
                <a16:creationId xmlns:a16="http://schemas.microsoft.com/office/drawing/2014/main" id="{B7551ED6-C579-460D-A461-1EECB457F4B7}"/>
              </a:ext>
            </a:extLst>
          </p:cNvPr>
          <p:cNvSpPr>
            <a:spLocks noGrp="1"/>
          </p:cNvSpPr>
          <p:nvPr/>
        </p:nvSpPr>
        <p:spPr>
          <a:xfrm>
            <a:off x="3429000" y="4772025"/>
            <a:ext cx="2571750" cy="314325"/>
          </a:xfrm>
          <a:prstGeom prst="rect">
            <a:avLst/>
          </a:prstGeom>
          <a:solidFill>
            <a:srgbClr val="FFFFFF"/>
          </a:solidFill>
          <a:ln w="9525">
            <a:solidFill>
              <a:srgbClr val="A8BECF"/>
            </a:solidFill>
          </a:ln>
        </p:spPr>
        <p:txBody>
          <a:bodyPr lIns="28575" tIns="28575" rIns="28575" bIns="28575" anchor="ctr">
            <a:noAutofit/>
          </a:bodyPr>
          <a:lstStyle/>
          <a:p>
            <a:pPr algn="ctr">
              <a:buNone/>
              <a:defRPr sz="1275" b="1">
                <a:solidFill>
                  <a:srgbClr val="065A82"/>
                </a:solidFill>
                <a:latin typeface="Calibri"/>
                <a:ea typeface="Calibri"/>
                <a:cs typeface="Calibri"/>
              </a:defRPr>
            </a:pPr>
            <a:r>
              <a:rPr sz="1275" b="1">
                <a:solidFill>
                  <a:srgbClr val="065A82"/>
                </a:solidFill>
                <a:latin typeface="Calibri"/>
                <a:ea typeface="Calibri"/>
                <a:cs typeface="Calibri"/>
              </a:rPr>
              <a:t>4 of 128 expert MLPs</a:t>
            </a:r>
          </a:p>
        </p:txBody>
      </p:sp>
      <p:sp>
        <p:nvSpPr>
          <p:cNvPr id="15" name="Weighted combination">
            <a:extLst>
              <a:ext uri="{FF2B5EF4-FFF2-40B4-BE49-F238E27FC236}">
                <a16:creationId xmlns:a16="http://schemas.microsoft.com/office/drawing/2014/main" id="{49665B27-76AC-4C33-815C-9F932C7C81BD}"/>
              </a:ext>
            </a:extLst>
          </p:cNvPr>
          <p:cNvSpPr>
            <a:spLocks noGrp="1"/>
          </p:cNvSpPr>
          <p:nvPr/>
        </p:nvSpPr>
        <p:spPr>
          <a:xfrm>
            <a:off x="6667500" y="4772025"/>
            <a:ext cx="2095500" cy="314325"/>
          </a:xfrm>
          <a:prstGeom prst="rect">
            <a:avLst/>
          </a:prstGeom>
          <a:solidFill>
            <a:srgbClr val="FFFFFF"/>
          </a:solidFill>
          <a:ln w="9525">
            <a:solidFill>
              <a:srgbClr val="A8BECF"/>
            </a:solidFill>
          </a:ln>
        </p:spPr>
        <p:txBody>
          <a:bodyPr lIns="28575" tIns="28575" rIns="28575" bIns="28575" anchor="ctr">
            <a:noAutofit/>
          </a:bodyPr>
          <a:lstStyle/>
          <a:p>
            <a:pPr algn="ctr">
              <a:buNone/>
              <a:defRPr sz="1275" b="1">
                <a:solidFill>
                  <a:srgbClr val="065A82"/>
                </a:solidFill>
                <a:latin typeface="Calibri"/>
                <a:ea typeface="Calibri"/>
                <a:cs typeface="Calibri"/>
              </a:defRPr>
            </a:pPr>
            <a:r>
              <a:rPr sz="1275" b="1">
                <a:solidFill>
                  <a:srgbClr val="065A82"/>
                </a:solidFill>
                <a:latin typeface="Calibri"/>
                <a:ea typeface="Calibri"/>
                <a:cs typeface="Calibri"/>
              </a:rPr>
              <a:t>Weighted combination</a:t>
            </a:r>
          </a:p>
        </p:txBody>
      </p:sp>
      <p:cxnSp>
        <p:nvCxnSpPr>
          <p:cNvPr id="117" name="Straight Arrow Connector 116"/>
          <p:cNvCxnSpPr>
            <a:stCxn id="13" idx="3"/>
            <a:endCxn id="14" idx="1"/>
          </p:cNvCxnSpPr>
          <p:nvPr/>
        </p:nvCxnSpPr>
        <p:spPr>
          <a:xfrm>
            <a:off x="2762250" y="4929188"/>
            <a:ext cx="666750" cy="0"/>
          </a:xfrm>
          <a:prstGeom prst="straightConnector1">
            <a:avLst/>
          </a:prstGeom>
          <a:ln w="19050">
            <a:solidFill>
              <a:srgbClr val="5D7E96"/>
            </a:solidFill>
            <a:tailEnd type="triangle" w="sm" len="sm"/>
          </a:ln>
        </p:spPr>
      </p:cxnSp>
      <p:cxnSp>
        <p:nvCxnSpPr>
          <p:cNvPr id="118" name="Straight Arrow Connector 117"/>
          <p:cNvCxnSpPr>
            <a:stCxn id="14" idx="3"/>
            <a:endCxn id="15" idx="1"/>
          </p:cNvCxnSpPr>
          <p:nvPr/>
        </p:nvCxnSpPr>
        <p:spPr>
          <a:xfrm>
            <a:off x="6000750" y="4929188"/>
            <a:ext cx="666750" cy="0"/>
          </a:xfrm>
          <a:prstGeom prst="straightConnector1">
            <a:avLst/>
          </a:prstGeom>
          <a:ln w="19050">
            <a:solidFill>
              <a:srgbClr val="5D7E96"/>
            </a:solidFill>
            <a:tailEnd type="triangle" w="sm" len="sm"/>
          </a:ln>
        </p:spPr>
      </p:cxnSp>
    </p:spTree>
    <p:extLst>
      <p:ext uri="{BB962C8B-B14F-4D97-AF65-F5344CB8AC3E}">
        <p14:creationId xmlns:p14="http://schemas.microsoft.com/office/powerpoint/2010/main" val="2061924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8D7FA08-7686-D6C9-2437-402571737FB0}"/>
              </a:ext>
            </a:extLst>
          </p:cNvPr>
          <p:cNvPicPr>
            <a:picLocks noChangeAspect="1"/>
          </p:cNvPicPr>
          <p:nvPr/>
        </p:nvPicPr>
        <p:blipFill>
          <a:blip r:embed="rId3"/>
          <a:srcRect t="8098" b="8098"/>
          <a:stretch>
            <a:fillRect/>
          </a:stretch>
        </p:blipFill>
        <p:spPr>
          <a:xfrm>
            <a:off x="1020952" y="1236145"/>
            <a:ext cx="8763000" cy="2447925"/>
          </a:xfrm>
          <a:prstGeom prst="rect">
            <a:avLst/>
          </a:prstGeom>
        </p:spPr>
      </p:pic>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Transformer blocks and stable computation">
            <a:extLst>
              <a:ext uri="{FF2B5EF4-FFF2-40B4-BE49-F238E27FC236}">
                <a16:creationId xmlns:a16="http://schemas.microsoft.com/office/drawing/2014/main" id="{F4D1EA68-2A7B-42ED-A519-AC9C7E577443}"/>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Transformer blocks and stable computation</a:t>
            </a:r>
          </a:p>
        </p:txBody>
      </p:sp>
      <p:sp>
        <p:nvSpPr>
          <p:cNvPr id="5" name="One Qwen Transformer block, repeated 24 times">
            <a:extLst>
              <a:ext uri="{FF2B5EF4-FFF2-40B4-BE49-F238E27FC236}">
                <a16:creationId xmlns:a16="http://schemas.microsoft.com/office/drawing/2014/main" id="{261FB8FF-3A9D-4C21-96E6-B840A492855F}"/>
              </a:ext>
            </a:extLst>
          </p:cNvPr>
          <p:cNvSpPr>
            <a:spLocks noGrp="1"/>
          </p:cNvSpPr>
          <p:nvPr/>
        </p:nvSpPr>
        <p:spPr>
          <a:xfrm>
            <a:off x="381000" y="1028700"/>
            <a:ext cx="8382000" cy="333375"/>
          </a:xfrm>
          <a:prstGeom prst="rect">
            <a:avLst/>
          </a:prstGeom>
          <a:noFill/>
          <a:ln w="0">
            <a:noFill/>
          </a:ln>
        </p:spPr>
        <p:txBody>
          <a:bodyPr lIns="0" tIns="0" rIns="0" bIns="0">
            <a:noAutofit/>
          </a:bodyPr>
          <a:lstStyle/>
          <a:p>
            <a:pPr algn="l">
              <a:buNone/>
              <a:defRPr sz="1875" b="1">
                <a:solidFill>
                  <a:srgbClr val="0D2137"/>
                </a:solidFill>
                <a:latin typeface="Georgia"/>
                <a:ea typeface="Georgia"/>
                <a:cs typeface="Georgia"/>
              </a:defRPr>
            </a:pPr>
            <a:r>
              <a:rPr sz="1875" b="1">
                <a:solidFill>
                  <a:srgbClr val="0D2137"/>
                </a:solidFill>
                <a:latin typeface="Georgia"/>
                <a:ea typeface="Georgia"/>
                <a:cs typeface="Georgia"/>
              </a:rPr>
              <a:t>One Qwen Transformer block, repeated 24 times</a:t>
            </a:r>
          </a:p>
        </p:txBody>
      </p:sp>
      <p:pic>
        <p:nvPicPr>
          <p:cNvPr id="15" name="Picture 14"/>
          <p:cNvPicPr>
            <a:picLocks noChangeAspect="1"/>
          </p:cNvPicPr>
          <p:nvPr/>
        </p:nvPicPr>
        <p:blipFill>
          <a:blip r:embed="rId3"/>
          <a:srcRect t="8098" b="8098"/>
          <a:stretch>
            <a:fillRect/>
          </a:stretch>
        </p:blipFill>
        <p:spPr>
          <a:xfrm>
            <a:off x="190500" y="1457325"/>
            <a:ext cx="8763000" cy="2447925"/>
          </a:xfrm>
          <a:prstGeom prst="rect">
            <a:avLst/>
          </a:prstGeom>
        </p:spPr>
      </p:pic>
      <p:sp>
        <p:nvSpPr>
          <p:cNvPr id="7" name="Residual connection: add the input to the computed">
            <a:extLst>
              <a:ext uri="{FF2B5EF4-FFF2-40B4-BE49-F238E27FC236}">
                <a16:creationId xmlns:a16="http://schemas.microsoft.com/office/drawing/2014/main" id="{C1292F65-A1C0-4759-941A-7651007980CF}"/>
              </a:ext>
            </a:extLst>
          </p:cNvPr>
          <p:cNvSpPr>
            <a:spLocks noGrp="1"/>
          </p:cNvSpPr>
          <p:nvPr/>
        </p:nvSpPr>
        <p:spPr>
          <a:xfrm>
            <a:off x="381000" y="4057650"/>
            <a:ext cx="8382000" cy="266700"/>
          </a:xfrm>
          <a:prstGeom prst="rect">
            <a:avLst/>
          </a:prstGeom>
          <a:noFill/>
          <a:ln w="0">
            <a:noFill/>
          </a:ln>
        </p:spPr>
        <p:txBody>
          <a:bodyPr lIns="0" tIns="0" rIns="0" bIns="0">
            <a:noAutofit/>
          </a:bodyPr>
          <a:lstStyle/>
          <a:p>
            <a:pPr algn="l">
              <a:buNone/>
              <a:defRPr sz="1575" b="1">
                <a:solidFill>
                  <a:srgbClr val="A65F00"/>
                </a:solidFill>
                <a:latin typeface="Calibri"/>
                <a:ea typeface="Calibri"/>
                <a:cs typeface="Calibri"/>
              </a:defRPr>
            </a:pPr>
            <a:r>
              <a:rPr sz="1575" b="1">
                <a:solidFill>
                  <a:srgbClr val="A65F00"/>
                </a:solidFill>
                <a:latin typeface="Calibri"/>
                <a:ea typeface="Calibri"/>
                <a:cs typeface="Calibri"/>
              </a:rPr>
              <a:t>Residual connection: add the input to the computed update</a:t>
            </a:r>
          </a:p>
        </p:txBody>
      </p:sp>
      <p:sp>
        <p:nvSpPr>
          <p:cNvPr id="8" name="RMSNorm controls the scale before attention and ML">
            <a:extLst>
              <a:ext uri="{FF2B5EF4-FFF2-40B4-BE49-F238E27FC236}">
                <a16:creationId xmlns:a16="http://schemas.microsoft.com/office/drawing/2014/main" id="{017FFB23-CEFD-4ACC-96AF-FF7DD547D30C}"/>
              </a:ext>
            </a:extLst>
          </p:cNvPr>
          <p:cNvSpPr>
            <a:spLocks noGrp="1"/>
          </p:cNvSpPr>
          <p:nvPr/>
        </p:nvSpPr>
        <p:spPr>
          <a:xfrm>
            <a:off x="381000" y="4429125"/>
            <a:ext cx="8382000" cy="266700"/>
          </a:xfrm>
          <a:prstGeom prst="rect">
            <a:avLst/>
          </a:prstGeom>
          <a:noFill/>
          <a:ln w="0">
            <a:noFill/>
          </a:ln>
        </p:spPr>
        <p:txBody>
          <a:bodyPr lIns="0" tIns="0" rIns="0" bIns="0">
            <a:noAutofit/>
          </a:bodyPr>
          <a:lstStyle/>
          <a:p>
            <a:pPr algn="l">
              <a:buNone/>
              <a:defRPr sz="1575" b="1">
                <a:solidFill>
                  <a:srgbClr val="065A82"/>
                </a:solidFill>
                <a:latin typeface="Calibri"/>
                <a:ea typeface="Calibri"/>
                <a:cs typeface="Calibri"/>
              </a:defRPr>
            </a:pPr>
            <a:r>
              <a:rPr sz="1575" b="1">
                <a:solidFill>
                  <a:srgbClr val="065A82"/>
                </a:solidFill>
                <a:latin typeface="Calibri"/>
                <a:ea typeface="Calibri"/>
                <a:cs typeface="Calibri"/>
              </a:rPr>
              <a:t>RMSNorm controls the scale before attention and MLP</a:t>
            </a:r>
          </a:p>
        </p:txBody>
      </p:sp>
      <p:sp>
        <p:nvSpPr>
          <p:cNvPr id="9" name="896 values per token in and out. Each block has it">
            <a:extLst>
              <a:ext uri="{FF2B5EF4-FFF2-40B4-BE49-F238E27FC236}">
                <a16:creationId xmlns:a16="http://schemas.microsoft.com/office/drawing/2014/main" id="{875771EC-C37E-4FC7-933E-77F5777422E9}"/>
              </a:ext>
            </a:extLst>
          </p:cNvPr>
          <p:cNvSpPr>
            <a:spLocks noGrp="1"/>
          </p:cNvSpPr>
          <p:nvPr/>
        </p:nvSpPr>
        <p:spPr>
          <a:xfrm>
            <a:off x="381000" y="4829175"/>
            <a:ext cx="8382000" cy="228600"/>
          </a:xfrm>
          <a:prstGeom prst="rect">
            <a:avLst/>
          </a:prstGeom>
          <a:noFill/>
          <a:ln w="0">
            <a:noFill/>
          </a:ln>
        </p:spPr>
        <p:txBody>
          <a:bodyPr lIns="0" tIns="0" rIns="0" bIns="0">
            <a:noAutofit/>
          </a:bodyPr>
          <a:lstStyle/>
          <a:p>
            <a:pPr algn="l">
              <a:buNone/>
              <a:defRPr sz="1275" b="0">
                <a:solidFill>
                  <a:srgbClr val="64748B"/>
                </a:solidFill>
                <a:latin typeface="Calibri"/>
                <a:ea typeface="Calibri"/>
                <a:cs typeface="Calibri"/>
              </a:defRPr>
            </a:pPr>
            <a:r>
              <a:rPr sz="1275" b="0">
                <a:solidFill>
                  <a:srgbClr val="64748B"/>
                </a:solidFill>
                <a:latin typeface="Calibri"/>
                <a:ea typeface="Calibri"/>
                <a:cs typeface="Calibri"/>
              </a:rPr>
              <a:t>896 values per token in and out. Each block has its own learned weights.</a:t>
            </a:r>
          </a:p>
        </p:txBody>
      </p:sp>
      <p:pic>
        <p:nvPicPr>
          <p:cNvPr id="6" name="Picture 5">
            <a:extLst>
              <a:ext uri="{FF2B5EF4-FFF2-40B4-BE49-F238E27FC236}">
                <a16:creationId xmlns:a16="http://schemas.microsoft.com/office/drawing/2014/main" id="{0AEBEA86-5155-DDC3-7233-298A3B7591E2}"/>
              </a:ext>
            </a:extLst>
          </p:cNvPr>
          <p:cNvPicPr>
            <a:picLocks noChangeAspect="1"/>
          </p:cNvPicPr>
          <p:nvPr/>
        </p:nvPicPr>
        <p:blipFill>
          <a:blip r:embed="rId3"/>
          <a:srcRect t="8098" b="8098"/>
          <a:stretch>
            <a:fillRect/>
          </a:stretch>
        </p:blipFill>
        <p:spPr>
          <a:xfrm>
            <a:off x="299100" y="1609725"/>
            <a:ext cx="8763000" cy="2447925"/>
          </a:xfrm>
          <a:prstGeom prst="rect">
            <a:avLst/>
          </a:prstGeom>
        </p:spPr>
      </p:pic>
      <p:sp>
        <p:nvSpPr>
          <p:cNvPr id="11" name="TextBox 10">
            <a:extLst>
              <a:ext uri="{FF2B5EF4-FFF2-40B4-BE49-F238E27FC236}">
                <a16:creationId xmlns:a16="http://schemas.microsoft.com/office/drawing/2014/main" id="{7F41BE00-0726-33C4-CD5F-FC6D1B6094BF}"/>
              </a:ext>
            </a:extLst>
          </p:cNvPr>
          <p:cNvSpPr txBox="1"/>
          <p:nvPr/>
        </p:nvSpPr>
        <p:spPr>
          <a:xfrm rot="19483724">
            <a:off x="4506935" y="1398589"/>
            <a:ext cx="516488"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2061924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Foundation of LLM</a:t>
            </a:r>
            <a:endParaRPr sz="1800"/>
          </a:p>
        </p:txBody>
      </p:sp>
      <p:sp>
        <p:nvSpPr>
          <p:cNvPr id="4" name="Logits, probabilities, and temperature">
            <a:extLst>
              <a:ext uri="{FF2B5EF4-FFF2-40B4-BE49-F238E27FC236}">
                <a16:creationId xmlns:a16="http://schemas.microsoft.com/office/drawing/2014/main" id="{7F167705-F917-4976-BD83-B4647829F43D}"/>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Logits, probabilities, and temperature</a:t>
            </a:r>
          </a:p>
        </p:txBody>
      </p:sp>
      <p:sp>
        <p:nvSpPr>
          <p:cNvPr id="5" name="The cat slept because it was …">
            <a:extLst>
              <a:ext uri="{FF2B5EF4-FFF2-40B4-BE49-F238E27FC236}">
                <a16:creationId xmlns:a16="http://schemas.microsoft.com/office/drawing/2014/main" id="{B2A38671-B543-41AA-B98C-1152EDFE862B}"/>
              </a:ext>
            </a:extLst>
          </p:cNvPr>
          <p:cNvSpPr>
            <a:spLocks noGrp="1"/>
          </p:cNvSpPr>
          <p:nvPr/>
        </p:nvSpPr>
        <p:spPr>
          <a:xfrm>
            <a:off x="381000" y="1009650"/>
            <a:ext cx="8382000" cy="314325"/>
          </a:xfrm>
          <a:prstGeom prst="rect">
            <a:avLst/>
          </a:prstGeom>
          <a:noFill/>
          <a:ln w="0">
            <a:noFill/>
          </a:ln>
        </p:spPr>
        <p:txBody>
          <a:bodyPr lIns="0" tIns="0" rIns="0" bIns="0">
            <a:noAutofit/>
          </a:bodyPr>
          <a:lstStyle/>
          <a:p>
            <a:pPr algn="l">
              <a:buNone/>
              <a:defRPr sz="1950" b="1">
                <a:solidFill>
                  <a:srgbClr val="0D2137"/>
                </a:solidFill>
                <a:latin typeface="Georgia"/>
                <a:ea typeface="Georgia"/>
                <a:cs typeface="Georgia"/>
              </a:defRPr>
            </a:pPr>
            <a:r>
              <a:rPr sz="1950" b="1">
                <a:solidFill>
                  <a:srgbClr val="0D2137"/>
                </a:solidFill>
                <a:latin typeface="Georgia"/>
                <a:ea typeface="Georgia"/>
                <a:cs typeface="Georgia"/>
              </a:rPr>
              <a:t>The cat slept because it was …</a:t>
            </a:r>
          </a:p>
        </p:txBody>
      </p:sp>
      <p:sp>
        <p:nvSpPr>
          <p:cNvPr id="6" name="Hidden vector">
            <a:extLst>
              <a:ext uri="{FF2B5EF4-FFF2-40B4-BE49-F238E27FC236}">
                <a16:creationId xmlns:a16="http://schemas.microsoft.com/office/drawing/2014/main" id="{A489B88F-1386-4BF5-B577-D9C4EF9A4A52}"/>
              </a:ext>
            </a:extLst>
          </p:cNvPr>
          <p:cNvSpPr>
            <a:spLocks noGrp="1"/>
          </p:cNvSpPr>
          <p:nvPr/>
        </p:nvSpPr>
        <p:spPr>
          <a:xfrm>
            <a:off x="904875" y="1400175"/>
            <a:ext cx="1809750" cy="238125"/>
          </a:xfrm>
          <a:prstGeom prst="rect">
            <a:avLst/>
          </a:prstGeom>
          <a:noFill/>
          <a:ln w="0">
            <a:noFill/>
          </a:ln>
        </p:spPr>
        <p:txBody>
          <a:bodyPr lIns="0" tIns="0" rIns="0" bIns="0">
            <a:noAutofit/>
          </a:bodyPr>
          <a:lstStyle/>
          <a:p>
            <a:pPr algn="ctr">
              <a:buNone/>
              <a:defRPr sz="1500" b="1">
                <a:solidFill>
                  <a:srgbClr val="065A82"/>
                </a:solidFill>
                <a:latin typeface="Calibri"/>
                <a:ea typeface="Calibri"/>
                <a:cs typeface="Calibri"/>
              </a:defRPr>
            </a:pPr>
            <a:r>
              <a:rPr sz="1500" b="1">
                <a:solidFill>
                  <a:srgbClr val="065A82"/>
                </a:solidFill>
                <a:latin typeface="Calibri"/>
                <a:ea typeface="Calibri"/>
                <a:cs typeface="Calibri"/>
              </a:rPr>
              <a:t>Hidden vector</a:t>
            </a:r>
          </a:p>
        </p:txBody>
      </p:sp>
      <p:sp>
        <p:nvSpPr>
          <p:cNvPr id="7" name="Logits">
            <a:extLst>
              <a:ext uri="{FF2B5EF4-FFF2-40B4-BE49-F238E27FC236}">
                <a16:creationId xmlns:a16="http://schemas.microsoft.com/office/drawing/2014/main" id="{040D2C77-B1F0-422D-AA86-C9767A8C12BC}"/>
              </a:ext>
            </a:extLst>
          </p:cNvPr>
          <p:cNvSpPr>
            <a:spLocks noGrp="1"/>
          </p:cNvSpPr>
          <p:nvPr/>
        </p:nvSpPr>
        <p:spPr>
          <a:xfrm>
            <a:off x="2571750" y="1400175"/>
            <a:ext cx="1809750" cy="238125"/>
          </a:xfrm>
          <a:prstGeom prst="rect">
            <a:avLst/>
          </a:prstGeom>
          <a:noFill/>
          <a:ln w="0">
            <a:noFill/>
          </a:ln>
        </p:spPr>
        <p:txBody>
          <a:bodyPr lIns="0" tIns="0" rIns="0" bIns="0">
            <a:noAutofit/>
          </a:bodyPr>
          <a:lstStyle/>
          <a:p>
            <a:pPr algn="ctr">
              <a:buNone/>
              <a:defRPr sz="1500" b="1">
                <a:solidFill>
                  <a:srgbClr val="065A82"/>
                </a:solidFill>
                <a:latin typeface="Calibri"/>
                <a:ea typeface="Calibri"/>
                <a:cs typeface="Calibri"/>
              </a:defRPr>
            </a:pPr>
            <a:r>
              <a:rPr sz="1500" b="1">
                <a:solidFill>
                  <a:srgbClr val="065A82"/>
                </a:solidFill>
                <a:latin typeface="Calibri"/>
                <a:ea typeface="Calibri"/>
                <a:cs typeface="Calibri"/>
              </a:rPr>
              <a:t>Logits</a:t>
            </a:r>
          </a:p>
        </p:txBody>
      </p:sp>
      <p:sp>
        <p:nvSpPr>
          <p:cNvPr id="8" name="Probabilities">
            <a:extLst>
              <a:ext uri="{FF2B5EF4-FFF2-40B4-BE49-F238E27FC236}">
                <a16:creationId xmlns:a16="http://schemas.microsoft.com/office/drawing/2014/main" id="{DE97AC5F-43E7-4F65-BEB5-2D31940CB81C}"/>
              </a:ext>
            </a:extLst>
          </p:cNvPr>
          <p:cNvSpPr>
            <a:spLocks noGrp="1"/>
          </p:cNvSpPr>
          <p:nvPr/>
        </p:nvSpPr>
        <p:spPr>
          <a:xfrm>
            <a:off x="4429125" y="1400175"/>
            <a:ext cx="1809750" cy="238125"/>
          </a:xfrm>
          <a:prstGeom prst="rect">
            <a:avLst/>
          </a:prstGeom>
          <a:noFill/>
          <a:ln w="0">
            <a:noFill/>
          </a:ln>
        </p:spPr>
        <p:txBody>
          <a:bodyPr lIns="0" tIns="0" rIns="0" bIns="0">
            <a:noAutofit/>
          </a:bodyPr>
          <a:lstStyle/>
          <a:p>
            <a:pPr algn="ctr">
              <a:buNone/>
              <a:defRPr sz="1500" b="1">
                <a:solidFill>
                  <a:srgbClr val="065A82"/>
                </a:solidFill>
                <a:latin typeface="Calibri"/>
                <a:ea typeface="Calibri"/>
                <a:cs typeface="Calibri"/>
              </a:defRPr>
            </a:pPr>
            <a:r>
              <a:rPr sz="1500" b="1">
                <a:solidFill>
                  <a:srgbClr val="065A82"/>
                </a:solidFill>
                <a:latin typeface="Calibri"/>
                <a:ea typeface="Calibri"/>
                <a:cs typeface="Calibri"/>
              </a:rPr>
              <a:t>Probabilities</a:t>
            </a:r>
          </a:p>
        </p:txBody>
      </p:sp>
      <p:sp>
        <p:nvSpPr>
          <p:cNvPr id="9" name="Sample next token">
            <a:extLst>
              <a:ext uri="{FF2B5EF4-FFF2-40B4-BE49-F238E27FC236}">
                <a16:creationId xmlns:a16="http://schemas.microsoft.com/office/drawing/2014/main" id="{1EBAEFAB-8331-48D2-BC48-4CA3901201B8}"/>
              </a:ext>
            </a:extLst>
          </p:cNvPr>
          <p:cNvSpPr>
            <a:spLocks noGrp="1"/>
          </p:cNvSpPr>
          <p:nvPr/>
        </p:nvSpPr>
        <p:spPr>
          <a:xfrm>
            <a:off x="6381750" y="1400175"/>
            <a:ext cx="1809750" cy="238125"/>
          </a:xfrm>
          <a:prstGeom prst="rect">
            <a:avLst/>
          </a:prstGeom>
          <a:noFill/>
          <a:ln w="0">
            <a:noFill/>
          </a:ln>
        </p:spPr>
        <p:txBody>
          <a:bodyPr lIns="0" tIns="0" rIns="0" bIns="0">
            <a:noAutofit/>
          </a:bodyPr>
          <a:lstStyle/>
          <a:p>
            <a:pPr algn="ctr">
              <a:buNone/>
              <a:defRPr sz="1500" b="1">
                <a:solidFill>
                  <a:srgbClr val="065A82"/>
                </a:solidFill>
                <a:latin typeface="Calibri"/>
                <a:ea typeface="Calibri"/>
                <a:cs typeface="Calibri"/>
              </a:defRPr>
            </a:pPr>
            <a:r>
              <a:rPr sz="1500" b="1">
                <a:solidFill>
                  <a:srgbClr val="065A82"/>
                </a:solidFill>
                <a:latin typeface="Calibri"/>
                <a:ea typeface="Calibri"/>
                <a:cs typeface="Calibri"/>
              </a:rPr>
              <a:t>Sample next token</a:t>
            </a:r>
          </a:p>
        </p:txBody>
      </p:sp>
      <p:pic>
        <p:nvPicPr>
          <p:cNvPr id="32" name="Picture 31"/>
          <p:cNvPicPr>
            <a:picLocks noChangeAspect="1"/>
          </p:cNvPicPr>
          <p:nvPr/>
        </p:nvPicPr>
        <p:blipFill>
          <a:blip r:embed="rId3"/>
          <a:srcRect t="30909" b="30909"/>
          <a:stretch>
            <a:fillRect/>
          </a:stretch>
        </p:blipFill>
        <p:spPr>
          <a:xfrm>
            <a:off x="381000" y="1657350"/>
            <a:ext cx="8382000" cy="1066800"/>
          </a:xfrm>
          <a:prstGeom prst="rect">
            <a:avLst/>
          </a:prstGeom>
        </p:spPr>
      </p:pic>
      <p:sp>
        <p:nvSpPr>
          <p:cNvPr id="11" name="896 values">
            <a:extLst>
              <a:ext uri="{FF2B5EF4-FFF2-40B4-BE49-F238E27FC236}">
                <a16:creationId xmlns:a16="http://schemas.microsoft.com/office/drawing/2014/main" id="{0C341BE4-3126-467B-A6E1-B45E2A52E006}"/>
              </a:ext>
            </a:extLst>
          </p:cNvPr>
          <p:cNvSpPr>
            <a:spLocks noGrp="1"/>
          </p:cNvSpPr>
          <p:nvPr/>
        </p:nvSpPr>
        <p:spPr>
          <a:xfrm>
            <a:off x="904875" y="2733675"/>
            <a:ext cx="1809750" cy="209550"/>
          </a:xfrm>
          <a:prstGeom prst="rect">
            <a:avLst/>
          </a:prstGeom>
          <a:noFill/>
          <a:ln w="0">
            <a:noFill/>
          </a:ln>
        </p:spPr>
        <p:txBody>
          <a:bodyPr lIns="0" tIns="0" rIns="0" bIns="0">
            <a:noAutofit/>
          </a:bodyPr>
          <a:lstStyle/>
          <a:p>
            <a:pPr algn="ctr">
              <a:buNone/>
              <a:defRPr sz="1275" b="0">
                <a:solidFill>
                  <a:srgbClr val="64748B"/>
                </a:solidFill>
                <a:latin typeface="Calibri"/>
                <a:ea typeface="Calibri"/>
                <a:cs typeface="Calibri"/>
              </a:defRPr>
            </a:pPr>
            <a:r>
              <a:rPr sz="1275" b="0">
                <a:solidFill>
                  <a:srgbClr val="64748B"/>
                </a:solidFill>
                <a:latin typeface="Calibri"/>
                <a:ea typeface="Calibri"/>
                <a:cs typeface="Calibri"/>
              </a:rPr>
              <a:t>896 values</a:t>
            </a:r>
          </a:p>
        </p:txBody>
      </p:sp>
      <p:sp>
        <p:nvSpPr>
          <p:cNvPr id="12" name="151,936 raw scores">
            <a:extLst>
              <a:ext uri="{FF2B5EF4-FFF2-40B4-BE49-F238E27FC236}">
                <a16:creationId xmlns:a16="http://schemas.microsoft.com/office/drawing/2014/main" id="{1835E55C-1A27-45B2-82C7-18AAC5296CBB}"/>
              </a:ext>
            </a:extLst>
          </p:cNvPr>
          <p:cNvSpPr>
            <a:spLocks noGrp="1"/>
          </p:cNvSpPr>
          <p:nvPr/>
        </p:nvSpPr>
        <p:spPr>
          <a:xfrm>
            <a:off x="2571750" y="2733675"/>
            <a:ext cx="1809750" cy="209550"/>
          </a:xfrm>
          <a:prstGeom prst="rect">
            <a:avLst/>
          </a:prstGeom>
          <a:noFill/>
          <a:ln w="0">
            <a:noFill/>
          </a:ln>
        </p:spPr>
        <p:txBody>
          <a:bodyPr lIns="0" tIns="0" rIns="0" bIns="0">
            <a:noAutofit/>
          </a:bodyPr>
          <a:lstStyle/>
          <a:p>
            <a:pPr algn="ctr">
              <a:buNone/>
              <a:defRPr sz="1275" b="0">
                <a:solidFill>
                  <a:srgbClr val="64748B"/>
                </a:solidFill>
                <a:latin typeface="Calibri"/>
                <a:ea typeface="Calibri"/>
                <a:cs typeface="Calibri"/>
              </a:defRPr>
            </a:pPr>
            <a:r>
              <a:rPr sz="1275" b="0">
                <a:solidFill>
                  <a:srgbClr val="64748B"/>
                </a:solidFill>
                <a:latin typeface="Calibri"/>
                <a:ea typeface="Calibri"/>
                <a:cs typeface="Calibri"/>
              </a:rPr>
              <a:t>151,936 raw scores</a:t>
            </a:r>
          </a:p>
        </p:txBody>
      </p:sp>
      <p:sp>
        <p:nvSpPr>
          <p:cNvPr id="13" name="softmax(logits ÷ T)">
            <a:extLst>
              <a:ext uri="{FF2B5EF4-FFF2-40B4-BE49-F238E27FC236}">
                <a16:creationId xmlns:a16="http://schemas.microsoft.com/office/drawing/2014/main" id="{BF7805D0-A89F-4C8C-97D0-3CBFB21CABF5}"/>
              </a:ext>
            </a:extLst>
          </p:cNvPr>
          <p:cNvSpPr>
            <a:spLocks noGrp="1"/>
          </p:cNvSpPr>
          <p:nvPr/>
        </p:nvSpPr>
        <p:spPr>
          <a:xfrm>
            <a:off x="4429125" y="2733675"/>
            <a:ext cx="1809750" cy="209550"/>
          </a:xfrm>
          <a:prstGeom prst="rect">
            <a:avLst/>
          </a:prstGeom>
          <a:noFill/>
          <a:ln w="0">
            <a:noFill/>
          </a:ln>
        </p:spPr>
        <p:txBody>
          <a:bodyPr lIns="0" tIns="0" rIns="0" bIns="0">
            <a:noAutofit/>
          </a:bodyPr>
          <a:lstStyle/>
          <a:p>
            <a:pPr algn="ctr">
              <a:buNone/>
              <a:defRPr sz="1275" b="0">
                <a:solidFill>
                  <a:srgbClr val="64748B"/>
                </a:solidFill>
                <a:latin typeface="Calibri"/>
                <a:ea typeface="Calibri"/>
                <a:cs typeface="Calibri"/>
              </a:defRPr>
            </a:pPr>
            <a:r>
              <a:rPr sz="1275" b="0">
                <a:solidFill>
                  <a:srgbClr val="64748B"/>
                </a:solidFill>
                <a:latin typeface="Calibri"/>
                <a:ea typeface="Calibri"/>
                <a:cs typeface="Calibri"/>
              </a:rPr>
              <a:t>softmax(logits ÷ T)</a:t>
            </a:r>
          </a:p>
        </p:txBody>
      </p:sp>
      <p:sp>
        <p:nvSpPr>
          <p:cNvPr id="14" name="Append and repeat">
            <a:extLst>
              <a:ext uri="{FF2B5EF4-FFF2-40B4-BE49-F238E27FC236}">
                <a16:creationId xmlns:a16="http://schemas.microsoft.com/office/drawing/2014/main" id="{9650DBC1-1A87-492A-9630-78B9B637B690}"/>
              </a:ext>
            </a:extLst>
          </p:cNvPr>
          <p:cNvSpPr>
            <a:spLocks noGrp="1"/>
          </p:cNvSpPr>
          <p:nvPr/>
        </p:nvSpPr>
        <p:spPr>
          <a:xfrm>
            <a:off x="6381750" y="2733675"/>
            <a:ext cx="1809750" cy="209550"/>
          </a:xfrm>
          <a:prstGeom prst="rect">
            <a:avLst/>
          </a:prstGeom>
          <a:noFill/>
          <a:ln w="0">
            <a:noFill/>
          </a:ln>
        </p:spPr>
        <p:txBody>
          <a:bodyPr lIns="0" tIns="0" rIns="0" bIns="0">
            <a:noAutofit/>
          </a:bodyPr>
          <a:lstStyle/>
          <a:p>
            <a:pPr algn="ctr">
              <a:buNone/>
              <a:defRPr sz="1275" b="0">
                <a:solidFill>
                  <a:srgbClr val="64748B"/>
                </a:solidFill>
                <a:latin typeface="Calibri"/>
                <a:ea typeface="Calibri"/>
                <a:cs typeface="Calibri"/>
              </a:defRPr>
            </a:pPr>
            <a:r>
              <a:rPr sz="1275" b="0">
                <a:solidFill>
                  <a:srgbClr val="64748B"/>
                </a:solidFill>
                <a:latin typeface="Calibri"/>
                <a:ea typeface="Calibri"/>
                <a:cs typeface="Calibri"/>
              </a:rPr>
              <a:t>Append and repeat</a:t>
            </a:r>
          </a:p>
        </p:txBody>
      </p:sp>
      <p:sp>
        <p:nvSpPr>
          <p:cNvPr id="15" name="Four-token toy vocabulary: logits = [tired 2, hung">
            <a:extLst>
              <a:ext uri="{FF2B5EF4-FFF2-40B4-BE49-F238E27FC236}">
                <a16:creationId xmlns:a16="http://schemas.microsoft.com/office/drawing/2014/main" id="{3CBE1B32-6675-46D5-952A-2F861DD68D23}"/>
              </a:ext>
            </a:extLst>
          </p:cNvPr>
          <p:cNvSpPr>
            <a:spLocks noGrp="1"/>
          </p:cNvSpPr>
          <p:nvPr/>
        </p:nvSpPr>
        <p:spPr>
          <a:xfrm>
            <a:off x="381000" y="2971800"/>
            <a:ext cx="8382000" cy="219075"/>
          </a:xfrm>
          <a:prstGeom prst="rect">
            <a:avLst/>
          </a:prstGeom>
          <a:noFill/>
          <a:ln w="0">
            <a:noFill/>
          </a:ln>
        </p:spPr>
        <p:txBody>
          <a:bodyPr lIns="0" tIns="0" rIns="0" bIns="0">
            <a:noAutofit/>
          </a:bodyPr>
          <a:lstStyle/>
          <a:p>
            <a:pPr algn="ctr">
              <a:buNone/>
              <a:defRPr sz="1350" b="0">
                <a:solidFill>
                  <a:srgbClr val="1E293B"/>
                </a:solidFill>
                <a:latin typeface="Calibri"/>
                <a:ea typeface="Calibri"/>
                <a:cs typeface="Calibri"/>
              </a:defRPr>
            </a:pPr>
            <a:r>
              <a:rPr sz="1350" b="0">
                <a:solidFill>
                  <a:srgbClr val="1E293B"/>
                </a:solidFill>
                <a:latin typeface="Calibri"/>
                <a:ea typeface="Calibri"/>
                <a:cs typeface="Calibri"/>
              </a:rPr>
              <a:t>Four-token toy vocabulary: logits = [tired 2, hungry 1, cold 0, happy −1]</a:t>
            </a:r>
          </a:p>
        </p:txBody>
      </p:sp>
      <p:graphicFrame>
        <p:nvGraphicFramePr>
          <p:cNvPr id="38" name="Chart"/>
          <p:cNvGraphicFramePr/>
          <p:nvPr/>
        </p:nvGraphicFramePr>
        <p:xfrm>
          <a:off x="333375" y="3209925"/>
          <a:ext cx="2762250" cy="1524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9" name="Chart"/>
          <p:cNvGraphicFramePr/>
          <p:nvPr/>
        </p:nvGraphicFramePr>
        <p:xfrm>
          <a:off x="3190875" y="3209925"/>
          <a:ext cx="2762250" cy="1524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0" name="Chart"/>
          <p:cNvGraphicFramePr/>
          <p:nvPr/>
        </p:nvGraphicFramePr>
        <p:xfrm>
          <a:off x="6048375" y="3209925"/>
          <a:ext cx="2762250" cy="152400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mperature changes sampling probabilities. Model ">
            <a:extLst>
              <a:ext uri="{FF2B5EF4-FFF2-40B4-BE49-F238E27FC236}">
                <a16:creationId xmlns:a16="http://schemas.microsoft.com/office/drawing/2014/main" id="{100C17C8-3EE5-4758-86A1-DE4C6037FAA9}"/>
              </a:ext>
            </a:extLst>
          </p:cNvPr>
          <p:cNvSpPr>
            <a:spLocks noGrp="1"/>
          </p:cNvSpPr>
          <p:nvPr/>
        </p:nvSpPr>
        <p:spPr>
          <a:xfrm>
            <a:off x="381000" y="4829175"/>
            <a:ext cx="8382000" cy="238125"/>
          </a:xfrm>
          <a:prstGeom prst="rect">
            <a:avLst/>
          </a:prstGeom>
          <a:noFill/>
          <a:ln w="0">
            <a:noFill/>
          </a:ln>
        </p:spPr>
        <p:txBody>
          <a:bodyPr lIns="0" tIns="0" rIns="0" bIns="0">
            <a:noAutofit/>
          </a:bodyPr>
          <a:lstStyle/>
          <a:p>
            <a:pPr algn="l">
              <a:buNone/>
              <a:defRPr sz="1425" b="1">
                <a:solidFill>
                  <a:srgbClr val="065A82"/>
                </a:solidFill>
                <a:latin typeface="Calibri"/>
                <a:ea typeface="Calibri"/>
                <a:cs typeface="Calibri"/>
              </a:defRPr>
            </a:pPr>
            <a:r>
              <a:rPr sz="1425" b="1">
                <a:solidFill>
                  <a:srgbClr val="065A82"/>
                </a:solidFill>
                <a:latin typeface="Calibri"/>
                <a:ea typeface="Calibri"/>
                <a:cs typeface="Calibri"/>
              </a:rPr>
              <a:t>Temperature changes sampling probabilities. Model weights stay fixed.</a:t>
            </a:r>
          </a:p>
        </p:txBody>
      </p:sp>
    </p:spTree>
    <p:extLst>
      <p:ext uri="{BB962C8B-B14F-4D97-AF65-F5344CB8AC3E}">
        <p14:creationId xmlns:p14="http://schemas.microsoft.com/office/powerpoint/2010/main" val="2061924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Transformer Architecture</a:t>
            </a:r>
            <a:endParaRPr sz="1800"/>
          </a:p>
        </p:txBody>
      </p:sp>
      <p:sp>
        <p:nvSpPr>
          <p:cNvPr id="4" name="The complete next-token prediction system">
            <a:extLst>
              <a:ext uri="{FF2B5EF4-FFF2-40B4-BE49-F238E27FC236}">
                <a16:creationId xmlns:a16="http://schemas.microsoft.com/office/drawing/2014/main" id="{FC67298F-8DC1-4B14-8E82-764638FB9DEF}"/>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The complete next-token prediction system</a:t>
            </a:r>
          </a:p>
        </p:txBody>
      </p:sp>
      <p:pic>
        <p:nvPicPr>
          <p:cNvPr id="19" name="Picture 18"/>
          <p:cNvPicPr>
            <a:picLocks noChangeAspect="1"/>
          </p:cNvPicPr>
          <p:nvPr/>
        </p:nvPicPr>
        <p:blipFill>
          <a:blip r:embed="rId3"/>
          <a:stretch/>
        </p:blipFill>
        <p:spPr>
          <a:xfrm>
            <a:off x="570585" y="942975"/>
            <a:ext cx="2573579" cy="3790950"/>
          </a:xfrm>
          <a:prstGeom prst="rect">
            <a:avLst/>
          </a:prstGeom>
        </p:spPr>
      </p:pic>
      <p:sp>
        <p:nvSpPr>
          <p:cNvPr id="6" name="Figure 1, Vaswani et al. (2017)&#10;Attention Is All Y">
            <a:extLst>
              <a:ext uri="{FF2B5EF4-FFF2-40B4-BE49-F238E27FC236}">
                <a16:creationId xmlns:a16="http://schemas.microsoft.com/office/drawing/2014/main" id="{2FC3EB06-EF1F-4D10-9376-DCF5E5B02C3F}"/>
              </a:ext>
            </a:extLst>
          </p:cNvPr>
          <p:cNvSpPr>
            <a:spLocks noGrp="1"/>
          </p:cNvSpPr>
          <p:nvPr/>
        </p:nvSpPr>
        <p:spPr>
          <a:xfrm>
            <a:off x="381000" y="4791075"/>
            <a:ext cx="3048000" cy="323850"/>
          </a:xfrm>
          <a:prstGeom prst="rect">
            <a:avLst/>
          </a:prstGeom>
          <a:noFill/>
          <a:ln w="0">
            <a:noFill/>
          </a:ln>
        </p:spPr>
        <p:txBody>
          <a:bodyPr lIns="0" tIns="0" rIns="0" bIns="0">
            <a:noAutofit/>
          </a:bodyPr>
          <a:lstStyle/>
          <a:p>
            <a:pPr algn="l">
              <a:buNone/>
              <a:defRPr sz="1050" b="0">
                <a:solidFill>
                  <a:srgbClr val="64748B"/>
                </a:solidFill>
                <a:latin typeface="Calibri"/>
                <a:ea typeface="Calibri"/>
                <a:cs typeface="Calibri"/>
              </a:defRPr>
            </a:pPr>
            <a:r>
              <a:rPr sz="1050" b="0">
                <a:solidFill>
                  <a:srgbClr val="64748B"/>
                </a:solidFill>
                <a:latin typeface="Calibri"/>
                <a:ea typeface="Calibri"/>
                <a:cs typeface="Calibri"/>
              </a:rPr>
              <a:t>Figure 1, Vaswani et al. (2017)</a:t>
            </a:r>
          </a:p>
          <a:p>
            <a:pPr algn="l">
              <a:buNone/>
              <a:defRPr sz="1050" b="0">
                <a:solidFill>
                  <a:srgbClr val="64748B"/>
                </a:solidFill>
                <a:latin typeface="Calibri"/>
                <a:ea typeface="Calibri"/>
                <a:cs typeface="Calibri"/>
              </a:defRPr>
            </a:pPr>
            <a:r>
              <a:rPr sz="1050" b="0" u="sng">
                <a:solidFill>
                  <a:srgbClr val="64748B"/>
                </a:solidFill>
                <a:latin typeface="Calibri"/>
                <a:ea typeface="Calibri"/>
                <a:cs typeface="Calibri"/>
                <a:hlinkClick r:id="rId4"/>
              </a:rPr>
              <a:t>Attention Is All You Need</a:t>
            </a:r>
          </a:p>
        </p:txBody>
      </p:sp>
      <p:sp>
        <p:nvSpPr>
          <p:cNvPr id="7" name="2017: encoder–decoder">
            <a:extLst>
              <a:ext uri="{FF2B5EF4-FFF2-40B4-BE49-F238E27FC236}">
                <a16:creationId xmlns:a16="http://schemas.microsoft.com/office/drawing/2014/main" id="{FE18C507-E057-4EE8-8ABC-8F6C8939B714}"/>
              </a:ext>
            </a:extLst>
          </p:cNvPr>
          <p:cNvSpPr>
            <a:spLocks noGrp="1"/>
          </p:cNvSpPr>
          <p:nvPr/>
        </p:nvSpPr>
        <p:spPr>
          <a:xfrm>
            <a:off x="3714750" y="1028700"/>
            <a:ext cx="5048250" cy="314325"/>
          </a:xfrm>
          <a:prstGeom prst="rect">
            <a:avLst/>
          </a:prstGeom>
          <a:noFill/>
          <a:ln w="0">
            <a:noFill/>
          </a:ln>
        </p:spPr>
        <p:txBody>
          <a:bodyPr lIns="0" tIns="0" rIns="0" bIns="0">
            <a:noAutofit/>
          </a:bodyPr>
          <a:lstStyle/>
          <a:p>
            <a:pPr algn="l">
              <a:buNone/>
              <a:defRPr sz="1875" b="1">
                <a:solidFill>
                  <a:srgbClr val="0D2137"/>
                </a:solidFill>
                <a:latin typeface="Georgia"/>
                <a:ea typeface="Georgia"/>
                <a:cs typeface="Georgia"/>
              </a:defRPr>
            </a:pPr>
            <a:r>
              <a:rPr sz="1875" b="1">
                <a:solidFill>
                  <a:srgbClr val="0D2137"/>
                </a:solidFill>
                <a:latin typeface="Georgia"/>
                <a:ea typeface="Georgia"/>
                <a:cs typeface="Georgia"/>
              </a:rPr>
              <a:t>2017: encoder–decoder</a:t>
            </a:r>
          </a:p>
        </p:txBody>
      </p:sp>
      <p:sp>
        <p:nvSpPr>
          <p:cNvPr id="8" name="The encoder reads the source.&#10;The decoder generate">
            <a:extLst>
              <a:ext uri="{FF2B5EF4-FFF2-40B4-BE49-F238E27FC236}">
                <a16:creationId xmlns:a16="http://schemas.microsoft.com/office/drawing/2014/main" id="{A33AC347-C728-4A84-9D2A-808E38533B22}"/>
              </a:ext>
            </a:extLst>
          </p:cNvPr>
          <p:cNvSpPr>
            <a:spLocks noGrp="1"/>
          </p:cNvSpPr>
          <p:nvPr/>
        </p:nvSpPr>
        <p:spPr>
          <a:xfrm>
            <a:off x="3714750" y="1428750"/>
            <a:ext cx="5048250" cy="742950"/>
          </a:xfrm>
          <a:prstGeom prst="rect">
            <a:avLst/>
          </a:prstGeom>
          <a:noFill/>
          <a:ln w="0">
            <a:noFill/>
          </a:ln>
        </p:spPr>
        <p:txBody>
          <a:bodyPr lIns="0" tIns="0" rIns="0" bIns="0">
            <a:noAutofit/>
          </a:bodyPr>
          <a:lstStyle/>
          <a:p>
            <a:pPr algn="l">
              <a:buNone/>
              <a:defRPr sz="1575" b="0">
                <a:solidFill>
                  <a:srgbClr val="1E293B"/>
                </a:solidFill>
                <a:latin typeface="Calibri"/>
                <a:ea typeface="Calibri"/>
                <a:cs typeface="Calibri"/>
              </a:defRPr>
            </a:pPr>
            <a:r>
              <a:rPr sz="1575" b="0">
                <a:solidFill>
                  <a:srgbClr val="1E293B"/>
                </a:solidFill>
                <a:latin typeface="Calibri"/>
                <a:ea typeface="Calibri"/>
                <a:cs typeface="Calibri"/>
              </a:rPr>
              <a:t>The encoder reads the source.</a:t>
            </a:r>
          </a:p>
          <a:p>
            <a:pPr algn="l">
              <a:buNone/>
              <a:defRPr sz="1575" b="0">
                <a:solidFill>
                  <a:srgbClr val="1E293B"/>
                </a:solidFill>
                <a:latin typeface="Calibri"/>
                <a:ea typeface="Calibri"/>
                <a:cs typeface="Calibri"/>
              </a:defRPr>
            </a:pPr>
            <a:r>
              <a:rPr sz="1575" b="0">
                <a:solidFill>
                  <a:srgbClr val="1E293B"/>
                </a:solidFill>
                <a:latin typeface="Calibri"/>
                <a:ea typeface="Calibri"/>
                <a:cs typeface="Calibri"/>
              </a:rPr>
              <a:t>The decoder generates the output</a:t>
            </a:r>
          </a:p>
          <a:p>
            <a:pPr algn="l">
              <a:buNone/>
              <a:defRPr sz="1575" b="0">
                <a:solidFill>
                  <a:srgbClr val="1E293B"/>
                </a:solidFill>
                <a:latin typeface="Calibri"/>
                <a:ea typeface="Calibri"/>
                <a:cs typeface="Calibri"/>
              </a:defRPr>
            </a:pPr>
            <a:r>
              <a:rPr sz="1575" b="0">
                <a:solidFill>
                  <a:srgbClr val="1E293B"/>
                </a:solidFill>
                <a:latin typeface="Calibri"/>
                <a:ea typeface="Calibri"/>
                <a:cs typeface="Calibri"/>
              </a:rPr>
              <a:t>and attends to the encoder.</a:t>
            </a:r>
          </a:p>
        </p:txBody>
      </p:sp>
      <p:sp>
        <p:nvSpPr>
          <p:cNvPr id="9" name="Qwen: decoder-only">
            <a:extLst>
              <a:ext uri="{FF2B5EF4-FFF2-40B4-BE49-F238E27FC236}">
                <a16:creationId xmlns:a16="http://schemas.microsoft.com/office/drawing/2014/main" id="{8E983B4D-C9D5-4928-96D4-4F1317E042F6}"/>
              </a:ext>
            </a:extLst>
          </p:cNvPr>
          <p:cNvSpPr>
            <a:spLocks noGrp="1"/>
          </p:cNvSpPr>
          <p:nvPr/>
        </p:nvSpPr>
        <p:spPr>
          <a:xfrm>
            <a:off x="3714750" y="2324100"/>
            <a:ext cx="5048250" cy="314325"/>
          </a:xfrm>
          <a:prstGeom prst="rect">
            <a:avLst/>
          </a:prstGeom>
          <a:noFill/>
          <a:ln w="0">
            <a:noFill/>
          </a:ln>
        </p:spPr>
        <p:txBody>
          <a:bodyPr lIns="0" tIns="0" rIns="0" bIns="0">
            <a:noAutofit/>
          </a:bodyPr>
          <a:lstStyle/>
          <a:p>
            <a:pPr algn="l">
              <a:buNone/>
              <a:defRPr sz="1875" b="1">
                <a:solidFill>
                  <a:srgbClr val="0D2137"/>
                </a:solidFill>
                <a:latin typeface="Georgia"/>
                <a:ea typeface="Georgia"/>
                <a:cs typeface="Georgia"/>
              </a:defRPr>
            </a:pPr>
            <a:r>
              <a:rPr sz="1875" b="1">
                <a:solidFill>
                  <a:srgbClr val="0D2137"/>
                </a:solidFill>
                <a:latin typeface="Georgia"/>
                <a:ea typeface="Georgia"/>
                <a:cs typeface="Georgia"/>
              </a:rPr>
              <a:t>Qwen: decoder-only</a:t>
            </a:r>
          </a:p>
        </p:txBody>
      </p:sp>
      <p:sp>
        <p:nvSpPr>
          <p:cNvPr id="10" name="Causal self-attention and an MLP.&#10;No encoder or en">
            <a:extLst>
              <a:ext uri="{FF2B5EF4-FFF2-40B4-BE49-F238E27FC236}">
                <a16:creationId xmlns:a16="http://schemas.microsoft.com/office/drawing/2014/main" id="{0C554774-252D-40E9-BAAD-04ABE6A6622F}"/>
              </a:ext>
            </a:extLst>
          </p:cNvPr>
          <p:cNvSpPr>
            <a:spLocks noGrp="1"/>
          </p:cNvSpPr>
          <p:nvPr/>
        </p:nvSpPr>
        <p:spPr>
          <a:xfrm>
            <a:off x="3714750" y="2724150"/>
            <a:ext cx="5048250" cy="552450"/>
          </a:xfrm>
          <a:prstGeom prst="rect">
            <a:avLst/>
          </a:prstGeom>
          <a:noFill/>
          <a:ln w="0">
            <a:noFill/>
          </a:ln>
        </p:spPr>
        <p:txBody>
          <a:bodyPr lIns="0" tIns="0" rIns="0" bIns="0">
            <a:noAutofit/>
          </a:bodyPr>
          <a:lstStyle/>
          <a:p>
            <a:pPr algn="l">
              <a:buNone/>
              <a:defRPr sz="1575" b="0">
                <a:solidFill>
                  <a:srgbClr val="1E293B"/>
                </a:solidFill>
                <a:latin typeface="Calibri"/>
                <a:ea typeface="Calibri"/>
                <a:cs typeface="Calibri"/>
              </a:defRPr>
            </a:pPr>
            <a:r>
              <a:rPr sz="1575" b="0">
                <a:solidFill>
                  <a:srgbClr val="1E293B"/>
                </a:solidFill>
                <a:latin typeface="Calibri"/>
                <a:ea typeface="Calibri"/>
                <a:cs typeface="Calibri"/>
              </a:rPr>
              <a:t>Causal self-attention and an MLP.</a:t>
            </a:r>
          </a:p>
          <a:p>
            <a:pPr algn="l">
              <a:buNone/>
              <a:defRPr sz="1575" b="0">
                <a:solidFill>
                  <a:srgbClr val="1E293B"/>
                </a:solidFill>
                <a:latin typeface="Calibri"/>
                <a:ea typeface="Calibri"/>
                <a:cs typeface="Calibri"/>
              </a:defRPr>
            </a:pPr>
            <a:r>
              <a:rPr sz="1575" b="0">
                <a:solidFill>
                  <a:srgbClr val="1E293B"/>
                </a:solidFill>
                <a:latin typeface="Calibri"/>
                <a:ea typeface="Calibri"/>
                <a:cs typeface="Calibri"/>
              </a:rPr>
              <a:t>No encoder or encoder–decoder attention.</a:t>
            </a:r>
          </a:p>
        </p:txBody>
      </p:sp>
      <p:sp>
        <p:nvSpPr>
          <p:cNvPr id="11" name="Live walkthrough">
            <a:extLst>
              <a:ext uri="{FF2B5EF4-FFF2-40B4-BE49-F238E27FC236}">
                <a16:creationId xmlns:a16="http://schemas.microsoft.com/office/drawing/2014/main" id="{1624C4A4-3242-4A35-A439-1CDD10EE812D}"/>
              </a:ext>
            </a:extLst>
          </p:cNvPr>
          <p:cNvSpPr>
            <a:spLocks noGrp="1"/>
          </p:cNvSpPr>
          <p:nvPr/>
        </p:nvSpPr>
        <p:spPr>
          <a:xfrm>
            <a:off x="3714750" y="3377615"/>
            <a:ext cx="5048250" cy="304800"/>
          </a:xfrm>
          <a:prstGeom prst="rect">
            <a:avLst/>
          </a:prstGeom>
          <a:noFill/>
          <a:ln w="0">
            <a:noFill/>
          </a:ln>
        </p:spPr>
        <p:txBody>
          <a:bodyPr lIns="0" tIns="0" rIns="0" bIns="0">
            <a:noAutofit/>
          </a:bodyPr>
          <a:lstStyle/>
          <a:p>
            <a:pPr algn="l">
              <a:buNone/>
              <a:defRPr sz="1800" b="1">
                <a:solidFill>
                  <a:srgbClr val="0D2137"/>
                </a:solidFill>
                <a:latin typeface="Georgia"/>
                <a:ea typeface="Georgia"/>
                <a:cs typeface="Georgia"/>
              </a:defRPr>
            </a:pPr>
            <a:r>
              <a:rPr sz="1800" b="1">
                <a:solidFill>
                  <a:srgbClr val="0D2137"/>
                </a:solidFill>
                <a:latin typeface="Georgia"/>
                <a:ea typeface="Georgia"/>
                <a:cs typeface="Georgia"/>
              </a:rPr>
              <a:t>Live walkthrough</a:t>
            </a:r>
          </a:p>
        </p:txBody>
      </p:sp>
      <p:sp>
        <p:nvSpPr>
          <p:cNvPr id="12" name="Open Transformer Explainer">
            <a:extLst>
              <a:ext uri="{FF2B5EF4-FFF2-40B4-BE49-F238E27FC236}">
                <a16:creationId xmlns:a16="http://schemas.microsoft.com/office/drawing/2014/main" id="{917D9208-D34C-4CD7-8B88-EF0630BA732B}"/>
              </a:ext>
            </a:extLst>
          </p:cNvPr>
          <p:cNvSpPr>
            <a:spLocks noGrp="1"/>
          </p:cNvSpPr>
          <p:nvPr/>
        </p:nvSpPr>
        <p:spPr>
          <a:xfrm>
            <a:off x="3714750" y="3705225"/>
            <a:ext cx="5048250" cy="295275"/>
          </a:xfrm>
          <a:prstGeom prst="rect">
            <a:avLst/>
          </a:prstGeom>
          <a:noFill/>
          <a:ln w="0">
            <a:noFill/>
          </a:ln>
        </p:spPr>
        <p:txBody>
          <a:bodyPr lIns="0" tIns="0" rIns="0" bIns="0">
            <a:noAutofit/>
          </a:bodyPr>
          <a:lstStyle/>
          <a:p>
            <a:pPr algn="l">
              <a:buNone/>
              <a:defRPr sz="1725" b="1">
                <a:solidFill>
                  <a:srgbClr val="065A82"/>
                </a:solidFill>
                <a:latin typeface="Calibri"/>
                <a:ea typeface="Calibri"/>
                <a:cs typeface="Calibri"/>
              </a:defRPr>
            </a:pPr>
            <a:r>
              <a:rPr sz="1725" b="1" u="sng" dirty="0">
                <a:solidFill>
                  <a:srgbClr val="065A82"/>
                </a:solidFill>
                <a:latin typeface="Calibri"/>
                <a:ea typeface="Calibri"/>
                <a:cs typeface="Calibri"/>
                <a:hlinkClick r:id="rId5"/>
              </a:rPr>
              <a:t>Transformer Explainer</a:t>
            </a:r>
            <a:r>
              <a:rPr lang="en-US" sz="1725" b="1" u="sng" dirty="0">
                <a:solidFill>
                  <a:srgbClr val="065A82"/>
                </a:solidFill>
                <a:latin typeface="Calibri"/>
                <a:ea typeface="Calibri"/>
                <a:cs typeface="Calibri"/>
                <a:hlinkClick r:id="rId5"/>
              </a:rPr>
              <a:t> - https://poloclub.github.io/transformer-explainer/</a:t>
            </a:r>
            <a:endParaRPr sz="1725" b="1" u="sng" dirty="0">
              <a:solidFill>
                <a:srgbClr val="065A82"/>
              </a:solidFill>
              <a:latin typeface="Calibri"/>
              <a:ea typeface="Calibri"/>
              <a:cs typeface="Calibri"/>
              <a:hlinkClick r:id="rId5"/>
            </a:endParaRPr>
          </a:p>
        </p:txBody>
      </p:sp>
      <p:sp>
        <p:nvSpPr>
          <p:cNvPr id="13" name="Demo: GPT-2 small     Notebook: Qwen">
            <a:extLst>
              <a:ext uri="{FF2B5EF4-FFF2-40B4-BE49-F238E27FC236}">
                <a16:creationId xmlns:a16="http://schemas.microsoft.com/office/drawing/2014/main" id="{D7133C24-F34F-415B-873C-452150835FC2}"/>
              </a:ext>
            </a:extLst>
          </p:cNvPr>
          <p:cNvSpPr>
            <a:spLocks noGrp="1"/>
          </p:cNvSpPr>
          <p:nvPr/>
        </p:nvSpPr>
        <p:spPr>
          <a:xfrm>
            <a:off x="3714750" y="4271211"/>
            <a:ext cx="5048250" cy="167439"/>
          </a:xfrm>
          <a:prstGeom prst="rect">
            <a:avLst/>
          </a:prstGeom>
          <a:noFill/>
          <a:ln w="0">
            <a:noFill/>
          </a:ln>
        </p:spPr>
        <p:txBody>
          <a:bodyPr lIns="0" tIns="0" rIns="0" bIns="0">
            <a:noAutofit/>
          </a:bodyPr>
          <a:lstStyle/>
          <a:p>
            <a:pPr algn="l">
              <a:buNone/>
              <a:defRPr sz="1350" b="1">
                <a:solidFill>
                  <a:srgbClr val="A65F00"/>
                </a:solidFill>
                <a:latin typeface="Calibri"/>
                <a:ea typeface="Calibri"/>
                <a:cs typeface="Calibri"/>
              </a:defRPr>
            </a:pPr>
            <a:r>
              <a:rPr sz="1350" b="1" dirty="0">
                <a:solidFill>
                  <a:srgbClr val="A65F00"/>
                </a:solidFill>
                <a:latin typeface="Calibri"/>
                <a:ea typeface="Calibri"/>
                <a:cs typeface="Calibri"/>
              </a:rPr>
              <a:t>Demo: GPT-2 small     Notebook: Qwen</a:t>
            </a:r>
          </a:p>
        </p:txBody>
      </p:sp>
      <p:sp>
        <p:nvSpPr>
          <p:cNvPr id="14" name="Tokens, attention, MLP, output probabilities.&#10;Chan">
            <a:extLst>
              <a:ext uri="{FF2B5EF4-FFF2-40B4-BE49-F238E27FC236}">
                <a16:creationId xmlns:a16="http://schemas.microsoft.com/office/drawing/2014/main" id="{C283AE77-7813-4BA5-8A31-67B82F9CCCB5}"/>
              </a:ext>
            </a:extLst>
          </p:cNvPr>
          <p:cNvSpPr>
            <a:spLocks noGrp="1"/>
          </p:cNvSpPr>
          <p:nvPr/>
        </p:nvSpPr>
        <p:spPr>
          <a:xfrm>
            <a:off x="3714750" y="4543425"/>
            <a:ext cx="5048250" cy="504825"/>
          </a:xfrm>
          <a:prstGeom prst="rect">
            <a:avLst/>
          </a:prstGeom>
          <a:noFill/>
          <a:ln w="0">
            <a:noFill/>
          </a:ln>
        </p:spPr>
        <p:txBody>
          <a:bodyPr lIns="0" tIns="0" rIns="0" bIns="0">
            <a:noAutofit/>
          </a:bodyPr>
          <a:lstStyle/>
          <a:p>
            <a:pPr algn="l">
              <a:buNone/>
              <a:defRPr sz="1425" b="0">
                <a:solidFill>
                  <a:srgbClr val="1E293B"/>
                </a:solidFill>
                <a:latin typeface="Calibri"/>
                <a:ea typeface="Calibri"/>
                <a:cs typeface="Calibri"/>
              </a:defRPr>
            </a:pPr>
            <a:r>
              <a:rPr sz="1425" b="0">
                <a:solidFill>
                  <a:srgbClr val="1E293B"/>
                </a:solidFill>
                <a:latin typeface="Calibri"/>
                <a:ea typeface="Calibri"/>
                <a:cs typeface="Calibri"/>
              </a:rPr>
              <a:t>Tokens, attention, MLP, output probabilities.</a:t>
            </a:r>
          </a:p>
          <a:p>
            <a:pPr algn="l">
              <a:buNone/>
              <a:defRPr sz="1425" b="0">
                <a:solidFill>
                  <a:srgbClr val="1E293B"/>
                </a:solidFill>
                <a:latin typeface="Calibri"/>
                <a:ea typeface="Calibri"/>
                <a:cs typeface="Calibri"/>
              </a:defRPr>
            </a:pPr>
            <a:r>
              <a:rPr sz="1425" b="0">
                <a:solidFill>
                  <a:srgbClr val="1E293B"/>
                </a:solidFill>
                <a:latin typeface="Calibri"/>
                <a:ea typeface="Calibri"/>
                <a:cs typeface="Calibri"/>
              </a:rPr>
              <a:t>Change temperature, then generate.</a:t>
            </a:r>
          </a:p>
        </p:txBody>
      </p:sp>
    </p:spTree>
    <p:extLst>
      <p:ext uri="{BB962C8B-B14F-4D97-AF65-F5344CB8AC3E}">
        <p14:creationId xmlns:p14="http://schemas.microsoft.com/office/powerpoint/2010/main" val="2061924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Fine-tuning</a:t>
            </a:r>
            <a:endParaRPr sz="1800"/>
          </a:p>
        </p:txBody>
      </p:sp>
      <p:sp>
        <p:nvSpPr>
          <p:cNvPr id="4" name="Adapting a pretrained model">
            <a:extLst>
              <a:ext uri="{FF2B5EF4-FFF2-40B4-BE49-F238E27FC236}">
                <a16:creationId xmlns:a16="http://schemas.microsoft.com/office/drawing/2014/main" id="{1D47B866-AD39-4EC4-96E9-B5F8C4DB4795}"/>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Adapting a pretrained model</a:t>
            </a:r>
          </a:p>
        </p:txBody>
      </p:sp>
      <p:sp>
        <p:nvSpPr>
          <p:cNvPr id="5" name="Broad text&#10;data">
            <a:extLst>
              <a:ext uri="{FF2B5EF4-FFF2-40B4-BE49-F238E27FC236}">
                <a16:creationId xmlns:a16="http://schemas.microsoft.com/office/drawing/2014/main" id="{02523F1B-2177-4413-B7BD-AE3D0189FB74}"/>
              </a:ext>
            </a:extLst>
          </p:cNvPr>
          <p:cNvSpPr>
            <a:spLocks noGrp="1"/>
          </p:cNvSpPr>
          <p:nvPr/>
        </p:nvSpPr>
        <p:spPr>
          <a:xfrm>
            <a:off x="381000" y="1038225"/>
            <a:ext cx="1952625" cy="533400"/>
          </a:xfrm>
          <a:prstGeom prst="rect">
            <a:avLst/>
          </a:prstGeom>
          <a:noFill/>
          <a:ln w="0">
            <a:noFill/>
          </a:ln>
        </p:spPr>
        <p:txBody>
          <a:bodyPr lIns="0" tIns="0" rIns="0" bIns="0">
            <a:noAutofit/>
          </a:bodyPr>
          <a:lstStyle/>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Broad text</a:t>
            </a:r>
          </a:p>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data</a:t>
            </a:r>
          </a:p>
        </p:txBody>
      </p:sp>
      <p:sp>
        <p:nvSpPr>
          <p:cNvPr id="6" name="Base model&#10;(pretrained)">
            <a:extLst>
              <a:ext uri="{FF2B5EF4-FFF2-40B4-BE49-F238E27FC236}">
                <a16:creationId xmlns:a16="http://schemas.microsoft.com/office/drawing/2014/main" id="{937D0F36-C9B9-4C71-93FF-7A117EB87464}"/>
              </a:ext>
            </a:extLst>
          </p:cNvPr>
          <p:cNvSpPr>
            <a:spLocks noGrp="1"/>
          </p:cNvSpPr>
          <p:nvPr/>
        </p:nvSpPr>
        <p:spPr>
          <a:xfrm>
            <a:off x="2524125" y="1038225"/>
            <a:ext cx="1952625" cy="533400"/>
          </a:xfrm>
          <a:prstGeom prst="rect">
            <a:avLst/>
          </a:prstGeom>
          <a:noFill/>
          <a:ln w="0">
            <a:noFill/>
          </a:ln>
        </p:spPr>
        <p:txBody>
          <a:bodyPr lIns="0" tIns="0" rIns="0" bIns="0">
            <a:noAutofit/>
          </a:bodyPr>
          <a:lstStyle/>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Base model</a:t>
            </a:r>
          </a:p>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(pretrained)</a:t>
            </a:r>
          </a:p>
        </p:txBody>
      </p:sp>
      <p:sp>
        <p:nvSpPr>
          <p:cNvPr id="7" name="Instruction-tuned&#10;model">
            <a:extLst>
              <a:ext uri="{FF2B5EF4-FFF2-40B4-BE49-F238E27FC236}">
                <a16:creationId xmlns:a16="http://schemas.microsoft.com/office/drawing/2014/main" id="{356F63AC-459E-49A5-8E36-D1D7081713FD}"/>
              </a:ext>
            </a:extLst>
          </p:cNvPr>
          <p:cNvSpPr>
            <a:spLocks noGrp="1"/>
          </p:cNvSpPr>
          <p:nvPr/>
        </p:nvSpPr>
        <p:spPr>
          <a:xfrm>
            <a:off x="4667250" y="1038225"/>
            <a:ext cx="1952625" cy="533400"/>
          </a:xfrm>
          <a:prstGeom prst="rect">
            <a:avLst/>
          </a:prstGeom>
          <a:noFill/>
          <a:ln w="0">
            <a:noFill/>
          </a:ln>
        </p:spPr>
        <p:txBody>
          <a:bodyPr lIns="0" tIns="0" rIns="0" bIns="0">
            <a:noAutofit/>
          </a:bodyPr>
          <a:lstStyle/>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Instruction-tuned</a:t>
            </a:r>
          </a:p>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model</a:t>
            </a:r>
          </a:p>
        </p:txBody>
      </p:sp>
      <p:sp>
        <p:nvSpPr>
          <p:cNvPr id="8" name="Our adapted&#10;model">
            <a:extLst>
              <a:ext uri="{FF2B5EF4-FFF2-40B4-BE49-F238E27FC236}">
                <a16:creationId xmlns:a16="http://schemas.microsoft.com/office/drawing/2014/main" id="{77D4B705-0253-4453-BBEE-A065C9E8CF23}"/>
              </a:ext>
            </a:extLst>
          </p:cNvPr>
          <p:cNvSpPr>
            <a:spLocks noGrp="1"/>
          </p:cNvSpPr>
          <p:nvPr/>
        </p:nvSpPr>
        <p:spPr>
          <a:xfrm>
            <a:off x="6810375" y="1038225"/>
            <a:ext cx="1952625" cy="533400"/>
          </a:xfrm>
          <a:prstGeom prst="rect">
            <a:avLst/>
          </a:prstGeom>
          <a:noFill/>
          <a:ln w="0">
            <a:noFill/>
          </a:ln>
        </p:spPr>
        <p:txBody>
          <a:bodyPr lIns="0" tIns="0" rIns="0" bIns="0">
            <a:noAutofit/>
          </a:bodyPr>
          <a:lstStyle/>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Our adapted</a:t>
            </a:r>
          </a:p>
          <a:p>
            <a:pPr algn="ctr">
              <a:buNone/>
              <a:defRPr sz="1575" b="1">
                <a:solidFill>
                  <a:srgbClr val="0D2137"/>
                </a:solidFill>
                <a:latin typeface="Georgia"/>
                <a:ea typeface="Georgia"/>
                <a:cs typeface="Georgia"/>
              </a:defRPr>
            </a:pPr>
            <a:r>
              <a:rPr sz="1575" b="1">
                <a:solidFill>
                  <a:srgbClr val="0D2137"/>
                </a:solidFill>
                <a:latin typeface="Georgia"/>
                <a:ea typeface="Georgia"/>
                <a:cs typeface="Georgia"/>
              </a:rPr>
              <a:t>model</a:t>
            </a:r>
          </a:p>
        </p:txBody>
      </p:sp>
      <p:pic>
        <p:nvPicPr>
          <p:cNvPr id="26" name="Picture 25"/>
          <p:cNvPicPr>
            <a:picLocks noChangeAspect="1"/>
          </p:cNvPicPr>
          <p:nvPr/>
        </p:nvPicPr>
        <p:blipFill>
          <a:blip r:embed="rId3"/>
          <a:srcRect t="28693" b="28693"/>
          <a:stretch>
            <a:fillRect/>
          </a:stretch>
        </p:blipFill>
        <p:spPr>
          <a:xfrm>
            <a:off x="381000" y="1676400"/>
            <a:ext cx="8382000" cy="1190625"/>
          </a:xfrm>
          <a:prstGeom prst="rect">
            <a:avLst/>
          </a:prstGeom>
        </p:spPr>
      </p:pic>
      <p:sp>
        <p:nvSpPr>
          <p:cNvPr id="10" name="Pretraining">
            <a:extLst>
              <a:ext uri="{FF2B5EF4-FFF2-40B4-BE49-F238E27FC236}">
                <a16:creationId xmlns:a16="http://schemas.microsoft.com/office/drawing/2014/main" id="{E7B81CB3-2355-4C90-A0FE-7107F555C7D4}"/>
              </a:ext>
            </a:extLst>
          </p:cNvPr>
          <p:cNvSpPr>
            <a:spLocks noGrp="1"/>
          </p:cNvSpPr>
          <p:nvPr/>
        </p:nvSpPr>
        <p:spPr>
          <a:xfrm>
            <a:off x="2333625" y="2924175"/>
            <a:ext cx="1809750" cy="238125"/>
          </a:xfrm>
          <a:prstGeom prst="rect">
            <a:avLst/>
          </a:prstGeom>
          <a:noFill/>
          <a:ln w="0">
            <a:noFill/>
          </a:ln>
        </p:spPr>
        <p:txBody>
          <a:bodyPr lIns="0" tIns="0" rIns="0" bIns="0">
            <a:noAutofit/>
          </a:bodyPr>
          <a:lstStyle/>
          <a:p>
            <a:pPr algn="ctr">
              <a:buNone/>
              <a:defRPr sz="1425" b="1">
                <a:solidFill>
                  <a:srgbClr val="065A82"/>
                </a:solidFill>
                <a:latin typeface="Calibri"/>
                <a:ea typeface="Calibri"/>
                <a:cs typeface="Calibri"/>
              </a:defRPr>
            </a:pPr>
            <a:r>
              <a:rPr sz="1425" b="1">
                <a:solidFill>
                  <a:srgbClr val="065A82"/>
                </a:solidFill>
                <a:latin typeface="Calibri"/>
                <a:ea typeface="Calibri"/>
                <a:cs typeface="Calibri"/>
              </a:rPr>
              <a:t>Pretraining</a:t>
            </a:r>
          </a:p>
        </p:txBody>
      </p:sp>
      <p:sp>
        <p:nvSpPr>
          <p:cNvPr id="11" name="Instruction tuning">
            <a:extLst>
              <a:ext uri="{FF2B5EF4-FFF2-40B4-BE49-F238E27FC236}">
                <a16:creationId xmlns:a16="http://schemas.microsoft.com/office/drawing/2014/main" id="{F283DA72-FEEA-48D3-BC61-39374CE4DCDD}"/>
              </a:ext>
            </a:extLst>
          </p:cNvPr>
          <p:cNvSpPr>
            <a:spLocks noGrp="1"/>
          </p:cNvSpPr>
          <p:nvPr/>
        </p:nvSpPr>
        <p:spPr>
          <a:xfrm>
            <a:off x="4476750" y="2924175"/>
            <a:ext cx="2095500" cy="238125"/>
          </a:xfrm>
          <a:prstGeom prst="rect">
            <a:avLst/>
          </a:prstGeom>
          <a:noFill/>
          <a:ln w="0">
            <a:noFill/>
          </a:ln>
        </p:spPr>
        <p:txBody>
          <a:bodyPr lIns="0" tIns="0" rIns="0" bIns="0">
            <a:noAutofit/>
          </a:bodyPr>
          <a:lstStyle/>
          <a:p>
            <a:pPr algn="ctr">
              <a:buNone/>
              <a:defRPr sz="1425" b="1">
                <a:solidFill>
                  <a:srgbClr val="065A82"/>
                </a:solidFill>
                <a:latin typeface="Calibri"/>
                <a:ea typeface="Calibri"/>
                <a:cs typeface="Calibri"/>
              </a:defRPr>
            </a:pPr>
            <a:r>
              <a:rPr sz="1425" b="1">
                <a:solidFill>
                  <a:srgbClr val="065A82"/>
                </a:solidFill>
                <a:latin typeface="Calibri"/>
                <a:ea typeface="Calibri"/>
                <a:cs typeface="Calibri"/>
              </a:rPr>
              <a:t>Instruction tuning</a:t>
            </a:r>
          </a:p>
        </p:txBody>
      </p:sp>
      <p:sp>
        <p:nvSpPr>
          <p:cNvPr id="12" name="Our fine-tuning">
            <a:extLst>
              <a:ext uri="{FF2B5EF4-FFF2-40B4-BE49-F238E27FC236}">
                <a16:creationId xmlns:a16="http://schemas.microsoft.com/office/drawing/2014/main" id="{EF997D8B-6D0F-4C1D-A4C5-331180DB781B}"/>
              </a:ext>
            </a:extLst>
          </p:cNvPr>
          <p:cNvSpPr>
            <a:spLocks noGrp="1"/>
          </p:cNvSpPr>
          <p:nvPr/>
        </p:nvSpPr>
        <p:spPr>
          <a:xfrm>
            <a:off x="6715125" y="2924175"/>
            <a:ext cx="2047875" cy="238125"/>
          </a:xfrm>
          <a:prstGeom prst="rect">
            <a:avLst/>
          </a:prstGeom>
          <a:noFill/>
          <a:ln w="0">
            <a:noFill/>
          </a:ln>
        </p:spPr>
        <p:txBody>
          <a:bodyPr lIns="0" tIns="0" rIns="0" bIns="0">
            <a:noAutofit/>
          </a:bodyPr>
          <a:lstStyle/>
          <a:p>
            <a:pPr algn="ctr">
              <a:buNone/>
              <a:defRPr sz="1425" b="1">
                <a:solidFill>
                  <a:srgbClr val="A65F00"/>
                </a:solidFill>
                <a:latin typeface="Calibri"/>
                <a:ea typeface="Calibri"/>
                <a:cs typeface="Calibri"/>
              </a:defRPr>
            </a:pPr>
            <a:r>
              <a:rPr sz="1425" b="1">
                <a:solidFill>
                  <a:srgbClr val="A65F00"/>
                </a:solidFill>
                <a:latin typeface="Calibri"/>
                <a:ea typeface="Calibri"/>
                <a:cs typeface="Calibri"/>
              </a:rPr>
              <a:t>Our fine-tuning</a:t>
            </a:r>
          </a:p>
        </p:txBody>
      </p:sp>
      <p:sp>
        <p:nvSpPr>
          <p:cNvPr id="13" name="A base model is already pretrained. Instruction tu">
            <a:extLst>
              <a:ext uri="{FF2B5EF4-FFF2-40B4-BE49-F238E27FC236}">
                <a16:creationId xmlns:a16="http://schemas.microsoft.com/office/drawing/2014/main" id="{65318262-4730-47C1-AF7D-C8B23AA7AFC2}"/>
              </a:ext>
            </a:extLst>
          </p:cNvPr>
          <p:cNvSpPr>
            <a:spLocks noGrp="1"/>
          </p:cNvSpPr>
          <p:nvPr/>
        </p:nvSpPr>
        <p:spPr>
          <a:xfrm>
            <a:off x="381000" y="3314700"/>
            <a:ext cx="8382000" cy="266700"/>
          </a:xfrm>
          <a:prstGeom prst="rect">
            <a:avLst/>
          </a:prstGeom>
          <a:noFill/>
          <a:ln w="0">
            <a:noFill/>
          </a:ln>
        </p:spPr>
        <p:txBody>
          <a:bodyPr lIns="0" tIns="0" rIns="0" bIns="0">
            <a:noAutofit/>
          </a:bodyPr>
          <a:lstStyle/>
          <a:p>
            <a:pPr algn="l">
              <a:buNone/>
              <a:defRPr sz="1500" b="0">
                <a:solidFill>
                  <a:srgbClr val="1E293B"/>
                </a:solidFill>
                <a:latin typeface="Calibri"/>
                <a:ea typeface="Calibri"/>
                <a:cs typeface="Calibri"/>
              </a:defRPr>
            </a:pPr>
            <a:r>
              <a:rPr sz="1500" b="0">
                <a:solidFill>
                  <a:srgbClr val="1E293B"/>
                </a:solidFill>
                <a:latin typeface="Calibri"/>
                <a:ea typeface="Calibri"/>
                <a:cs typeface="Calibri"/>
              </a:rPr>
              <a:t>A base model is already pretrained. Instruction tuning is also fine-tuning.</a:t>
            </a:r>
          </a:p>
        </p:txBody>
      </p:sp>
      <p:sp>
        <p:nvSpPr>
          <p:cNvPr id="14" name="Our starting point: Qwen2.5-0.5B-Instruct">
            <a:extLst>
              <a:ext uri="{FF2B5EF4-FFF2-40B4-BE49-F238E27FC236}">
                <a16:creationId xmlns:a16="http://schemas.microsoft.com/office/drawing/2014/main" id="{84EC8D4C-6F25-43DC-AEAB-052F636341E5}"/>
              </a:ext>
            </a:extLst>
          </p:cNvPr>
          <p:cNvSpPr>
            <a:spLocks noGrp="1"/>
          </p:cNvSpPr>
          <p:nvPr/>
        </p:nvSpPr>
        <p:spPr>
          <a:xfrm>
            <a:off x="381000" y="3724275"/>
            <a:ext cx="8382000" cy="304800"/>
          </a:xfrm>
          <a:prstGeom prst="rect">
            <a:avLst/>
          </a:prstGeom>
          <a:noFill/>
          <a:ln w="0">
            <a:noFill/>
          </a:ln>
        </p:spPr>
        <p:txBody>
          <a:bodyPr lIns="0" tIns="0" rIns="0" bIns="0">
            <a:noAutofit/>
          </a:bodyPr>
          <a:lstStyle/>
          <a:p>
            <a:pPr algn="l">
              <a:buNone/>
              <a:defRPr sz="1800" b="1">
                <a:solidFill>
                  <a:srgbClr val="0D2137"/>
                </a:solidFill>
                <a:latin typeface="Georgia"/>
                <a:ea typeface="Georgia"/>
                <a:cs typeface="Georgia"/>
              </a:defRPr>
            </a:pPr>
            <a:r>
              <a:rPr sz="1800" b="1">
                <a:solidFill>
                  <a:srgbClr val="0D2137"/>
                </a:solidFill>
                <a:latin typeface="Georgia"/>
                <a:ea typeface="Georgia"/>
                <a:cs typeface="Georgia"/>
              </a:rPr>
              <a:t>Our starting point: Qwen2.5-0.5B-Instruct</a:t>
            </a:r>
          </a:p>
        </p:txBody>
      </p:sp>
      <p:sp>
        <p:nvSpPr>
          <p:cNvPr id="15" name="Training: predict, measure loss, backpropagate, up">
            <a:extLst>
              <a:ext uri="{FF2B5EF4-FFF2-40B4-BE49-F238E27FC236}">
                <a16:creationId xmlns:a16="http://schemas.microsoft.com/office/drawing/2014/main" id="{02E44576-8AA2-43F3-93DE-4FB9280855EF}"/>
              </a:ext>
            </a:extLst>
          </p:cNvPr>
          <p:cNvSpPr>
            <a:spLocks noGrp="1"/>
          </p:cNvSpPr>
          <p:nvPr/>
        </p:nvSpPr>
        <p:spPr>
          <a:xfrm>
            <a:off x="381000" y="4152900"/>
            <a:ext cx="8382000" cy="266700"/>
          </a:xfrm>
          <a:prstGeom prst="rect">
            <a:avLst/>
          </a:prstGeom>
          <a:noFill/>
          <a:ln w="0">
            <a:noFill/>
          </a:ln>
        </p:spPr>
        <p:txBody>
          <a:bodyPr lIns="0" tIns="0" rIns="0" bIns="0">
            <a:noAutofit/>
          </a:bodyPr>
          <a:lstStyle/>
          <a:p>
            <a:pPr algn="l">
              <a:buNone/>
              <a:defRPr sz="1500" b="0">
                <a:solidFill>
                  <a:srgbClr val="1E293B"/>
                </a:solidFill>
                <a:latin typeface="Calibri"/>
                <a:ea typeface="Calibri"/>
                <a:cs typeface="Calibri"/>
              </a:defRPr>
            </a:pPr>
            <a:r>
              <a:rPr sz="1500" b="0">
                <a:solidFill>
                  <a:srgbClr val="1E293B"/>
                </a:solidFill>
                <a:latin typeface="Calibri"/>
                <a:ea typeface="Calibri"/>
                <a:cs typeface="Calibri"/>
              </a:rPr>
              <a:t>Training: predict, measure loss, backpropagate, update trainable parameters.</a:t>
            </a:r>
          </a:p>
        </p:txBody>
      </p:sp>
      <p:sp>
        <p:nvSpPr>
          <p:cNvPr id="16" name="Loss = −log P(correct next token)">
            <a:extLst>
              <a:ext uri="{FF2B5EF4-FFF2-40B4-BE49-F238E27FC236}">
                <a16:creationId xmlns:a16="http://schemas.microsoft.com/office/drawing/2014/main" id="{7BCA1B15-24C6-4614-8997-C970488F8FA3}"/>
              </a:ext>
            </a:extLst>
          </p:cNvPr>
          <p:cNvSpPr>
            <a:spLocks noGrp="1"/>
          </p:cNvSpPr>
          <p:nvPr/>
        </p:nvSpPr>
        <p:spPr>
          <a:xfrm>
            <a:off x="381000" y="4495800"/>
            <a:ext cx="8382000" cy="266700"/>
          </a:xfrm>
          <a:prstGeom prst="rect">
            <a:avLst/>
          </a:prstGeom>
          <a:noFill/>
          <a:ln w="0">
            <a:noFill/>
          </a:ln>
        </p:spPr>
        <p:txBody>
          <a:bodyPr lIns="0" tIns="0" rIns="0" bIns="0">
            <a:noAutofit/>
          </a:bodyPr>
          <a:lstStyle/>
          <a:p>
            <a:pPr algn="l">
              <a:buNone/>
              <a:defRPr sz="1575" b="1">
                <a:solidFill>
                  <a:srgbClr val="065A82"/>
                </a:solidFill>
                <a:latin typeface="Calibri"/>
                <a:ea typeface="Calibri"/>
                <a:cs typeface="Calibri"/>
              </a:defRPr>
            </a:pPr>
            <a:r>
              <a:rPr sz="1575" b="1">
                <a:solidFill>
                  <a:srgbClr val="065A82"/>
                </a:solidFill>
                <a:latin typeface="Calibri"/>
                <a:ea typeface="Calibri"/>
                <a:cs typeface="Calibri"/>
              </a:rPr>
              <a:t>Loss = −log P(correct next token)</a:t>
            </a:r>
          </a:p>
        </p:txBody>
      </p:sp>
      <p:sp>
        <p:nvSpPr>
          <p:cNvPr id="17" name="Full fine-tuning can update all weights. LoRA trai">
            <a:extLst>
              <a:ext uri="{FF2B5EF4-FFF2-40B4-BE49-F238E27FC236}">
                <a16:creationId xmlns:a16="http://schemas.microsoft.com/office/drawing/2014/main" id="{0E34B902-F8D8-4ECD-A103-BC2D1E6F6728}"/>
              </a:ext>
            </a:extLst>
          </p:cNvPr>
          <p:cNvSpPr>
            <a:spLocks noGrp="1"/>
          </p:cNvSpPr>
          <p:nvPr/>
        </p:nvSpPr>
        <p:spPr>
          <a:xfrm>
            <a:off x="381000" y="4857750"/>
            <a:ext cx="8382000" cy="219075"/>
          </a:xfrm>
          <a:prstGeom prst="rect">
            <a:avLst/>
          </a:prstGeom>
          <a:noFill/>
          <a:ln w="0">
            <a:noFill/>
          </a:ln>
        </p:spPr>
        <p:txBody>
          <a:bodyPr lIns="0" tIns="0" rIns="0" bIns="0">
            <a:noAutofit/>
          </a:bodyPr>
          <a:lstStyle/>
          <a:p>
            <a:pPr algn="l">
              <a:buNone/>
              <a:defRPr sz="1350" b="0">
                <a:solidFill>
                  <a:srgbClr val="64748B"/>
                </a:solidFill>
                <a:latin typeface="Calibri"/>
                <a:ea typeface="Calibri"/>
                <a:cs typeface="Calibri"/>
              </a:defRPr>
            </a:pPr>
            <a:r>
              <a:rPr sz="1350" b="0">
                <a:solidFill>
                  <a:srgbClr val="64748B"/>
                </a:solidFill>
                <a:latin typeface="Calibri"/>
                <a:ea typeface="Calibri"/>
                <a:cs typeface="Calibri"/>
              </a:rPr>
              <a:t>Full fine-tuning can update all weights. LoRA trains selected adapters.</a:t>
            </a:r>
          </a:p>
        </p:txBody>
      </p:sp>
    </p:spTree>
    <p:extLst>
      <p:ext uri="{BB962C8B-B14F-4D97-AF65-F5344CB8AC3E}">
        <p14:creationId xmlns:p14="http://schemas.microsoft.com/office/powerpoint/2010/main" val="2061924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LoRA and QLoRA</a:t>
            </a:r>
            <a:endParaRPr sz="1800"/>
          </a:p>
        </p:txBody>
      </p:sp>
      <p:sp>
        <p:nvSpPr>
          <p:cNvPr id="4" name="Small trainable adapters on frozen weights">
            <a:extLst>
              <a:ext uri="{FF2B5EF4-FFF2-40B4-BE49-F238E27FC236}">
                <a16:creationId xmlns:a16="http://schemas.microsoft.com/office/drawing/2014/main" id="{FAE60CA8-5582-4A2D-8304-4082858075AD}"/>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buNone/>
              <a:defRPr sz="1575" b="0">
                <a:solidFill>
                  <a:srgbClr val="F59E0B"/>
                </a:solidFill>
                <a:latin typeface="Calibri"/>
                <a:ea typeface="Calibri"/>
                <a:cs typeface="Calibri"/>
              </a:defRPr>
            </a:pPr>
            <a:r>
              <a:rPr sz="1575" b="0">
                <a:solidFill>
                  <a:srgbClr val="F59E0B"/>
                </a:solidFill>
                <a:latin typeface="Calibri"/>
                <a:ea typeface="Calibri"/>
                <a:cs typeface="Calibri"/>
              </a:rPr>
              <a:t>Small trainable adapters on frozen weights</a:t>
            </a:r>
          </a:p>
        </p:txBody>
      </p:sp>
      <p:sp>
        <p:nvSpPr>
          <p:cNvPr id="5" name="Each selected projection gets its own A/B pair">
            <a:extLst>
              <a:ext uri="{FF2B5EF4-FFF2-40B4-BE49-F238E27FC236}">
                <a16:creationId xmlns:a16="http://schemas.microsoft.com/office/drawing/2014/main" id="{0D99F0E2-466C-46D7-AFF2-93EBAD0D0A06}"/>
              </a:ext>
            </a:extLst>
          </p:cNvPr>
          <p:cNvSpPr>
            <a:spLocks noGrp="1"/>
          </p:cNvSpPr>
          <p:nvPr/>
        </p:nvSpPr>
        <p:spPr>
          <a:xfrm>
            <a:off x="381000" y="1009650"/>
            <a:ext cx="8382000" cy="295275"/>
          </a:xfrm>
          <a:prstGeom prst="rect">
            <a:avLst/>
          </a:prstGeom>
          <a:noFill/>
          <a:ln w="0">
            <a:noFill/>
          </a:ln>
        </p:spPr>
        <p:txBody>
          <a:bodyPr lIns="0" tIns="0" rIns="0" bIns="0">
            <a:noAutofit/>
          </a:bodyPr>
          <a:lstStyle/>
          <a:p>
            <a:pPr algn="l">
              <a:buNone/>
              <a:defRPr sz="1800" b="1">
                <a:solidFill>
                  <a:srgbClr val="0D2137"/>
                </a:solidFill>
                <a:latin typeface="Georgia"/>
                <a:ea typeface="Georgia"/>
                <a:cs typeface="Georgia"/>
              </a:defRPr>
            </a:pPr>
            <a:r>
              <a:rPr sz="1800" b="1">
                <a:solidFill>
                  <a:srgbClr val="0D2137"/>
                </a:solidFill>
                <a:latin typeface="Georgia"/>
                <a:ea typeface="Georgia"/>
                <a:cs typeface="Georgia"/>
              </a:rPr>
              <a:t>Each selected projection gets its own A/B pair</a:t>
            </a:r>
          </a:p>
        </p:txBody>
      </p:sp>
      <p:sp>
        <p:nvSpPr>
          <p:cNvPr id="6" name="Blue: frozen W     Amber: trainable A and B">
            <a:extLst>
              <a:ext uri="{FF2B5EF4-FFF2-40B4-BE49-F238E27FC236}">
                <a16:creationId xmlns:a16="http://schemas.microsoft.com/office/drawing/2014/main" id="{C2E5AB93-A350-406F-B67D-71A26E11D087}"/>
              </a:ext>
            </a:extLst>
          </p:cNvPr>
          <p:cNvSpPr>
            <a:spLocks noGrp="1"/>
          </p:cNvSpPr>
          <p:nvPr/>
        </p:nvSpPr>
        <p:spPr>
          <a:xfrm>
            <a:off x="381000" y="1409700"/>
            <a:ext cx="5095875" cy="238125"/>
          </a:xfrm>
          <a:prstGeom prst="rect">
            <a:avLst/>
          </a:prstGeom>
          <a:noFill/>
          <a:ln w="0">
            <a:noFill/>
          </a:ln>
        </p:spPr>
        <p:txBody>
          <a:bodyPr lIns="0" tIns="0" rIns="0" bIns="0">
            <a:noAutofit/>
          </a:bodyPr>
          <a:lstStyle/>
          <a:p>
            <a:pPr algn="l">
              <a:buNone/>
              <a:defRPr sz="1350" b="1">
                <a:solidFill>
                  <a:srgbClr val="065A82"/>
                </a:solidFill>
                <a:latin typeface="Calibri"/>
                <a:ea typeface="Calibri"/>
                <a:cs typeface="Calibri"/>
              </a:defRPr>
            </a:pPr>
            <a:r>
              <a:rPr sz="1350" b="1">
                <a:solidFill>
                  <a:srgbClr val="065A82"/>
                </a:solidFill>
                <a:latin typeface="Calibri"/>
                <a:ea typeface="Calibri"/>
                <a:cs typeface="Calibri"/>
              </a:rPr>
              <a:t>Blue: frozen W     Amber: trainable A and B</a:t>
            </a:r>
          </a:p>
        </p:txBody>
      </p:sp>
      <p:pic>
        <p:nvPicPr>
          <p:cNvPr id="23" name="Picture 22"/>
          <p:cNvPicPr>
            <a:picLocks noChangeAspect="1"/>
          </p:cNvPicPr>
          <p:nvPr/>
        </p:nvPicPr>
        <p:blipFill>
          <a:blip r:embed="rId3"/>
          <a:stretch/>
        </p:blipFill>
        <p:spPr>
          <a:xfrm>
            <a:off x="381000" y="1708150"/>
            <a:ext cx="5095875" cy="1698625"/>
          </a:xfrm>
          <a:prstGeom prst="rect">
            <a:avLst/>
          </a:prstGeom>
        </p:spPr>
      </p:pic>
      <p:sp>
        <p:nvSpPr>
          <p:cNvPr id="8" name="One projection shown. Attention also receives the ">
            <a:extLst>
              <a:ext uri="{FF2B5EF4-FFF2-40B4-BE49-F238E27FC236}">
                <a16:creationId xmlns:a16="http://schemas.microsoft.com/office/drawing/2014/main" id="{A0959853-4843-4961-8875-117CB639ED62}"/>
              </a:ext>
            </a:extLst>
          </p:cNvPr>
          <p:cNvSpPr>
            <a:spLocks noGrp="1"/>
          </p:cNvSpPr>
          <p:nvPr/>
        </p:nvSpPr>
        <p:spPr>
          <a:xfrm>
            <a:off x="381000" y="3486150"/>
            <a:ext cx="5095875" cy="361950"/>
          </a:xfrm>
          <a:prstGeom prst="rect">
            <a:avLst/>
          </a:prstGeom>
          <a:noFill/>
          <a:ln w="0">
            <a:noFill/>
          </a:ln>
        </p:spPr>
        <p:txBody>
          <a:bodyPr lIns="0" tIns="0" rIns="0" bIns="0">
            <a:noAutofit/>
          </a:bodyPr>
          <a:lstStyle/>
          <a:p>
            <a:pPr algn="l">
              <a:buNone/>
              <a:defRPr sz="1275" b="0">
                <a:solidFill>
                  <a:srgbClr val="64748B"/>
                </a:solidFill>
                <a:latin typeface="Calibri"/>
                <a:ea typeface="Calibri"/>
                <a:cs typeface="Calibri"/>
              </a:defRPr>
            </a:pPr>
            <a:r>
              <a:rPr sz="1275" b="0">
                <a:solidFill>
                  <a:srgbClr val="64748B"/>
                </a:solidFill>
                <a:latin typeface="Calibri"/>
                <a:ea typeface="Calibri"/>
                <a:cs typeface="Calibri"/>
              </a:rPr>
              <a:t>One projection shown. Attention also receives the other Q/K/V inputs.</a:t>
            </a:r>
          </a:p>
        </p:txBody>
      </p:sp>
      <p:sp>
        <p:nvSpPr>
          <p:cNvPr id="9" name="Choose the target weights">
            <a:extLst>
              <a:ext uri="{FF2B5EF4-FFF2-40B4-BE49-F238E27FC236}">
                <a16:creationId xmlns:a16="http://schemas.microsoft.com/office/drawing/2014/main" id="{422F3BDB-633F-424F-9DF9-C75573827E73}"/>
              </a:ext>
            </a:extLst>
          </p:cNvPr>
          <p:cNvSpPr>
            <a:spLocks noGrp="1"/>
          </p:cNvSpPr>
          <p:nvPr/>
        </p:nvSpPr>
        <p:spPr>
          <a:xfrm>
            <a:off x="5810250" y="1438275"/>
            <a:ext cx="2952750" cy="276225"/>
          </a:xfrm>
          <a:prstGeom prst="rect">
            <a:avLst/>
          </a:prstGeom>
          <a:noFill/>
          <a:ln w="0">
            <a:noFill/>
          </a:ln>
        </p:spPr>
        <p:txBody>
          <a:bodyPr lIns="0" tIns="0" rIns="0" bIns="0">
            <a:noAutofit/>
          </a:bodyPr>
          <a:lstStyle/>
          <a:p>
            <a:pPr algn="l">
              <a:buNone/>
              <a:defRPr sz="1575" b="1">
                <a:solidFill>
                  <a:srgbClr val="0D2137"/>
                </a:solidFill>
                <a:latin typeface="Georgia"/>
                <a:ea typeface="Georgia"/>
                <a:cs typeface="Georgia"/>
              </a:defRPr>
            </a:pPr>
            <a:r>
              <a:rPr sz="1575" b="1">
                <a:solidFill>
                  <a:srgbClr val="0D2137"/>
                </a:solidFill>
                <a:latin typeface="Georgia"/>
                <a:ea typeface="Georgia"/>
                <a:cs typeface="Georgia"/>
              </a:rPr>
              <a:t>Choose the target weights</a:t>
            </a:r>
          </a:p>
        </p:txBody>
      </p:sp>
      <p:sp>
        <p:nvSpPr>
          <p:cNvPr id="10" name="Q, K, V, output or MLP projections">
            <a:extLst>
              <a:ext uri="{FF2B5EF4-FFF2-40B4-BE49-F238E27FC236}">
                <a16:creationId xmlns:a16="http://schemas.microsoft.com/office/drawing/2014/main" id="{FE111AF8-322B-4FC9-B2BA-E833C697D241}"/>
              </a:ext>
            </a:extLst>
          </p:cNvPr>
          <p:cNvSpPr>
            <a:spLocks noGrp="1"/>
          </p:cNvSpPr>
          <p:nvPr/>
        </p:nvSpPr>
        <p:spPr>
          <a:xfrm>
            <a:off x="5810250" y="1790700"/>
            <a:ext cx="2952750" cy="466725"/>
          </a:xfrm>
          <a:prstGeom prst="rect">
            <a:avLst/>
          </a:prstGeom>
          <a:noFill/>
          <a:ln w="0">
            <a:noFill/>
          </a:ln>
        </p:spPr>
        <p:txBody>
          <a:bodyPr lIns="0" tIns="0" rIns="0" bIns="0">
            <a:noAutofit/>
          </a:bodyPr>
          <a:lstStyle/>
          <a:p>
            <a:pPr algn="l">
              <a:buNone/>
              <a:defRPr sz="1425" b="0">
                <a:solidFill>
                  <a:srgbClr val="1E293B"/>
                </a:solidFill>
                <a:latin typeface="Calibri"/>
                <a:ea typeface="Calibri"/>
                <a:cs typeface="Calibri"/>
              </a:defRPr>
            </a:pPr>
            <a:r>
              <a:rPr sz="1425" b="0">
                <a:solidFill>
                  <a:srgbClr val="1E293B"/>
                </a:solidFill>
                <a:latin typeface="Calibri"/>
                <a:ea typeface="Calibri"/>
                <a:cs typeface="Calibri"/>
              </a:rPr>
              <a:t>Q, K, V, output or MLP projections</a:t>
            </a:r>
          </a:p>
        </p:txBody>
      </p:sp>
      <p:sp>
        <p:nvSpPr>
          <p:cNvPr id="11" name="Demo: q_proj and v_proj">
            <a:extLst>
              <a:ext uri="{FF2B5EF4-FFF2-40B4-BE49-F238E27FC236}">
                <a16:creationId xmlns:a16="http://schemas.microsoft.com/office/drawing/2014/main" id="{03574915-7A07-4A01-BB17-64EE267B51D4}"/>
              </a:ext>
            </a:extLst>
          </p:cNvPr>
          <p:cNvSpPr>
            <a:spLocks noGrp="1"/>
          </p:cNvSpPr>
          <p:nvPr/>
        </p:nvSpPr>
        <p:spPr>
          <a:xfrm>
            <a:off x="5810250" y="2333625"/>
            <a:ext cx="2952750" cy="257175"/>
          </a:xfrm>
          <a:prstGeom prst="rect">
            <a:avLst/>
          </a:prstGeom>
          <a:noFill/>
          <a:ln w="0">
            <a:noFill/>
          </a:ln>
        </p:spPr>
        <p:txBody>
          <a:bodyPr lIns="0" tIns="0" rIns="0" bIns="0">
            <a:noAutofit/>
          </a:bodyPr>
          <a:lstStyle/>
          <a:p>
            <a:pPr algn="l">
              <a:buNone/>
              <a:defRPr sz="1500" b="1">
                <a:solidFill>
                  <a:srgbClr val="A65F00"/>
                </a:solidFill>
                <a:latin typeface="Calibri"/>
                <a:ea typeface="Calibri"/>
                <a:cs typeface="Calibri"/>
              </a:defRPr>
            </a:pPr>
            <a:r>
              <a:rPr sz="1500" b="1">
                <a:solidFill>
                  <a:srgbClr val="A65F00"/>
                </a:solidFill>
                <a:latin typeface="Calibri"/>
                <a:ea typeface="Calibri"/>
                <a:cs typeface="Calibri"/>
              </a:rPr>
              <a:t>Demo: q_proj and v_proj</a:t>
            </a:r>
          </a:p>
        </p:txBody>
      </p:sp>
      <p:sp>
        <p:nvSpPr>
          <p:cNvPr id="12" name="r = 16: bottleneck width&#10;α = 32: scale α/r = 2&#10;dro">
            <a:extLst>
              <a:ext uri="{FF2B5EF4-FFF2-40B4-BE49-F238E27FC236}">
                <a16:creationId xmlns:a16="http://schemas.microsoft.com/office/drawing/2014/main" id="{50B01F20-E270-4625-9D69-436E7F18762C}"/>
              </a:ext>
            </a:extLst>
          </p:cNvPr>
          <p:cNvSpPr>
            <a:spLocks noGrp="1"/>
          </p:cNvSpPr>
          <p:nvPr/>
        </p:nvSpPr>
        <p:spPr>
          <a:xfrm>
            <a:off x="5810250" y="2667000"/>
            <a:ext cx="2952750" cy="1143000"/>
          </a:xfrm>
          <a:prstGeom prst="rect">
            <a:avLst/>
          </a:prstGeom>
          <a:noFill/>
          <a:ln w="0">
            <a:noFill/>
          </a:ln>
        </p:spPr>
        <p:txBody>
          <a:bodyPr lIns="0" tIns="0" rIns="0" bIns="0">
            <a:noAutofit/>
          </a:bodyPr>
          <a:lstStyle/>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r = 16: bottleneck width</a:t>
            </a:r>
          </a:p>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α = 32: scale α/r = 2</a:t>
            </a:r>
          </a:p>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dropout = 0: no adapter masking</a:t>
            </a:r>
          </a:p>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bias = "none": biases stay frozen</a:t>
            </a:r>
          </a:p>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task_type = "CAUSAL_LM"</a:t>
            </a:r>
          </a:p>
        </p:txBody>
      </p:sp>
      <p:sp>
        <p:nvSpPr>
          <p:cNvPr id="13" name="y = Wx + (α/r)BAx">
            <a:extLst>
              <a:ext uri="{FF2B5EF4-FFF2-40B4-BE49-F238E27FC236}">
                <a16:creationId xmlns:a16="http://schemas.microsoft.com/office/drawing/2014/main" id="{45642E18-FBC5-43EF-9CF1-3BF89FE79952}"/>
              </a:ext>
            </a:extLst>
          </p:cNvPr>
          <p:cNvSpPr>
            <a:spLocks noGrp="1"/>
          </p:cNvSpPr>
          <p:nvPr/>
        </p:nvSpPr>
        <p:spPr>
          <a:xfrm>
            <a:off x="381000" y="3905250"/>
            <a:ext cx="8382000" cy="304800"/>
          </a:xfrm>
          <a:prstGeom prst="rect">
            <a:avLst/>
          </a:prstGeom>
          <a:noFill/>
          <a:ln w="0">
            <a:noFill/>
          </a:ln>
        </p:spPr>
        <p:txBody>
          <a:bodyPr lIns="0" tIns="0" rIns="0" bIns="0">
            <a:noAutofit/>
          </a:bodyPr>
          <a:lstStyle/>
          <a:p>
            <a:pPr algn="l">
              <a:buNone/>
              <a:defRPr sz="1950" b="1">
                <a:solidFill>
                  <a:srgbClr val="0D2137"/>
                </a:solidFill>
                <a:latin typeface="Georgia"/>
                <a:ea typeface="Georgia"/>
                <a:cs typeface="Georgia"/>
              </a:defRPr>
            </a:pPr>
            <a:r>
              <a:rPr sz="1950" b="1">
                <a:solidFill>
                  <a:srgbClr val="0D2137"/>
                </a:solidFill>
                <a:latin typeface="Georgia"/>
                <a:ea typeface="Georgia"/>
                <a:cs typeface="Georgia"/>
              </a:rPr>
              <a:t>y = Wx + (α/r)BAx</a:t>
            </a:r>
          </a:p>
        </p:txBody>
      </p:sp>
      <p:sp>
        <p:nvSpPr>
          <p:cNvPr id="14" name="Q example: W 896 × 896     A 16 × 896     B 896 × ">
            <a:extLst>
              <a:ext uri="{FF2B5EF4-FFF2-40B4-BE49-F238E27FC236}">
                <a16:creationId xmlns:a16="http://schemas.microsoft.com/office/drawing/2014/main" id="{1A6B4A14-09B5-4E32-8269-82F2148B3F6E}"/>
              </a:ext>
            </a:extLst>
          </p:cNvPr>
          <p:cNvSpPr>
            <a:spLocks noGrp="1"/>
          </p:cNvSpPr>
          <p:nvPr/>
        </p:nvSpPr>
        <p:spPr>
          <a:xfrm>
            <a:off x="381000" y="4248150"/>
            <a:ext cx="8382000" cy="238125"/>
          </a:xfrm>
          <a:prstGeom prst="rect">
            <a:avLst/>
          </a:prstGeom>
          <a:noFill/>
          <a:ln w="0">
            <a:noFill/>
          </a:ln>
        </p:spPr>
        <p:txBody>
          <a:bodyPr lIns="0" tIns="0" rIns="0" bIns="0">
            <a:noAutofit/>
          </a:bodyPr>
          <a:lstStyle/>
          <a:p>
            <a:pPr algn="l">
              <a:buNone/>
              <a:defRPr sz="1425" b="1">
                <a:solidFill>
                  <a:srgbClr val="065A82"/>
                </a:solidFill>
                <a:latin typeface="Calibri"/>
                <a:ea typeface="Calibri"/>
                <a:cs typeface="Calibri"/>
              </a:defRPr>
            </a:pPr>
            <a:r>
              <a:rPr sz="1425" b="1">
                <a:solidFill>
                  <a:srgbClr val="065A82"/>
                </a:solidFill>
                <a:latin typeface="Calibri"/>
                <a:ea typeface="Calibri"/>
                <a:cs typeface="Calibri"/>
              </a:rPr>
              <a:t>Q example: W 896 × 896     A 16 × 896     B 896 × 16</a:t>
            </a:r>
          </a:p>
        </p:txBody>
      </p:sp>
      <p:sp>
        <p:nvSpPr>
          <p:cNvPr id="15" name="28,672 adapter parameters versus 802,816 original ">
            <a:extLst>
              <a:ext uri="{FF2B5EF4-FFF2-40B4-BE49-F238E27FC236}">
                <a16:creationId xmlns:a16="http://schemas.microsoft.com/office/drawing/2014/main" id="{D1FE1A5A-C3D3-4C2C-915B-5D5AEC2E7121}"/>
              </a:ext>
            </a:extLst>
          </p:cNvPr>
          <p:cNvSpPr>
            <a:spLocks noGrp="1"/>
          </p:cNvSpPr>
          <p:nvPr/>
        </p:nvSpPr>
        <p:spPr>
          <a:xfrm>
            <a:off x="381000" y="4514850"/>
            <a:ext cx="8382000" cy="200025"/>
          </a:xfrm>
          <a:prstGeom prst="rect">
            <a:avLst/>
          </a:prstGeom>
          <a:noFill/>
          <a:ln w="0">
            <a:noFill/>
          </a:ln>
        </p:spPr>
        <p:txBody>
          <a:bodyPr lIns="0" tIns="0" rIns="0" bIns="0">
            <a:noAutofit/>
          </a:bodyPr>
          <a:lstStyle/>
          <a:p>
            <a:pPr algn="l">
              <a:buNone/>
              <a:defRPr sz="1275" b="0">
                <a:solidFill>
                  <a:srgbClr val="64748B"/>
                </a:solidFill>
                <a:latin typeface="Calibri"/>
                <a:ea typeface="Calibri"/>
                <a:cs typeface="Calibri"/>
              </a:defRPr>
            </a:pPr>
            <a:r>
              <a:rPr sz="1275" b="0">
                <a:solidFill>
                  <a:srgbClr val="64748B"/>
                </a:solidFill>
                <a:latin typeface="Calibri"/>
                <a:ea typeface="Calibri"/>
                <a:cs typeface="Calibri"/>
              </a:rPr>
              <a:t>28,672 adapter parameters versus 802,816 original weights in this projection.</a:t>
            </a:r>
          </a:p>
        </p:txBody>
      </p:sp>
      <p:sp>
        <p:nvSpPr>
          <p:cNvPr id="16" name="QLoRA: frozen 4-bit base with higher-precision ada">
            <a:extLst>
              <a:ext uri="{FF2B5EF4-FFF2-40B4-BE49-F238E27FC236}">
                <a16:creationId xmlns:a16="http://schemas.microsoft.com/office/drawing/2014/main" id="{C9AAA534-7A10-4DAE-B767-10673335D5DB}"/>
              </a:ext>
            </a:extLst>
          </p:cNvPr>
          <p:cNvSpPr>
            <a:spLocks noGrp="1"/>
          </p:cNvSpPr>
          <p:nvPr/>
        </p:nvSpPr>
        <p:spPr>
          <a:xfrm>
            <a:off x="381000" y="4733925"/>
            <a:ext cx="8382000" cy="390525"/>
          </a:xfrm>
          <a:prstGeom prst="rect">
            <a:avLst/>
          </a:prstGeom>
          <a:noFill/>
          <a:ln w="0">
            <a:noFill/>
          </a:ln>
        </p:spPr>
        <p:txBody>
          <a:bodyPr lIns="0" tIns="0" rIns="0" bIns="0">
            <a:noAutofit/>
          </a:bodyPr>
          <a:lstStyle/>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QLoRA: frozen 4-bit base with higher-precision adapters.</a:t>
            </a:r>
          </a:p>
          <a:p>
            <a:pPr algn="l">
              <a:buNone/>
              <a:defRPr sz="1275" b="0">
                <a:solidFill>
                  <a:srgbClr val="1E293B"/>
                </a:solidFill>
                <a:latin typeface="Calibri"/>
                <a:ea typeface="Calibri"/>
                <a:cs typeface="Calibri"/>
              </a:defRPr>
            </a:pPr>
            <a:r>
              <a:rPr sz="1275" b="0">
                <a:solidFill>
                  <a:srgbClr val="1E293B"/>
                </a:solidFill>
                <a:latin typeface="Calibri"/>
                <a:ea typeface="Calibri"/>
                <a:cs typeface="Calibri"/>
              </a:rPr>
              <a:t>Our notebook uses LoRA with an unquantized base.</a:t>
            </a:r>
          </a:p>
        </p:txBody>
      </p:sp>
    </p:spTree>
    <p:extLst>
      <p:ext uri="{BB962C8B-B14F-4D97-AF65-F5344CB8AC3E}">
        <p14:creationId xmlns:p14="http://schemas.microsoft.com/office/powerpoint/2010/main" val="2061924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2296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What is a model?</a:t>
            </a:r>
            <a:endParaRPr sz="1800"/>
          </a:p>
        </p:txBody>
      </p:sp>
      <p:pic>
        <p:nvPicPr>
          <p:cNvPr id="59" name="Picture 58"/>
          <p:cNvPicPr>
            <a:picLocks noChangeAspect="1"/>
          </p:cNvPicPr>
          <p:nvPr/>
        </p:nvPicPr>
        <p:blipFill>
          <a:blip r:embed="rId3"/>
          <a:stretch/>
        </p:blipFill>
        <p:spPr>
          <a:xfrm>
            <a:off x="381000" y="1104900"/>
            <a:ext cx="457200" cy="457200"/>
          </a:xfrm>
          <a:prstGeom prst="rect">
            <a:avLst/>
          </a:prstGeom>
        </p:spPr>
      </p:pic>
      <p:pic>
        <p:nvPicPr>
          <p:cNvPr id="60" name="Picture 59"/>
          <p:cNvPicPr>
            <a:picLocks noChangeAspect="1"/>
          </p:cNvPicPr>
          <p:nvPr/>
        </p:nvPicPr>
        <p:blipFill>
          <a:blip r:embed="rId4"/>
          <a:stretch/>
        </p:blipFill>
        <p:spPr>
          <a:xfrm>
            <a:off x="3362325" y="1104900"/>
            <a:ext cx="457200" cy="457200"/>
          </a:xfrm>
          <a:prstGeom prst="rect">
            <a:avLst/>
          </a:prstGeom>
        </p:spPr>
      </p:pic>
      <p:pic>
        <p:nvPicPr>
          <p:cNvPr id="61" name="Picture 60"/>
          <p:cNvPicPr>
            <a:picLocks noChangeAspect="1"/>
          </p:cNvPicPr>
          <p:nvPr/>
        </p:nvPicPr>
        <p:blipFill>
          <a:blip r:embed="rId5"/>
          <a:stretch/>
        </p:blipFill>
        <p:spPr>
          <a:xfrm>
            <a:off x="6343650" y="1104900"/>
            <a:ext cx="457200" cy="457200"/>
          </a:xfrm>
          <a:prstGeom prst="rect">
            <a:avLst/>
          </a:prstGeom>
        </p:spPr>
      </p:pic>
      <p:sp>
        <p:nvSpPr>
          <p:cNvPr id="33" name="Now we can read its configuration">
            <a:extLst>
              <a:ext uri="{FF2B5EF4-FFF2-40B4-BE49-F238E27FC236}">
                <a16:creationId xmlns:a16="http://schemas.microsoft.com/office/drawing/2014/main" id="{C762D230-971C-4DE0-933B-F61C0B2F33C4}"/>
              </a:ext>
            </a:extLst>
          </p:cNvPr>
          <p:cNvSpPr>
            <a:spLocks noGrp="1"/>
          </p:cNvSpPr>
          <p:nvPr/>
        </p:nvSpPr>
        <p:spPr>
          <a:xfrm>
            <a:off x="381000" y="485775"/>
            <a:ext cx="8382000" cy="276225"/>
          </a:xfrm>
          <a:prstGeom prst="rect">
            <a:avLst/>
          </a:prstGeom>
          <a:noFill/>
          <a:ln w="0">
            <a:noFill/>
          </a:ln>
        </p:spPr>
        <p:txBody>
          <a:bodyPr lIns="0" tIns="0" rIns="0" bIns="0">
            <a:noAutofit/>
          </a:bodyPr>
          <a:lstStyle/>
          <a:p>
            <a:pPr algn="l">
              <a:defRPr sz="1575" b="0">
                <a:solidFill>
                  <a:srgbClr val="F59E0B"/>
                </a:solidFill>
                <a:latin typeface="Calibri"/>
                <a:ea typeface="Calibri"/>
                <a:cs typeface="Calibri"/>
              </a:defRPr>
            </a:pPr>
            <a:r>
              <a:rPr sz="1575" b="0">
                <a:solidFill>
                  <a:srgbClr val="F59E0B"/>
                </a:solidFill>
                <a:latin typeface="Calibri"/>
                <a:ea typeface="Calibri"/>
                <a:cs typeface="Calibri"/>
              </a:rPr>
              <a:t>Now we can read its configuration</a:t>
            </a:r>
          </a:p>
        </p:txBody>
      </p:sp>
      <p:sp>
        <p:nvSpPr>
          <p:cNvPr id="34" name="Qwen2.5&#10;0.5B-Instruct">
            <a:extLst>
              <a:ext uri="{FF2B5EF4-FFF2-40B4-BE49-F238E27FC236}">
                <a16:creationId xmlns:a16="http://schemas.microsoft.com/office/drawing/2014/main" id="{568063CE-F28C-4760-B230-D10F807A7A9A}"/>
              </a:ext>
            </a:extLst>
          </p:cNvPr>
          <p:cNvSpPr>
            <a:spLocks noGrp="1"/>
          </p:cNvSpPr>
          <p:nvPr/>
        </p:nvSpPr>
        <p:spPr>
          <a:xfrm>
            <a:off x="962025" y="1057275"/>
            <a:ext cx="2143125" cy="600075"/>
          </a:xfrm>
          <a:prstGeom prst="rect">
            <a:avLst/>
          </a:prstGeom>
          <a:noFill/>
          <a:ln w="0">
            <a:noFill/>
          </a:ln>
        </p:spPr>
        <p:txBody>
          <a:bodyPr lIns="0" tIns="0" rIns="0" bIns="0">
            <a:noAutofit/>
          </a:bodyPr>
          <a:lstStyle/>
          <a:p>
            <a:pPr algn="l">
              <a:defRPr sz="1725" b="1">
                <a:solidFill>
                  <a:srgbClr val="0D2137"/>
                </a:solidFill>
                <a:latin typeface="Georgia"/>
                <a:ea typeface="Georgia"/>
                <a:cs typeface="Georgia"/>
              </a:defRPr>
            </a:pPr>
            <a:r>
              <a:rPr sz="1725" b="1">
                <a:solidFill>
                  <a:srgbClr val="0D2137"/>
                </a:solidFill>
                <a:latin typeface="Georgia"/>
                <a:ea typeface="Georgia"/>
                <a:cs typeface="Georgia"/>
              </a:rPr>
              <a:t>Qwen2.5</a:t>
            </a:r>
          </a:p>
          <a:p>
            <a:pPr algn="l">
              <a:defRPr sz="1725" b="1">
                <a:solidFill>
                  <a:srgbClr val="0D2137"/>
                </a:solidFill>
                <a:latin typeface="Georgia"/>
                <a:ea typeface="Georgia"/>
                <a:cs typeface="Georgia"/>
              </a:defRPr>
            </a:pPr>
            <a:r>
              <a:rPr sz="1725" b="1">
                <a:solidFill>
                  <a:srgbClr val="0D2137"/>
                </a:solidFill>
                <a:latin typeface="Georgia"/>
                <a:ea typeface="Georgia"/>
                <a:cs typeface="Georgia"/>
              </a:rPr>
              <a:t>0.5B-Instruct</a:t>
            </a:r>
          </a:p>
        </p:txBody>
      </p:sp>
      <p:sp>
        <p:nvSpPr>
          <p:cNvPr id="35" name="≈0.49B parameters">
            <a:extLst>
              <a:ext uri="{FF2B5EF4-FFF2-40B4-BE49-F238E27FC236}">
                <a16:creationId xmlns:a16="http://schemas.microsoft.com/office/drawing/2014/main" id="{3E89D646-A7E3-43B2-90DE-308E1FE53AF9}"/>
              </a:ext>
            </a:extLst>
          </p:cNvPr>
          <p:cNvSpPr>
            <a:spLocks noGrp="1"/>
          </p:cNvSpPr>
          <p:nvPr/>
        </p:nvSpPr>
        <p:spPr>
          <a:xfrm>
            <a:off x="381000" y="1743075"/>
            <a:ext cx="2667000" cy="352425"/>
          </a:xfrm>
          <a:prstGeom prst="rect">
            <a:avLst/>
          </a:prstGeom>
          <a:noFill/>
          <a:ln w="0">
            <a:noFill/>
          </a:ln>
        </p:spPr>
        <p:txBody>
          <a:bodyPr lIns="0" tIns="0" rIns="0" bIns="0">
            <a:noAutofit/>
          </a:bodyPr>
          <a:lstStyle/>
          <a:p>
            <a:pPr algn="l">
              <a:defRPr sz="2025" b="1">
                <a:solidFill>
                  <a:srgbClr val="B46A00"/>
                </a:solidFill>
                <a:latin typeface="Georgia"/>
                <a:ea typeface="Georgia"/>
                <a:cs typeface="Georgia"/>
              </a:defRPr>
            </a:pPr>
            <a:r>
              <a:rPr sz="2025" b="1">
                <a:solidFill>
                  <a:srgbClr val="B46A00"/>
                </a:solidFill>
                <a:latin typeface="Georgia"/>
                <a:ea typeface="Georgia"/>
                <a:cs typeface="Georgia"/>
              </a:rPr>
              <a:t>≈0.49B parameters</a:t>
            </a:r>
          </a:p>
        </p:txBody>
      </p:sp>
      <p:sp>
        <p:nvSpPr>
          <p:cNvPr id="36" name="Dense workshop model">
            <a:extLst>
              <a:ext uri="{FF2B5EF4-FFF2-40B4-BE49-F238E27FC236}">
                <a16:creationId xmlns:a16="http://schemas.microsoft.com/office/drawing/2014/main" id="{21B1CF71-94E0-424A-BAA8-74BA4D3765FA}"/>
              </a:ext>
            </a:extLst>
          </p:cNvPr>
          <p:cNvSpPr>
            <a:spLocks noGrp="1"/>
          </p:cNvSpPr>
          <p:nvPr/>
        </p:nvSpPr>
        <p:spPr>
          <a:xfrm>
            <a:off x="381000" y="2143125"/>
            <a:ext cx="2667000" cy="219075"/>
          </a:xfrm>
          <a:prstGeom prst="rect">
            <a:avLst/>
          </a:prstGeom>
          <a:noFill/>
          <a:ln w="0">
            <a:noFill/>
          </a:ln>
        </p:spPr>
        <p:txBody>
          <a:bodyPr lIns="0" tIns="0" rIns="0" bIns="0">
            <a:noAutofit/>
          </a:bodyPr>
          <a:lstStyle/>
          <a:p>
            <a:pPr algn="l">
              <a:defRPr sz="1238" b="0">
                <a:solidFill>
                  <a:srgbClr val="64748B"/>
                </a:solidFill>
                <a:latin typeface="Calibri"/>
                <a:ea typeface="Calibri"/>
                <a:cs typeface="Calibri"/>
              </a:defRPr>
            </a:pPr>
            <a:r>
              <a:rPr sz="1238" b="0">
                <a:solidFill>
                  <a:srgbClr val="64748B"/>
                </a:solidFill>
                <a:latin typeface="Calibri"/>
                <a:ea typeface="Calibri"/>
                <a:cs typeface="Calibri"/>
              </a:rPr>
              <a:t>Dense workshop model</a:t>
            </a:r>
          </a:p>
        </p:txBody>
      </p:sp>
      <p:sp>
        <p:nvSpPr>
          <p:cNvPr id="37" name="896  hidden width">
            <a:extLst>
              <a:ext uri="{FF2B5EF4-FFF2-40B4-BE49-F238E27FC236}">
                <a16:creationId xmlns:a16="http://schemas.microsoft.com/office/drawing/2014/main" id="{F4CA8383-5DEA-42BF-8730-C8F57A2EAE31}"/>
              </a:ext>
            </a:extLst>
          </p:cNvPr>
          <p:cNvSpPr>
            <a:spLocks noGrp="1"/>
          </p:cNvSpPr>
          <p:nvPr/>
        </p:nvSpPr>
        <p:spPr>
          <a:xfrm>
            <a:off x="381000" y="2419350"/>
            <a:ext cx="2667000" cy="257175"/>
          </a:xfrm>
          <a:prstGeom prst="rect">
            <a:avLst/>
          </a:prstGeom>
          <a:noFill/>
          <a:ln w="0">
            <a:noFill/>
          </a:ln>
        </p:spPr>
        <p:txBody>
          <a:bodyPr lIns="0" tIns="0" rIns="0" bIns="0">
            <a:noAutofit/>
          </a:bodyPr>
          <a:lstStyle/>
          <a:p>
            <a:pPr algn="l">
              <a:defRPr sz="1575" b="1">
                <a:solidFill>
                  <a:srgbClr val="0D2137"/>
                </a:solidFill>
                <a:latin typeface="Calibri"/>
                <a:ea typeface="Calibri"/>
                <a:cs typeface="Calibri"/>
              </a:defRPr>
            </a:pPr>
            <a:r>
              <a:rPr sz="1575" b="1">
                <a:solidFill>
                  <a:srgbClr val="0D2137"/>
                </a:solidFill>
                <a:latin typeface="Calibri"/>
                <a:ea typeface="Calibri"/>
                <a:cs typeface="Calibri"/>
              </a:rPr>
              <a:t>896  hidden width</a:t>
            </a:r>
          </a:p>
        </p:txBody>
      </p:sp>
      <p:sp>
        <p:nvSpPr>
          <p:cNvPr id="38" name="4,864  MLP width">
            <a:extLst>
              <a:ext uri="{FF2B5EF4-FFF2-40B4-BE49-F238E27FC236}">
                <a16:creationId xmlns:a16="http://schemas.microsoft.com/office/drawing/2014/main" id="{3EBCF822-171C-45CB-BA62-293ED7D68A3F}"/>
              </a:ext>
            </a:extLst>
          </p:cNvPr>
          <p:cNvSpPr>
            <a:spLocks noGrp="1"/>
          </p:cNvSpPr>
          <p:nvPr/>
        </p:nvSpPr>
        <p:spPr>
          <a:xfrm>
            <a:off x="381000" y="2762250"/>
            <a:ext cx="2667000" cy="266700"/>
          </a:xfrm>
          <a:prstGeom prst="rect">
            <a:avLst/>
          </a:prstGeom>
          <a:noFill/>
          <a:ln w="0">
            <a:noFill/>
          </a:ln>
        </p:spPr>
        <p:txBody>
          <a:bodyPr lIns="0" tIns="0" rIns="0" bIns="0">
            <a:noAutofit/>
          </a:bodyPr>
          <a:lstStyle/>
          <a:p>
            <a:pPr algn="l">
              <a:defRPr sz="1575" b="0">
                <a:solidFill>
                  <a:srgbClr val="1E293B"/>
                </a:solidFill>
                <a:latin typeface="Calibri"/>
                <a:ea typeface="Calibri"/>
                <a:cs typeface="Calibri"/>
              </a:defRPr>
            </a:pPr>
            <a:r>
              <a:rPr sz="1575" b="0">
                <a:solidFill>
                  <a:srgbClr val="1E293B"/>
                </a:solidFill>
                <a:latin typeface="Calibri"/>
                <a:ea typeface="Calibri"/>
                <a:cs typeface="Calibri"/>
              </a:rPr>
              <a:t>4,864  MLP width</a:t>
            </a:r>
          </a:p>
        </p:txBody>
      </p:sp>
      <p:sp>
        <p:nvSpPr>
          <p:cNvPr id="39" name="14 query heads&#10;2 K/V heads     64 head width">
            <a:extLst>
              <a:ext uri="{FF2B5EF4-FFF2-40B4-BE49-F238E27FC236}">
                <a16:creationId xmlns:a16="http://schemas.microsoft.com/office/drawing/2014/main" id="{462BB0D0-B62B-4B8C-A938-8523413D831E}"/>
              </a:ext>
            </a:extLst>
          </p:cNvPr>
          <p:cNvSpPr>
            <a:spLocks noGrp="1"/>
          </p:cNvSpPr>
          <p:nvPr/>
        </p:nvSpPr>
        <p:spPr>
          <a:xfrm>
            <a:off x="381000" y="3143250"/>
            <a:ext cx="2667000" cy="47625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14 query heads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2 K/V heads     64 head width</a:t>
            </a:r>
          </a:p>
        </p:txBody>
      </p:sp>
      <p:sp>
        <p:nvSpPr>
          <p:cNvPr id="40" name="24 blocks&#10;32,768 token positions">
            <a:extLst>
              <a:ext uri="{FF2B5EF4-FFF2-40B4-BE49-F238E27FC236}">
                <a16:creationId xmlns:a16="http://schemas.microsoft.com/office/drawing/2014/main" id="{4DFFF5B0-15AA-4168-8A9E-2C12C968D63F}"/>
              </a:ext>
            </a:extLst>
          </p:cNvPr>
          <p:cNvSpPr>
            <a:spLocks noGrp="1"/>
          </p:cNvSpPr>
          <p:nvPr/>
        </p:nvSpPr>
        <p:spPr>
          <a:xfrm>
            <a:off x="381000" y="3733800"/>
            <a:ext cx="2667000" cy="45720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24 blocks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32,768 token positions</a:t>
            </a:r>
          </a:p>
        </p:txBody>
      </p:sp>
      <p:sp>
        <p:nvSpPr>
          <p:cNvPr id="41" name="Llama 3.1&#10;405B-Instruct">
            <a:extLst>
              <a:ext uri="{FF2B5EF4-FFF2-40B4-BE49-F238E27FC236}">
                <a16:creationId xmlns:a16="http://schemas.microsoft.com/office/drawing/2014/main" id="{FFFD868A-BDED-414C-B8FE-900BC86058B3}"/>
              </a:ext>
            </a:extLst>
          </p:cNvPr>
          <p:cNvSpPr>
            <a:spLocks noGrp="1"/>
          </p:cNvSpPr>
          <p:nvPr/>
        </p:nvSpPr>
        <p:spPr>
          <a:xfrm>
            <a:off x="3943350" y="1057275"/>
            <a:ext cx="2143125" cy="600075"/>
          </a:xfrm>
          <a:prstGeom prst="rect">
            <a:avLst/>
          </a:prstGeom>
          <a:noFill/>
          <a:ln w="0">
            <a:noFill/>
          </a:ln>
        </p:spPr>
        <p:txBody>
          <a:bodyPr lIns="0" tIns="0" rIns="0" bIns="0">
            <a:noAutofit/>
          </a:bodyPr>
          <a:lstStyle/>
          <a:p>
            <a:pPr algn="l">
              <a:defRPr sz="1725" b="1">
                <a:solidFill>
                  <a:srgbClr val="0D2137"/>
                </a:solidFill>
                <a:latin typeface="Georgia"/>
                <a:ea typeface="Georgia"/>
                <a:cs typeface="Georgia"/>
              </a:defRPr>
            </a:pPr>
            <a:r>
              <a:rPr sz="1725" b="1">
                <a:solidFill>
                  <a:srgbClr val="0D2137"/>
                </a:solidFill>
                <a:latin typeface="Georgia"/>
                <a:ea typeface="Georgia"/>
                <a:cs typeface="Georgia"/>
              </a:rPr>
              <a:t>Llama 3.1</a:t>
            </a:r>
          </a:p>
          <a:p>
            <a:pPr algn="l">
              <a:defRPr sz="1725" b="1">
                <a:solidFill>
                  <a:srgbClr val="0D2137"/>
                </a:solidFill>
                <a:latin typeface="Georgia"/>
                <a:ea typeface="Georgia"/>
                <a:cs typeface="Georgia"/>
              </a:defRPr>
            </a:pPr>
            <a:r>
              <a:rPr sz="1725" b="1">
                <a:solidFill>
                  <a:srgbClr val="0D2137"/>
                </a:solidFill>
                <a:latin typeface="Georgia"/>
                <a:ea typeface="Georgia"/>
                <a:cs typeface="Georgia"/>
              </a:rPr>
              <a:t>405B-Instruct</a:t>
            </a:r>
          </a:p>
        </p:txBody>
      </p:sp>
      <p:sp>
        <p:nvSpPr>
          <p:cNvPr id="42" name="≈405B parameters">
            <a:extLst>
              <a:ext uri="{FF2B5EF4-FFF2-40B4-BE49-F238E27FC236}">
                <a16:creationId xmlns:a16="http://schemas.microsoft.com/office/drawing/2014/main" id="{1A014470-1E53-4C50-B63B-D4B1E67AD94F}"/>
              </a:ext>
            </a:extLst>
          </p:cNvPr>
          <p:cNvSpPr>
            <a:spLocks noGrp="1"/>
          </p:cNvSpPr>
          <p:nvPr/>
        </p:nvSpPr>
        <p:spPr>
          <a:xfrm>
            <a:off x="3362325" y="1743075"/>
            <a:ext cx="2667000" cy="352425"/>
          </a:xfrm>
          <a:prstGeom prst="rect">
            <a:avLst/>
          </a:prstGeom>
          <a:noFill/>
          <a:ln w="0">
            <a:noFill/>
          </a:ln>
        </p:spPr>
        <p:txBody>
          <a:bodyPr lIns="0" tIns="0" rIns="0" bIns="0">
            <a:noAutofit/>
          </a:bodyPr>
          <a:lstStyle/>
          <a:p>
            <a:pPr algn="l">
              <a:defRPr sz="2025" b="1">
                <a:solidFill>
                  <a:srgbClr val="065A82"/>
                </a:solidFill>
                <a:latin typeface="Georgia"/>
                <a:ea typeface="Georgia"/>
                <a:cs typeface="Georgia"/>
              </a:defRPr>
            </a:pPr>
            <a:r>
              <a:rPr sz="2025" b="1">
                <a:solidFill>
                  <a:srgbClr val="065A82"/>
                </a:solidFill>
                <a:latin typeface="Georgia"/>
                <a:ea typeface="Georgia"/>
                <a:cs typeface="Georgia"/>
              </a:rPr>
              <a:t>≈405B parameters</a:t>
            </a:r>
          </a:p>
        </p:txBody>
      </p:sp>
      <p:sp>
        <p:nvSpPr>
          <p:cNvPr id="43" name="Dense model">
            <a:extLst>
              <a:ext uri="{FF2B5EF4-FFF2-40B4-BE49-F238E27FC236}">
                <a16:creationId xmlns:a16="http://schemas.microsoft.com/office/drawing/2014/main" id="{09DADBE0-79F4-4CFE-959C-B74F92875879}"/>
              </a:ext>
            </a:extLst>
          </p:cNvPr>
          <p:cNvSpPr>
            <a:spLocks noGrp="1"/>
          </p:cNvSpPr>
          <p:nvPr/>
        </p:nvSpPr>
        <p:spPr>
          <a:xfrm>
            <a:off x="3362325" y="2143125"/>
            <a:ext cx="2667000" cy="219075"/>
          </a:xfrm>
          <a:prstGeom prst="rect">
            <a:avLst/>
          </a:prstGeom>
          <a:noFill/>
          <a:ln w="0">
            <a:noFill/>
          </a:ln>
        </p:spPr>
        <p:txBody>
          <a:bodyPr lIns="0" tIns="0" rIns="0" bIns="0">
            <a:noAutofit/>
          </a:bodyPr>
          <a:lstStyle/>
          <a:p>
            <a:pPr algn="l">
              <a:defRPr sz="1238" b="0">
                <a:solidFill>
                  <a:srgbClr val="64748B"/>
                </a:solidFill>
                <a:latin typeface="Calibri"/>
                <a:ea typeface="Calibri"/>
                <a:cs typeface="Calibri"/>
              </a:defRPr>
            </a:pPr>
            <a:r>
              <a:rPr sz="1238" b="0">
                <a:solidFill>
                  <a:srgbClr val="64748B"/>
                </a:solidFill>
                <a:latin typeface="Calibri"/>
                <a:ea typeface="Calibri"/>
                <a:cs typeface="Calibri"/>
              </a:rPr>
              <a:t>Dense model</a:t>
            </a:r>
          </a:p>
        </p:txBody>
      </p:sp>
      <p:sp>
        <p:nvSpPr>
          <p:cNvPr id="44" name="16,384  hidden width">
            <a:extLst>
              <a:ext uri="{FF2B5EF4-FFF2-40B4-BE49-F238E27FC236}">
                <a16:creationId xmlns:a16="http://schemas.microsoft.com/office/drawing/2014/main" id="{D7770774-574B-404D-9697-CE314A5DC85F}"/>
              </a:ext>
            </a:extLst>
          </p:cNvPr>
          <p:cNvSpPr>
            <a:spLocks noGrp="1"/>
          </p:cNvSpPr>
          <p:nvPr/>
        </p:nvSpPr>
        <p:spPr>
          <a:xfrm>
            <a:off x="3362325" y="2419350"/>
            <a:ext cx="2667000" cy="257175"/>
          </a:xfrm>
          <a:prstGeom prst="rect">
            <a:avLst/>
          </a:prstGeom>
          <a:noFill/>
          <a:ln w="0">
            <a:noFill/>
          </a:ln>
        </p:spPr>
        <p:txBody>
          <a:bodyPr lIns="0" tIns="0" rIns="0" bIns="0">
            <a:noAutofit/>
          </a:bodyPr>
          <a:lstStyle/>
          <a:p>
            <a:pPr algn="l">
              <a:defRPr sz="1575" b="1">
                <a:solidFill>
                  <a:srgbClr val="0D2137"/>
                </a:solidFill>
                <a:latin typeface="Calibri"/>
                <a:ea typeface="Calibri"/>
                <a:cs typeface="Calibri"/>
              </a:defRPr>
            </a:pPr>
            <a:r>
              <a:rPr sz="1575" b="1">
                <a:solidFill>
                  <a:srgbClr val="0D2137"/>
                </a:solidFill>
                <a:latin typeface="Calibri"/>
                <a:ea typeface="Calibri"/>
                <a:cs typeface="Calibri"/>
              </a:rPr>
              <a:t>16,384  hidden width</a:t>
            </a:r>
          </a:p>
        </p:txBody>
      </p:sp>
      <p:sp>
        <p:nvSpPr>
          <p:cNvPr id="45" name="53,248  MLP width">
            <a:extLst>
              <a:ext uri="{FF2B5EF4-FFF2-40B4-BE49-F238E27FC236}">
                <a16:creationId xmlns:a16="http://schemas.microsoft.com/office/drawing/2014/main" id="{90E3F92D-A5F2-46A3-AD93-7468688061B1}"/>
              </a:ext>
            </a:extLst>
          </p:cNvPr>
          <p:cNvSpPr>
            <a:spLocks noGrp="1"/>
          </p:cNvSpPr>
          <p:nvPr/>
        </p:nvSpPr>
        <p:spPr>
          <a:xfrm>
            <a:off x="3362325" y="2762250"/>
            <a:ext cx="2667000" cy="266700"/>
          </a:xfrm>
          <a:prstGeom prst="rect">
            <a:avLst/>
          </a:prstGeom>
          <a:noFill/>
          <a:ln w="0">
            <a:noFill/>
          </a:ln>
        </p:spPr>
        <p:txBody>
          <a:bodyPr lIns="0" tIns="0" rIns="0" bIns="0">
            <a:noAutofit/>
          </a:bodyPr>
          <a:lstStyle/>
          <a:p>
            <a:pPr algn="l">
              <a:defRPr sz="1575" b="0">
                <a:solidFill>
                  <a:srgbClr val="1E293B"/>
                </a:solidFill>
                <a:latin typeface="Calibri"/>
                <a:ea typeface="Calibri"/>
                <a:cs typeface="Calibri"/>
              </a:defRPr>
            </a:pPr>
            <a:r>
              <a:rPr sz="1575" b="0">
                <a:solidFill>
                  <a:srgbClr val="1E293B"/>
                </a:solidFill>
                <a:latin typeface="Calibri"/>
                <a:ea typeface="Calibri"/>
                <a:cs typeface="Calibri"/>
              </a:rPr>
              <a:t>53,248  MLP width</a:t>
            </a:r>
          </a:p>
        </p:txBody>
      </p:sp>
      <p:sp>
        <p:nvSpPr>
          <p:cNvPr id="46" name="128 query heads&#10;8 K/V heads     128 head width">
            <a:extLst>
              <a:ext uri="{FF2B5EF4-FFF2-40B4-BE49-F238E27FC236}">
                <a16:creationId xmlns:a16="http://schemas.microsoft.com/office/drawing/2014/main" id="{59C7E205-C335-49C5-8699-22C61A2647DB}"/>
              </a:ext>
            </a:extLst>
          </p:cNvPr>
          <p:cNvSpPr>
            <a:spLocks noGrp="1"/>
          </p:cNvSpPr>
          <p:nvPr/>
        </p:nvSpPr>
        <p:spPr>
          <a:xfrm>
            <a:off x="3362325" y="3143250"/>
            <a:ext cx="2667000" cy="47625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128 query heads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8 K/V heads     128 head width</a:t>
            </a:r>
          </a:p>
        </p:txBody>
      </p:sp>
      <p:sp>
        <p:nvSpPr>
          <p:cNvPr id="47" name="126 blocks&#10;131,072 token positions">
            <a:extLst>
              <a:ext uri="{FF2B5EF4-FFF2-40B4-BE49-F238E27FC236}">
                <a16:creationId xmlns:a16="http://schemas.microsoft.com/office/drawing/2014/main" id="{6D691210-7DCB-424E-BAC9-8B02C45D3205}"/>
              </a:ext>
            </a:extLst>
          </p:cNvPr>
          <p:cNvSpPr>
            <a:spLocks noGrp="1"/>
          </p:cNvSpPr>
          <p:nvPr/>
        </p:nvSpPr>
        <p:spPr>
          <a:xfrm>
            <a:off x="3362325" y="3733800"/>
            <a:ext cx="2667000" cy="45720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126 blocks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131,072 token positions</a:t>
            </a:r>
          </a:p>
        </p:txBody>
      </p:sp>
      <p:sp>
        <p:nvSpPr>
          <p:cNvPr id="48" name="OpenAI&#10;gpt-oss-120b">
            <a:extLst>
              <a:ext uri="{FF2B5EF4-FFF2-40B4-BE49-F238E27FC236}">
                <a16:creationId xmlns:a16="http://schemas.microsoft.com/office/drawing/2014/main" id="{9439F6E9-4A3B-4582-9966-C9A23653F225}"/>
              </a:ext>
            </a:extLst>
          </p:cNvPr>
          <p:cNvSpPr>
            <a:spLocks noGrp="1"/>
          </p:cNvSpPr>
          <p:nvPr/>
        </p:nvSpPr>
        <p:spPr>
          <a:xfrm>
            <a:off x="6924675" y="1057275"/>
            <a:ext cx="2143125" cy="600075"/>
          </a:xfrm>
          <a:prstGeom prst="rect">
            <a:avLst/>
          </a:prstGeom>
          <a:noFill/>
          <a:ln w="0">
            <a:noFill/>
          </a:ln>
        </p:spPr>
        <p:txBody>
          <a:bodyPr lIns="0" tIns="0" rIns="0" bIns="0">
            <a:noAutofit/>
          </a:bodyPr>
          <a:lstStyle/>
          <a:p>
            <a:pPr algn="l">
              <a:defRPr sz="1725" b="1">
                <a:solidFill>
                  <a:srgbClr val="0D2137"/>
                </a:solidFill>
                <a:latin typeface="Georgia"/>
                <a:ea typeface="Georgia"/>
                <a:cs typeface="Georgia"/>
              </a:defRPr>
            </a:pPr>
            <a:r>
              <a:rPr sz="1725" b="1">
                <a:solidFill>
                  <a:srgbClr val="0D2137"/>
                </a:solidFill>
                <a:latin typeface="Georgia"/>
                <a:ea typeface="Georgia"/>
                <a:cs typeface="Georgia"/>
              </a:rPr>
              <a:t>OpenAI</a:t>
            </a:r>
          </a:p>
          <a:p>
            <a:pPr algn="l">
              <a:defRPr sz="1725" b="1">
                <a:solidFill>
                  <a:srgbClr val="0D2137"/>
                </a:solidFill>
                <a:latin typeface="Georgia"/>
                <a:ea typeface="Georgia"/>
                <a:cs typeface="Georgia"/>
              </a:defRPr>
            </a:pPr>
            <a:r>
              <a:rPr sz="1725" b="1">
                <a:solidFill>
                  <a:srgbClr val="0D2137"/>
                </a:solidFill>
                <a:latin typeface="Georgia"/>
                <a:ea typeface="Georgia"/>
                <a:cs typeface="Georgia"/>
              </a:rPr>
              <a:t>gpt-oss-120b</a:t>
            </a:r>
          </a:p>
        </p:txBody>
      </p:sp>
      <p:sp>
        <p:nvSpPr>
          <p:cNvPr id="49" name="≈117B parameters">
            <a:extLst>
              <a:ext uri="{FF2B5EF4-FFF2-40B4-BE49-F238E27FC236}">
                <a16:creationId xmlns:a16="http://schemas.microsoft.com/office/drawing/2014/main" id="{972E1E94-5209-489A-A22C-173096F0AA77}"/>
              </a:ext>
            </a:extLst>
          </p:cNvPr>
          <p:cNvSpPr>
            <a:spLocks noGrp="1"/>
          </p:cNvSpPr>
          <p:nvPr/>
        </p:nvSpPr>
        <p:spPr>
          <a:xfrm>
            <a:off x="6343650" y="1743075"/>
            <a:ext cx="2667000" cy="352425"/>
          </a:xfrm>
          <a:prstGeom prst="rect">
            <a:avLst/>
          </a:prstGeom>
          <a:noFill/>
          <a:ln w="0">
            <a:noFill/>
          </a:ln>
        </p:spPr>
        <p:txBody>
          <a:bodyPr lIns="0" tIns="0" rIns="0" bIns="0">
            <a:noAutofit/>
          </a:bodyPr>
          <a:lstStyle/>
          <a:p>
            <a:pPr algn="l">
              <a:defRPr sz="2025" b="1">
                <a:solidFill>
                  <a:srgbClr val="1C7293"/>
                </a:solidFill>
                <a:latin typeface="Georgia"/>
                <a:ea typeface="Georgia"/>
                <a:cs typeface="Georgia"/>
              </a:defRPr>
            </a:pPr>
            <a:r>
              <a:rPr sz="2025" b="1">
                <a:solidFill>
                  <a:srgbClr val="1C7293"/>
                </a:solidFill>
                <a:latin typeface="Georgia"/>
                <a:ea typeface="Georgia"/>
                <a:cs typeface="Georgia"/>
              </a:rPr>
              <a:t>≈117B parameters</a:t>
            </a:r>
          </a:p>
        </p:txBody>
      </p:sp>
      <p:sp>
        <p:nvSpPr>
          <p:cNvPr id="50" name="MoE: 128 experts, 4 selected/token">
            <a:extLst>
              <a:ext uri="{FF2B5EF4-FFF2-40B4-BE49-F238E27FC236}">
                <a16:creationId xmlns:a16="http://schemas.microsoft.com/office/drawing/2014/main" id="{4219DDDE-9614-470B-94B4-183922C7A3C4}"/>
              </a:ext>
            </a:extLst>
          </p:cNvPr>
          <p:cNvSpPr>
            <a:spLocks noGrp="1"/>
          </p:cNvSpPr>
          <p:nvPr/>
        </p:nvSpPr>
        <p:spPr>
          <a:xfrm>
            <a:off x="6343650" y="2143125"/>
            <a:ext cx="2667000" cy="219075"/>
          </a:xfrm>
          <a:prstGeom prst="rect">
            <a:avLst/>
          </a:prstGeom>
          <a:noFill/>
          <a:ln w="0">
            <a:noFill/>
          </a:ln>
        </p:spPr>
        <p:txBody>
          <a:bodyPr lIns="0" tIns="0" rIns="0" bIns="0">
            <a:noAutofit/>
          </a:bodyPr>
          <a:lstStyle/>
          <a:p>
            <a:pPr algn="l">
              <a:defRPr sz="1238" b="0">
                <a:solidFill>
                  <a:srgbClr val="64748B"/>
                </a:solidFill>
                <a:latin typeface="Calibri"/>
                <a:ea typeface="Calibri"/>
                <a:cs typeface="Calibri"/>
              </a:defRPr>
            </a:pPr>
            <a:r>
              <a:rPr sz="1238" b="0">
                <a:solidFill>
                  <a:srgbClr val="64748B"/>
                </a:solidFill>
                <a:latin typeface="Calibri"/>
                <a:ea typeface="Calibri"/>
                <a:cs typeface="Calibri"/>
              </a:rPr>
              <a:t>MoE: 128 experts, 4 selected/token</a:t>
            </a:r>
          </a:p>
        </p:txBody>
      </p:sp>
      <p:sp>
        <p:nvSpPr>
          <p:cNvPr id="51" name="2,880  hidden width">
            <a:extLst>
              <a:ext uri="{FF2B5EF4-FFF2-40B4-BE49-F238E27FC236}">
                <a16:creationId xmlns:a16="http://schemas.microsoft.com/office/drawing/2014/main" id="{0672B3C1-9F1B-4F8D-AA1E-DB22130D1570}"/>
              </a:ext>
            </a:extLst>
          </p:cNvPr>
          <p:cNvSpPr>
            <a:spLocks noGrp="1"/>
          </p:cNvSpPr>
          <p:nvPr/>
        </p:nvSpPr>
        <p:spPr>
          <a:xfrm>
            <a:off x="6343650" y="2419350"/>
            <a:ext cx="2667000" cy="257175"/>
          </a:xfrm>
          <a:prstGeom prst="rect">
            <a:avLst/>
          </a:prstGeom>
          <a:noFill/>
          <a:ln w="0">
            <a:noFill/>
          </a:ln>
        </p:spPr>
        <p:txBody>
          <a:bodyPr lIns="0" tIns="0" rIns="0" bIns="0">
            <a:noAutofit/>
          </a:bodyPr>
          <a:lstStyle/>
          <a:p>
            <a:pPr algn="l">
              <a:defRPr sz="1575" b="1">
                <a:solidFill>
                  <a:srgbClr val="0D2137"/>
                </a:solidFill>
                <a:latin typeface="Calibri"/>
                <a:ea typeface="Calibri"/>
                <a:cs typeface="Calibri"/>
              </a:defRPr>
            </a:pPr>
            <a:r>
              <a:rPr sz="1575" b="1">
                <a:solidFill>
                  <a:srgbClr val="0D2137"/>
                </a:solidFill>
                <a:latin typeface="Calibri"/>
                <a:ea typeface="Calibri"/>
                <a:cs typeface="Calibri"/>
              </a:rPr>
              <a:t>2,880  hidden width</a:t>
            </a:r>
          </a:p>
        </p:txBody>
      </p:sp>
      <p:sp>
        <p:nvSpPr>
          <p:cNvPr id="52" name="2,880 per expert  MLP width">
            <a:extLst>
              <a:ext uri="{FF2B5EF4-FFF2-40B4-BE49-F238E27FC236}">
                <a16:creationId xmlns:a16="http://schemas.microsoft.com/office/drawing/2014/main" id="{49B72BB5-EA14-4A81-BC97-14EF5E589CE1}"/>
              </a:ext>
            </a:extLst>
          </p:cNvPr>
          <p:cNvSpPr>
            <a:spLocks noGrp="1"/>
          </p:cNvSpPr>
          <p:nvPr/>
        </p:nvSpPr>
        <p:spPr>
          <a:xfrm>
            <a:off x="6343650" y="2762250"/>
            <a:ext cx="2667000" cy="26670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2,880 per expert  MLP width</a:t>
            </a:r>
          </a:p>
        </p:txBody>
      </p:sp>
      <p:sp>
        <p:nvSpPr>
          <p:cNvPr id="53" name="64 query heads&#10;8 K/V heads     64 head width">
            <a:extLst>
              <a:ext uri="{FF2B5EF4-FFF2-40B4-BE49-F238E27FC236}">
                <a16:creationId xmlns:a16="http://schemas.microsoft.com/office/drawing/2014/main" id="{7A220F2D-1DB0-4B97-B83B-6F9D432976A4}"/>
              </a:ext>
            </a:extLst>
          </p:cNvPr>
          <p:cNvSpPr>
            <a:spLocks noGrp="1"/>
          </p:cNvSpPr>
          <p:nvPr/>
        </p:nvSpPr>
        <p:spPr>
          <a:xfrm>
            <a:off x="6343650" y="3143250"/>
            <a:ext cx="2667000" cy="47625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64 query heads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8 K/V heads     64 head width</a:t>
            </a:r>
          </a:p>
        </p:txBody>
      </p:sp>
      <p:sp>
        <p:nvSpPr>
          <p:cNvPr id="54" name="36 blocks&#10;131,072 token positions">
            <a:extLst>
              <a:ext uri="{FF2B5EF4-FFF2-40B4-BE49-F238E27FC236}">
                <a16:creationId xmlns:a16="http://schemas.microsoft.com/office/drawing/2014/main" id="{54A54FD4-A753-43D7-A4AB-327FDE1C589A}"/>
              </a:ext>
            </a:extLst>
          </p:cNvPr>
          <p:cNvSpPr>
            <a:spLocks noGrp="1"/>
          </p:cNvSpPr>
          <p:nvPr/>
        </p:nvSpPr>
        <p:spPr>
          <a:xfrm>
            <a:off x="6343650" y="3733800"/>
            <a:ext cx="2667000" cy="457200"/>
          </a:xfrm>
          <a:prstGeom prst="rect">
            <a:avLst/>
          </a:prstGeom>
          <a:noFill/>
          <a:ln w="0">
            <a:noFill/>
          </a:ln>
        </p:spPr>
        <p:txBody>
          <a:bodyPr lIns="0" tIns="0" rIns="0" bIns="0">
            <a:noAutofit/>
          </a:bodyPr>
          <a:lstStyle/>
          <a:p>
            <a:pPr algn="l">
              <a:defRPr sz="1425" b="0">
                <a:solidFill>
                  <a:srgbClr val="1E293B"/>
                </a:solidFill>
                <a:latin typeface="Calibri"/>
                <a:ea typeface="Calibri"/>
                <a:cs typeface="Calibri"/>
              </a:defRPr>
            </a:pPr>
            <a:r>
              <a:rPr sz="1425" b="0">
                <a:solidFill>
                  <a:srgbClr val="1E293B"/>
                </a:solidFill>
                <a:latin typeface="Calibri"/>
                <a:ea typeface="Calibri"/>
                <a:cs typeface="Calibri"/>
              </a:rPr>
              <a:t>36 blocks</a:t>
            </a:r>
          </a:p>
          <a:p>
            <a:pPr algn="l">
              <a:defRPr sz="1425" b="0">
                <a:solidFill>
                  <a:srgbClr val="1E293B"/>
                </a:solidFill>
                <a:latin typeface="Calibri"/>
                <a:ea typeface="Calibri"/>
                <a:cs typeface="Calibri"/>
              </a:defRPr>
            </a:pPr>
            <a:r>
              <a:rPr sz="1425" b="0">
                <a:solidFill>
                  <a:srgbClr val="1E293B"/>
                </a:solidFill>
                <a:latin typeface="Calibri"/>
                <a:ea typeface="Calibri"/>
                <a:cs typeface="Calibri"/>
              </a:rPr>
              <a:t>131,072 token positions</a:t>
            </a:r>
          </a:p>
        </p:txBody>
      </p:sp>
      <p:sp>
        <p:nvSpPr>
          <p:cNvPr id="55" name="Hidden width = values/token. MLP width = internal ">
            <a:extLst>
              <a:ext uri="{FF2B5EF4-FFF2-40B4-BE49-F238E27FC236}">
                <a16:creationId xmlns:a16="http://schemas.microsoft.com/office/drawing/2014/main" id="{2C77ED1D-2684-48A9-AAD0-E6891F919243}"/>
              </a:ext>
            </a:extLst>
          </p:cNvPr>
          <p:cNvSpPr>
            <a:spLocks noGrp="1"/>
          </p:cNvSpPr>
          <p:nvPr/>
        </p:nvSpPr>
        <p:spPr>
          <a:xfrm>
            <a:off x="381000" y="4295775"/>
            <a:ext cx="8382000" cy="581025"/>
          </a:xfrm>
          <a:prstGeom prst="rect">
            <a:avLst/>
          </a:prstGeom>
          <a:noFill/>
          <a:ln w="0">
            <a:noFill/>
          </a:ln>
        </p:spPr>
        <p:txBody>
          <a:bodyPr lIns="0" tIns="0" rIns="0" bIns="0">
            <a:noAutofit/>
          </a:bodyPr>
          <a:lstStyle/>
          <a:p>
            <a:pPr algn="l">
              <a:defRPr sz="1275" b="0">
                <a:solidFill>
                  <a:srgbClr val="065A82"/>
                </a:solidFill>
                <a:latin typeface="Calibri"/>
                <a:ea typeface="Calibri"/>
                <a:cs typeface="Calibri"/>
              </a:defRPr>
            </a:pPr>
            <a:r>
              <a:rPr sz="1275" b="0">
                <a:solidFill>
                  <a:srgbClr val="065A82"/>
                </a:solidFill>
                <a:latin typeface="Calibri"/>
                <a:ea typeface="Calibri"/>
                <a:cs typeface="Calibri"/>
              </a:rPr>
              <a:t>Hidden width = values/token. MLP width = internal expansion.</a:t>
            </a:r>
          </a:p>
          <a:p>
            <a:pPr algn="l">
              <a:defRPr sz="1275" b="0">
                <a:solidFill>
                  <a:srgbClr val="065A82"/>
                </a:solidFill>
                <a:latin typeface="Calibri"/>
                <a:ea typeface="Calibri"/>
                <a:cs typeface="Calibri"/>
              </a:defRPr>
            </a:pPr>
            <a:r>
              <a:rPr sz="1275" b="0">
                <a:solidFill>
                  <a:srgbClr val="065A82"/>
                </a:solidFill>
                <a:latin typeface="Calibri"/>
                <a:ea typeface="Calibri"/>
                <a:cs typeface="Calibri"/>
              </a:rPr>
              <a:t>Q/K/V head counts = attention sharing. Head width = values/head.</a:t>
            </a:r>
          </a:p>
          <a:p>
            <a:pPr algn="l">
              <a:defRPr sz="1275" b="0">
                <a:solidFill>
                  <a:srgbClr val="065A82"/>
                </a:solidFill>
                <a:latin typeface="Calibri"/>
                <a:ea typeface="Calibri"/>
                <a:cs typeface="Calibri"/>
              </a:defRPr>
            </a:pPr>
            <a:r>
              <a:rPr sz="1275" b="0">
                <a:solidFill>
                  <a:srgbClr val="065A82"/>
                </a:solidFill>
                <a:latin typeface="Calibri"/>
                <a:ea typeface="Calibri"/>
                <a:cs typeface="Calibri"/>
              </a:rPr>
              <a:t>Blocks = repeated stages. Position limit = context capacity, without fixed padding.</a:t>
            </a:r>
          </a:p>
        </p:txBody>
      </p:sp>
      <p:sp>
        <p:nvSpPr>
          <p:cNvPr id="56" name="Configuration sets structure. Weights encode learn">
            <a:extLst>
              <a:ext uri="{FF2B5EF4-FFF2-40B4-BE49-F238E27FC236}">
                <a16:creationId xmlns:a16="http://schemas.microsoft.com/office/drawing/2014/main" id="{53EC865A-F8EE-4784-A8AC-AB762078CD91}"/>
              </a:ext>
            </a:extLst>
          </p:cNvPr>
          <p:cNvSpPr>
            <a:spLocks noGrp="1"/>
          </p:cNvSpPr>
          <p:nvPr/>
        </p:nvSpPr>
        <p:spPr>
          <a:xfrm>
            <a:off x="381000" y="4924425"/>
            <a:ext cx="8382000" cy="209550"/>
          </a:xfrm>
          <a:prstGeom prst="rect">
            <a:avLst/>
          </a:prstGeom>
          <a:noFill/>
          <a:ln w="0">
            <a:noFill/>
          </a:ln>
        </p:spPr>
        <p:txBody>
          <a:bodyPr lIns="0" tIns="0" rIns="0" bIns="0">
            <a:noAutofit/>
          </a:bodyPr>
          <a:lstStyle/>
          <a:p>
            <a:pPr algn="l">
              <a:defRPr sz="1238" b="1">
                <a:solidFill>
                  <a:srgbClr val="0D2137"/>
                </a:solidFill>
                <a:latin typeface="Calibri"/>
                <a:ea typeface="Calibri"/>
                <a:cs typeface="Calibri"/>
              </a:defRPr>
            </a:pPr>
            <a:r>
              <a:rPr sz="1238" b="1">
                <a:solidFill>
                  <a:srgbClr val="0D2137"/>
                </a:solidFill>
                <a:latin typeface="Calibri"/>
                <a:ea typeface="Calibri"/>
                <a:cs typeface="Calibri"/>
              </a:rPr>
              <a:t>Configuration sets structure. Weights encode learning. Tokenizer maps text to IDs.</a:t>
            </a:r>
          </a:p>
        </p:txBody>
      </p:sp>
    </p:spTree>
    <p:extLst>
      <p:ext uri="{BB962C8B-B14F-4D97-AF65-F5344CB8AC3E}">
        <p14:creationId xmlns:p14="http://schemas.microsoft.com/office/powerpoint/2010/main" val="2061924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4201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Running the notebook in Colab</a:t>
            </a:r>
            <a:endParaRPr sz="1800"/>
          </a:p>
        </p:txBody>
      </p:sp>
      <p:sp>
        <p:nvSpPr>
          <p:cNvPr id="4" name="Notebook and five data files from GitHub">
            <a:extLst>
              <a:ext uri="{FF2B5EF4-FFF2-40B4-BE49-F238E27FC236}">
                <a16:creationId xmlns:a16="http://schemas.microsoft.com/office/drawing/2014/main" id="{C2FA88D1-24F6-4D94-A61C-20D85AF63372}"/>
              </a:ext>
            </a:extLst>
          </p:cNvPr>
          <p:cNvSpPr>
            <a:spLocks noGrp="1"/>
          </p:cNvSpPr>
          <p:nvPr/>
        </p:nvSpPr>
        <p:spPr>
          <a:xfrm>
            <a:off x="381000" y="485775"/>
            <a:ext cx="8382000" cy="276225"/>
          </a:xfrm>
          <a:prstGeom prst="rect">
            <a:avLst/>
          </a:prstGeom>
          <a:noFill/>
          <a:ln w="0">
            <a:noFill/>
          </a:ln>
        </p:spPr>
        <p:txBody>
          <a:bodyPr lIns="0" tIns="0" rIns="0" bIns="0">
            <a:noAutofit/>
          </a:bodyPr>
          <a:lstStyle/>
          <a:p>
            <a:pPr>
              <a:defRPr sz="1575" b="0">
                <a:solidFill>
                  <a:srgbClr val="F59E0B"/>
                </a:solidFill>
                <a:latin typeface="Calibri"/>
                <a:ea typeface="Calibri"/>
                <a:cs typeface="Calibri"/>
              </a:defRPr>
            </a:pPr>
            <a:r>
              <a:rPr sz="1575" b="0">
                <a:solidFill>
                  <a:srgbClr val="F59E0B"/>
                </a:solidFill>
                <a:latin typeface="Calibri"/>
                <a:ea typeface="Calibri"/>
                <a:cs typeface="Calibri"/>
              </a:rPr>
              <a:t>Notebook and five data files from GitHub</a:t>
            </a:r>
          </a:p>
        </p:txBody>
      </p:sp>
      <p:sp>
        <p:nvSpPr>
          <p:cNvPr id="5" name="1. Open the notebook">
            <a:extLst>
              <a:ext uri="{FF2B5EF4-FFF2-40B4-BE49-F238E27FC236}">
                <a16:creationId xmlns:a16="http://schemas.microsoft.com/office/drawing/2014/main" id="{2ED1F95C-680B-46F0-A719-7E2B621CD151}"/>
              </a:ext>
            </a:extLst>
          </p:cNvPr>
          <p:cNvSpPr>
            <a:spLocks noGrp="1"/>
          </p:cNvSpPr>
          <p:nvPr/>
        </p:nvSpPr>
        <p:spPr>
          <a:xfrm>
            <a:off x="381000" y="1047750"/>
            <a:ext cx="5286375" cy="276225"/>
          </a:xfrm>
          <a:prstGeom prst="rect">
            <a:avLst/>
          </a:prstGeom>
          <a:noFill/>
          <a:ln w="0">
            <a:noFill/>
          </a:ln>
        </p:spPr>
        <p:txBody>
          <a:bodyPr lIns="0" tIns="0" rIns="0" bIns="0">
            <a:noAutofit/>
          </a:bodyPr>
          <a:lstStyle/>
          <a:p>
            <a:pPr>
              <a:defRPr sz="1725" b="1">
                <a:solidFill>
                  <a:srgbClr val="0D2137"/>
                </a:solidFill>
                <a:latin typeface="Calibri"/>
                <a:ea typeface="Calibri"/>
                <a:cs typeface="Calibri"/>
              </a:defRPr>
            </a:pPr>
            <a:r>
              <a:rPr sz="1725" b="1">
                <a:solidFill>
                  <a:srgbClr val="0D2137"/>
                </a:solidFill>
                <a:latin typeface="Calibri"/>
                <a:ea typeface="Calibri"/>
                <a:cs typeface="Calibri"/>
              </a:rPr>
              <a:t>1. Open the notebook</a:t>
            </a:r>
          </a:p>
        </p:txBody>
      </p:sp>
      <p:sp>
        <p:nvSpPr>
          <p:cNvPr id="6" name="Use the Colab link and sign in.&#10;Choose “Copy to Drive” to save yo">
            <a:extLst>
              <a:ext uri="{FF2B5EF4-FFF2-40B4-BE49-F238E27FC236}">
                <a16:creationId xmlns:a16="http://schemas.microsoft.com/office/drawing/2014/main" id="{D4755F02-C605-4A42-A211-0204A29E20FC}"/>
              </a:ext>
            </a:extLst>
          </p:cNvPr>
          <p:cNvSpPr>
            <a:spLocks noGrp="1"/>
          </p:cNvSpPr>
          <p:nvPr/>
        </p:nvSpPr>
        <p:spPr>
          <a:xfrm>
            <a:off x="638175" y="1371600"/>
            <a:ext cx="4953000" cy="48577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Use the Colab link and sign in.</a:t>
            </a:r>
          </a:p>
          <a:p>
            <a:pPr>
              <a:defRPr sz="1425" b="0">
                <a:solidFill>
                  <a:srgbClr val="1E293B"/>
                </a:solidFill>
                <a:latin typeface="Calibri"/>
                <a:ea typeface="Calibri"/>
                <a:cs typeface="Calibri"/>
              </a:defRPr>
            </a:pPr>
            <a:r>
              <a:rPr sz="1425" b="0">
                <a:solidFill>
                  <a:srgbClr val="1E293B"/>
                </a:solidFill>
                <a:latin typeface="Calibri"/>
                <a:ea typeface="Calibri"/>
                <a:cs typeface="Calibri"/>
              </a:rPr>
              <a:t>Choose “Copy to Drive” to save your copy.</a:t>
            </a:r>
          </a:p>
        </p:txBody>
      </p:sp>
      <p:sp>
        <p:nvSpPr>
          <p:cNvPr id="7" name="2. Choose the runtime">
            <a:extLst>
              <a:ext uri="{FF2B5EF4-FFF2-40B4-BE49-F238E27FC236}">
                <a16:creationId xmlns:a16="http://schemas.microsoft.com/office/drawing/2014/main" id="{D63F2F19-80E0-4BD5-ABED-91B144EDC33B}"/>
              </a:ext>
            </a:extLst>
          </p:cNvPr>
          <p:cNvSpPr>
            <a:spLocks noGrp="1"/>
          </p:cNvSpPr>
          <p:nvPr/>
        </p:nvSpPr>
        <p:spPr>
          <a:xfrm>
            <a:off x="381000" y="1952625"/>
            <a:ext cx="5286375" cy="276225"/>
          </a:xfrm>
          <a:prstGeom prst="rect">
            <a:avLst/>
          </a:prstGeom>
          <a:noFill/>
          <a:ln w="0">
            <a:noFill/>
          </a:ln>
        </p:spPr>
        <p:txBody>
          <a:bodyPr lIns="0" tIns="0" rIns="0" bIns="0">
            <a:noAutofit/>
          </a:bodyPr>
          <a:lstStyle/>
          <a:p>
            <a:pPr>
              <a:defRPr sz="1725" b="1">
                <a:solidFill>
                  <a:srgbClr val="0D2137"/>
                </a:solidFill>
                <a:latin typeface="Calibri"/>
                <a:ea typeface="Calibri"/>
                <a:cs typeface="Calibri"/>
              </a:defRPr>
            </a:pPr>
            <a:r>
              <a:rPr sz="1725" b="1">
                <a:solidFill>
                  <a:srgbClr val="0D2137"/>
                </a:solidFill>
                <a:latin typeface="Calibri"/>
                <a:ea typeface="Calibri"/>
                <a:cs typeface="Calibri"/>
              </a:rPr>
              <a:t>2. Choose the runtime</a:t>
            </a:r>
          </a:p>
        </p:txBody>
      </p:sp>
      <p:sp>
        <p:nvSpPr>
          <p:cNvPr id="8" name="Runtime &gt; Change runtime type &gt; T4 GPU.&#10;Use CPU if a GPU is unava">
            <a:extLst>
              <a:ext uri="{FF2B5EF4-FFF2-40B4-BE49-F238E27FC236}">
                <a16:creationId xmlns:a16="http://schemas.microsoft.com/office/drawing/2014/main" id="{4454EFCE-132F-4EC6-A571-74A554CB8D24}"/>
              </a:ext>
            </a:extLst>
          </p:cNvPr>
          <p:cNvSpPr>
            <a:spLocks noGrp="1"/>
          </p:cNvSpPr>
          <p:nvPr/>
        </p:nvSpPr>
        <p:spPr>
          <a:xfrm>
            <a:off x="638175" y="2276475"/>
            <a:ext cx="4953000" cy="48577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Runtime &gt; Change runtime type &gt; T4 GPU.</a:t>
            </a:r>
          </a:p>
          <a:p>
            <a:pPr>
              <a:defRPr sz="1425" b="0">
                <a:solidFill>
                  <a:srgbClr val="1E293B"/>
                </a:solidFill>
                <a:latin typeface="Calibri"/>
                <a:ea typeface="Calibri"/>
                <a:cs typeface="Calibri"/>
              </a:defRPr>
            </a:pPr>
            <a:r>
              <a:rPr sz="1425" b="0">
                <a:solidFill>
                  <a:srgbClr val="1E293B"/>
                </a:solidFill>
                <a:latin typeface="Calibri"/>
                <a:ea typeface="Calibri"/>
                <a:cs typeface="Calibri"/>
              </a:rPr>
              <a:t>Use CPU if a GPU is unavailable.</a:t>
            </a:r>
          </a:p>
        </p:txBody>
      </p:sp>
      <p:sp>
        <p:nvSpPr>
          <p:cNvPr id="9" name="3. Upload the data">
            <a:extLst>
              <a:ext uri="{FF2B5EF4-FFF2-40B4-BE49-F238E27FC236}">
                <a16:creationId xmlns:a16="http://schemas.microsoft.com/office/drawing/2014/main" id="{91F79C57-3AF3-4912-8051-5195F9496A44}"/>
              </a:ext>
            </a:extLst>
          </p:cNvPr>
          <p:cNvSpPr>
            <a:spLocks noGrp="1"/>
          </p:cNvSpPr>
          <p:nvPr/>
        </p:nvSpPr>
        <p:spPr>
          <a:xfrm>
            <a:off x="381000" y="2857500"/>
            <a:ext cx="5286375" cy="276225"/>
          </a:xfrm>
          <a:prstGeom prst="rect">
            <a:avLst/>
          </a:prstGeom>
          <a:noFill/>
          <a:ln w="0">
            <a:noFill/>
          </a:ln>
        </p:spPr>
        <p:txBody>
          <a:bodyPr lIns="0" tIns="0" rIns="0" bIns="0">
            <a:noAutofit/>
          </a:bodyPr>
          <a:lstStyle/>
          <a:p>
            <a:pPr>
              <a:defRPr sz="1725" b="1">
                <a:solidFill>
                  <a:srgbClr val="0D2137"/>
                </a:solidFill>
                <a:latin typeface="Calibri"/>
                <a:ea typeface="Calibri"/>
                <a:cs typeface="Calibri"/>
              </a:defRPr>
            </a:pPr>
            <a:r>
              <a:rPr sz="1725" b="1">
                <a:solidFill>
                  <a:srgbClr val="0D2137"/>
                </a:solidFill>
                <a:latin typeface="Calibri"/>
                <a:ea typeface="Calibri"/>
                <a:cs typeface="Calibri"/>
              </a:rPr>
              <a:t>3. Upload the data</a:t>
            </a:r>
          </a:p>
        </p:txBody>
      </p:sp>
      <p:sp>
        <p:nvSpPr>
          <p:cNvPr id="10" name="GitHub: Code &gt; Download ZIP, then extract.&#10;Colab: Files &gt; Upload ">
            <a:extLst>
              <a:ext uri="{FF2B5EF4-FFF2-40B4-BE49-F238E27FC236}">
                <a16:creationId xmlns:a16="http://schemas.microsoft.com/office/drawing/2014/main" id="{BED8A31C-C072-4D96-82EF-77CC8D10158E}"/>
              </a:ext>
            </a:extLst>
          </p:cNvPr>
          <p:cNvSpPr>
            <a:spLocks noGrp="1"/>
          </p:cNvSpPr>
          <p:nvPr/>
        </p:nvSpPr>
        <p:spPr>
          <a:xfrm>
            <a:off x="638175" y="3181350"/>
            <a:ext cx="4953000" cy="48577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GitHub: Code &gt; Download ZIP, then extract.</a:t>
            </a:r>
          </a:p>
          <a:p>
            <a:pPr>
              <a:defRPr sz="1425" b="0">
                <a:solidFill>
                  <a:srgbClr val="1E293B"/>
                </a:solidFill>
                <a:latin typeface="Calibri"/>
                <a:ea typeface="Calibri"/>
                <a:cs typeface="Calibri"/>
              </a:defRPr>
            </a:pPr>
            <a:r>
              <a:rPr sz="1425" b="0">
                <a:solidFill>
                  <a:srgbClr val="1E293B"/>
                </a:solidFill>
                <a:latin typeface="Calibri"/>
                <a:ea typeface="Calibri"/>
                <a:cs typeface="Calibri"/>
              </a:rPr>
              <a:t>Colab: Files &gt; Upload all five JSONL files.</a:t>
            </a:r>
          </a:p>
        </p:txBody>
      </p:sp>
      <p:sp>
        <p:nvSpPr>
          <p:cNvPr id="11" name="4. Run the cells in order">
            <a:extLst>
              <a:ext uri="{FF2B5EF4-FFF2-40B4-BE49-F238E27FC236}">
                <a16:creationId xmlns:a16="http://schemas.microsoft.com/office/drawing/2014/main" id="{9B867772-9A84-4BF5-8846-E6DC17898D86}"/>
              </a:ext>
            </a:extLst>
          </p:cNvPr>
          <p:cNvSpPr>
            <a:spLocks noGrp="1"/>
          </p:cNvSpPr>
          <p:nvPr/>
        </p:nvSpPr>
        <p:spPr>
          <a:xfrm>
            <a:off x="381000" y="3762375"/>
            <a:ext cx="5286375" cy="276225"/>
          </a:xfrm>
          <a:prstGeom prst="rect">
            <a:avLst/>
          </a:prstGeom>
          <a:noFill/>
          <a:ln w="0">
            <a:noFill/>
          </a:ln>
        </p:spPr>
        <p:txBody>
          <a:bodyPr lIns="0" tIns="0" rIns="0" bIns="0">
            <a:noAutofit/>
          </a:bodyPr>
          <a:lstStyle/>
          <a:p>
            <a:pPr>
              <a:defRPr sz="1725" b="1">
                <a:solidFill>
                  <a:srgbClr val="0D2137"/>
                </a:solidFill>
                <a:latin typeface="Calibri"/>
                <a:ea typeface="Calibri"/>
                <a:cs typeface="Calibri"/>
              </a:defRPr>
            </a:pPr>
            <a:r>
              <a:rPr sz="1725" b="1">
                <a:solidFill>
                  <a:srgbClr val="0D2137"/>
                </a:solidFill>
                <a:latin typeface="Calibri"/>
                <a:ea typeface="Calibri"/>
                <a:cs typeface="Calibri"/>
              </a:rPr>
              <a:t>4. Run the cells in order</a:t>
            </a:r>
          </a:p>
        </p:txBody>
      </p:sp>
      <p:sp>
        <p:nvSpPr>
          <p:cNvPr id="12" name="Section 0: install, check dependencies, restart.&#10;Continue from se">
            <a:extLst>
              <a:ext uri="{FF2B5EF4-FFF2-40B4-BE49-F238E27FC236}">
                <a16:creationId xmlns:a16="http://schemas.microsoft.com/office/drawing/2014/main" id="{B2ACFACB-6290-4FCB-A2BA-E44B99C935BD}"/>
              </a:ext>
            </a:extLst>
          </p:cNvPr>
          <p:cNvSpPr>
            <a:spLocks noGrp="1"/>
          </p:cNvSpPr>
          <p:nvPr/>
        </p:nvSpPr>
        <p:spPr>
          <a:xfrm>
            <a:off x="638175" y="4086225"/>
            <a:ext cx="4953000" cy="48577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Section 0: install, check dependencies, restart.</a:t>
            </a:r>
          </a:p>
          <a:p>
            <a:pPr>
              <a:defRPr sz="1425" b="0">
                <a:solidFill>
                  <a:srgbClr val="1E293B"/>
                </a:solidFill>
                <a:latin typeface="Calibri"/>
                <a:ea typeface="Calibri"/>
                <a:cs typeface="Calibri"/>
              </a:defRPr>
            </a:pPr>
            <a:r>
              <a:rPr sz="1425" b="0">
                <a:solidFill>
                  <a:srgbClr val="1E293B"/>
                </a:solidFill>
                <a:latin typeface="Calibri"/>
                <a:ea typeface="Calibri"/>
                <a:cs typeface="Calibri"/>
              </a:rPr>
              <a:t>Continue from section 1 after restarting.</a:t>
            </a:r>
          </a:p>
        </p:txBody>
      </p:sp>
      <p:sp>
        <p:nvSpPr>
          <p:cNvPr id="13" name="Five files in /content">
            <a:extLst>
              <a:ext uri="{FF2B5EF4-FFF2-40B4-BE49-F238E27FC236}">
                <a16:creationId xmlns:a16="http://schemas.microsoft.com/office/drawing/2014/main" id="{F1160918-CAEE-49C9-A9F1-97EEE5EAB1E9}"/>
              </a:ext>
            </a:extLst>
          </p:cNvPr>
          <p:cNvSpPr>
            <a:spLocks noGrp="1"/>
          </p:cNvSpPr>
          <p:nvPr/>
        </p:nvSpPr>
        <p:spPr>
          <a:xfrm>
            <a:off x="5981700" y="1047750"/>
            <a:ext cx="2781300" cy="276225"/>
          </a:xfrm>
          <a:prstGeom prst="rect">
            <a:avLst/>
          </a:prstGeom>
          <a:noFill/>
          <a:ln w="0">
            <a:noFill/>
          </a:ln>
        </p:spPr>
        <p:txBody>
          <a:bodyPr lIns="0" tIns="0" rIns="0" bIns="0">
            <a:noAutofit/>
          </a:bodyPr>
          <a:lstStyle/>
          <a:p>
            <a:pPr>
              <a:defRPr sz="1725" b="1">
                <a:solidFill>
                  <a:srgbClr val="0D2137"/>
                </a:solidFill>
                <a:latin typeface="Calibri"/>
                <a:ea typeface="Calibri"/>
                <a:cs typeface="Calibri"/>
              </a:defRPr>
            </a:pPr>
            <a:r>
              <a:rPr sz="1725" b="1">
                <a:solidFill>
                  <a:srgbClr val="0D2137"/>
                </a:solidFill>
                <a:latin typeface="Calibri"/>
                <a:ea typeface="Calibri"/>
                <a:cs typeface="Calibri"/>
              </a:rPr>
              <a:t>Five files in /content</a:t>
            </a:r>
          </a:p>
        </p:txBody>
      </p:sp>
      <p:sp>
        <p:nvSpPr>
          <p:cNvPr id="14" name="iget_train_cpu.jsonl">
            <a:extLst>
              <a:ext uri="{FF2B5EF4-FFF2-40B4-BE49-F238E27FC236}">
                <a16:creationId xmlns:a16="http://schemas.microsoft.com/office/drawing/2014/main" id="{0CE4FC78-D4D2-43C1-9EF3-182ED9B1E630}"/>
              </a:ext>
            </a:extLst>
          </p:cNvPr>
          <p:cNvSpPr>
            <a:spLocks noGrp="1"/>
          </p:cNvSpPr>
          <p:nvPr/>
        </p:nvSpPr>
        <p:spPr>
          <a:xfrm>
            <a:off x="5981700" y="1428750"/>
            <a:ext cx="2781300" cy="23812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iget_train_cpu.jsonl</a:t>
            </a:r>
          </a:p>
        </p:txBody>
      </p:sp>
      <p:sp>
        <p:nvSpPr>
          <p:cNvPr id="15" name="iget_validation_cpu.jsonl">
            <a:extLst>
              <a:ext uri="{FF2B5EF4-FFF2-40B4-BE49-F238E27FC236}">
                <a16:creationId xmlns:a16="http://schemas.microsoft.com/office/drawing/2014/main" id="{73D9FABC-CCE1-4387-99EC-EC4DD631B93F}"/>
              </a:ext>
            </a:extLst>
          </p:cNvPr>
          <p:cNvSpPr>
            <a:spLocks noGrp="1"/>
          </p:cNvSpPr>
          <p:nvPr/>
        </p:nvSpPr>
        <p:spPr>
          <a:xfrm>
            <a:off x="5981700" y="1704975"/>
            <a:ext cx="2781300" cy="23812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iget_validation_cpu.jsonl</a:t>
            </a:r>
          </a:p>
        </p:txBody>
      </p:sp>
      <p:sp>
        <p:nvSpPr>
          <p:cNvPr id="16" name="iget_train_gpu.jsonl">
            <a:extLst>
              <a:ext uri="{FF2B5EF4-FFF2-40B4-BE49-F238E27FC236}">
                <a16:creationId xmlns:a16="http://schemas.microsoft.com/office/drawing/2014/main" id="{D9478004-550B-4D25-B7AD-982CF4DEE198}"/>
              </a:ext>
            </a:extLst>
          </p:cNvPr>
          <p:cNvSpPr>
            <a:spLocks noGrp="1"/>
          </p:cNvSpPr>
          <p:nvPr/>
        </p:nvSpPr>
        <p:spPr>
          <a:xfrm>
            <a:off x="5981700" y="1981200"/>
            <a:ext cx="2781300" cy="23812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iget_train_gpu.jsonl</a:t>
            </a:r>
          </a:p>
        </p:txBody>
      </p:sp>
      <p:sp>
        <p:nvSpPr>
          <p:cNvPr id="17" name="iget_validation_gpu.jsonl">
            <a:extLst>
              <a:ext uri="{FF2B5EF4-FFF2-40B4-BE49-F238E27FC236}">
                <a16:creationId xmlns:a16="http://schemas.microsoft.com/office/drawing/2014/main" id="{1E03A066-466E-49B4-A6D8-AA2832590AF5}"/>
              </a:ext>
            </a:extLst>
          </p:cNvPr>
          <p:cNvSpPr>
            <a:spLocks noGrp="1"/>
          </p:cNvSpPr>
          <p:nvPr/>
        </p:nvSpPr>
        <p:spPr>
          <a:xfrm>
            <a:off x="5981700" y="2257425"/>
            <a:ext cx="2781300" cy="23812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iget_validation_gpu.jsonl</a:t>
            </a:r>
          </a:p>
        </p:txBody>
      </p:sp>
      <p:sp>
        <p:nvSpPr>
          <p:cNvPr id="18" name="iget_test.jsonl">
            <a:extLst>
              <a:ext uri="{FF2B5EF4-FFF2-40B4-BE49-F238E27FC236}">
                <a16:creationId xmlns:a16="http://schemas.microsoft.com/office/drawing/2014/main" id="{384CCB41-E2FC-4F4A-95E3-A19AFC0545C9}"/>
              </a:ext>
            </a:extLst>
          </p:cNvPr>
          <p:cNvSpPr>
            <a:spLocks noGrp="1"/>
          </p:cNvSpPr>
          <p:nvPr/>
        </p:nvSpPr>
        <p:spPr>
          <a:xfrm>
            <a:off x="5981700" y="2533650"/>
            <a:ext cx="2781300" cy="238125"/>
          </a:xfrm>
          <a:prstGeom prst="rect">
            <a:avLst/>
          </a:prstGeom>
          <a:noFill/>
          <a:ln w="0">
            <a:noFill/>
          </a:ln>
        </p:spPr>
        <p:txBody>
          <a:bodyPr lIns="0" tIns="0" rIns="0" bIns="0">
            <a:noAutofit/>
          </a:bodyPr>
          <a:lstStyle/>
          <a:p>
            <a:pPr>
              <a:defRPr sz="1425" b="0">
                <a:solidFill>
                  <a:srgbClr val="1E293B"/>
                </a:solidFill>
                <a:latin typeface="Calibri"/>
                <a:ea typeface="Calibri"/>
                <a:cs typeface="Calibri"/>
              </a:defRPr>
            </a:pPr>
            <a:r>
              <a:rPr sz="1425" b="0">
                <a:solidFill>
                  <a:srgbClr val="1E293B"/>
                </a:solidFill>
                <a:latin typeface="Calibri"/>
                <a:ea typeface="Calibri"/>
                <a:cs typeface="Calibri"/>
              </a:rPr>
              <a:t>iget_test.jsonl</a:t>
            </a:r>
          </a:p>
        </p:txBody>
      </p:sp>
      <p:sp>
        <p:nvSpPr>
          <p:cNvPr id="19" name="Open in Colab">
            <a:extLst>
              <a:ext uri="{FF2B5EF4-FFF2-40B4-BE49-F238E27FC236}">
                <a16:creationId xmlns:a16="http://schemas.microsoft.com/office/drawing/2014/main" id="{EB4CB853-5020-49BC-BD05-260E6944FFA8}"/>
              </a:ext>
            </a:extLst>
          </p:cNvPr>
          <p:cNvSpPr>
            <a:spLocks noGrp="1"/>
          </p:cNvSpPr>
          <p:nvPr/>
        </p:nvSpPr>
        <p:spPr>
          <a:xfrm>
            <a:off x="5981700" y="2843212"/>
            <a:ext cx="2781300" cy="304800"/>
          </a:xfrm>
          <a:prstGeom prst="rect">
            <a:avLst/>
          </a:prstGeom>
          <a:noFill/>
          <a:ln w="0">
            <a:noFill/>
          </a:ln>
        </p:spPr>
        <p:txBody>
          <a:bodyPr lIns="0" tIns="0" rIns="0" bIns="0">
            <a:noAutofit/>
          </a:bodyPr>
          <a:lstStyle/>
          <a:p>
            <a:pPr>
              <a:defRPr sz="1875" b="1">
                <a:solidFill>
                  <a:srgbClr val="065A82"/>
                </a:solidFill>
                <a:latin typeface="Calibri"/>
                <a:ea typeface="Calibri"/>
                <a:cs typeface="Calibri"/>
              </a:defRPr>
            </a:pPr>
            <a:r>
              <a:rPr sz="1875" b="1" dirty="0">
                <a:solidFill>
                  <a:srgbClr val="065A82"/>
                </a:solidFill>
                <a:latin typeface="Calibri"/>
                <a:ea typeface="Calibri"/>
                <a:cs typeface="Calibri"/>
                <a:hlinkClick r:id="rId3"/>
              </a:rPr>
              <a:t>Open Colab</a:t>
            </a:r>
          </a:p>
        </p:txBody>
      </p:sp>
      <p:sp>
        <p:nvSpPr>
          <p:cNvPr id="20" name="GitHub repository">
            <a:extLst>
              <a:ext uri="{FF2B5EF4-FFF2-40B4-BE49-F238E27FC236}">
                <a16:creationId xmlns:a16="http://schemas.microsoft.com/office/drawing/2014/main" id="{7D76D9A3-65AE-4B44-8EA5-6A4FAE26FA6C}"/>
              </a:ext>
            </a:extLst>
          </p:cNvPr>
          <p:cNvSpPr>
            <a:spLocks noGrp="1"/>
          </p:cNvSpPr>
          <p:nvPr/>
        </p:nvSpPr>
        <p:spPr>
          <a:xfrm>
            <a:off x="5981700" y="3733549"/>
            <a:ext cx="2781300" cy="276225"/>
          </a:xfrm>
          <a:prstGeom prst="rect">
            <a:avLst/>
          </a:prstGeom>
          <a:noFill/>
          <a:ln w="0">
            <a:noFill/>
          </a:ln>
        </p:spPr>
        <p:txBody>
          <a:bodyPr lIns="0" tIns="0" rIns="0" bIns="0">
            <a:noAutofit/>
          </a:bodyPr>
          <a:lstStyle/>
          <a:p>
            <a:pPr>
              <a:defRPr sz="1650" b="1">
                <a:solidFill>
                  <a:srgbClr val="065A82"/>
                </a:solidFill>
                <a:latin typeface="Calibri"/>
                <a:ea typeface="Calibri"/>
                <a:cs typeface="Calibri"/>
              </a:defRPr>
            </a:pPr>
            <a:r>
              <a:rPr sz="1650" b="1" dirty="0">
                <a:solidFill>
                  <a:srgbClr val="065A82"/>
                </a:solidFill>
                <a:latin typeface="Calibri"/>
                <a:ea typeface="Calibri"/>
                <a:cs typeface="Calibri"/>
                <a:hlinkClick r:id="rId4"/>
              </a:rPr>
              <a:t>GitHub repository</a:t>
            </a:r>
          </a:p>
        </p:txBody>
      </p:sp>
      <p:sp>
        <p:nvSpPr>
          <p:cNvPr id="21" name="venkatesh-mohanram/&#10;qwen-fine-tuning">
            <a:extLst>
              <a:ext uri="{FF2B5EF4-FFF2-40B4-BE49-F238E27FC236}">
                <a16:creationId xmlns:a16="http://schemas.microsoft.com/office/drawing/2014/main" id="{41878EC4-704A-4FC9-B60D-2563B05FA869}"/>
              </a:ext>
            </a:extLst>
          </p:cNvPr>
          <p:cNvSpPr>
            <a:spLocks noGrp="1"/>
          </p:cNvSpPr>
          <p:nvPr/>
        </p:nvSpPr>
        <p:spPr>
          <a:xfrm>
            <a:off x="5981700" y="4057650"/>
            <a:ext cx="3171825" cy="466725"/>
          </a:xfrm>
          <a:prstGeom prst="rect">
            <a:avLst/>
          </a:prstGeom>
          <a:noFill/>
          <a:ln w="0">
            <a:noFill/>
          </a:ln>
        </p:spPr>
        <p:txBody>
          <a:bodyPr lIns="0" tIns="0" rIns="0" bIns="0">
            <a:noAutofit/>
          </a:bodyPr>
          <a:lstStyle/>
          <a:p>
            <a:pPr>
              <a:defRPr sz="1350" b="0">
                <a:solidFill>
                  <a:srgbClr val="64748B"/>
                </a:solidFill>
                <a:latin typeface="Calibri"/>
                <a:ea typeface="Calibri"/>
                <a:cs typeface="Calibri"/>
              </a:defRPr>
            </a:pPr>
            <a:r>
              <a:rPr lang="en-US" sz="1350" dirty="0">
                <a:solidFill>
                  <a:srgbClr val="64748B"/>
                </a:solidFill>
                <a:latin typeface="Calibri"/>
                <a:ea typeface="Calibri"/>
                <a:cs typeface="Calibri"/>
              </a:rPr>
              <a:t>https://</a:t>
            </a:r>
            <a:r>
              <a:rPr lang="en-US" sz="1350" dirty="0" err="1">
                <a:solidFill>
                  <a:srgbClr val="64748B"/>
                </a:solidFill>
                <a:latin typeface="Calibri"/>
                <a:ea typeface="Calibri"/>
                <a:cs typeface="Calibri"/>
              </a:rPr>
              <a:t>github.com</a:t>
            </a:r>
            <a:r>
              <a:rPr lang="en-US" sz="1350" dirty="0">
                <a:solidFill>
                  <a:srgbClr val="64748B"/>
                </a:solidFill>
                <a:latin typeface="Calibri"/>
                <a:ea typeface="Calibri"/>
                <a:cs typeface="Calibri"/>
              </a:rPr>
              <a:t>/</a:t>
            </a:r>
            <a:r>
              <a:rPr lang="en-US" sz="1350" dirty="0" err="1">
                <a:solidFill>
                  <a:srgbClr val="64748B"/>
                </a:solidFill>
                <a:latin typeface="Calibri"/>
                <a:ea typeface="Calibri"/>
                <a:cs typeface="Calibri"/>
              </a:rPr>
              <a:t>venkatesh-mohanram</a:t>
            </a:r>
            <a:r>
              <a:rPr lang="en-US" sz="1350" dirty="0">
                <a:solidFill>
                  <a:srgbClr val="64748B"/>
                </a:solidFill>
                <a:latin typeface="Calibri"/>
                <a:ea typeface="Calibri"/>
                <a:cs typeface="Calibri"/>
              </a:rPr>
              <a:t>/</a:t>
            </a:r>
            <a:r>
              <a:rPr lang="en-US" sz="1350" dirty="0" err="1">
                <a:solidFill>
                  <a:srgbClr val="64748B"/>
                </a:solidFill>
                <a:latin typeface="Calibri"/>
                <a:ea typeface="Calibri"/>
                <a:cs typeface="Calibri"/>
              </a:rPr>
              <a:t>qwen</a:t>
            </a:r>
            <a:r>
              <a:rPr lang="en-US" sz="1350" dirty="0">
                <a:solidFill>
                  <a:srgbClr val="64748B"/>
                </a:solidFill>
                <a:latin typeface="Calibri"/>
                <a:ea typeface="Calibri"/>
                <a:cs typeface="Calibri"/>
              </a:rPr>
              <a:t>-fine-tuning</a:t>
            </a:r>
            <a:endParaRPr sz="1350" b="0" dirty="0">
              <a:solidFill>
                <a:srgbClr val="64748B"/>
              </a:solidFill>
              <a:latin typeface="Calibri"/>
              <a:ea typeface="Calibri"/>
              <a:cs typeface="Calibri"/>
              <a:hlinkClick r:id="rId4"/>
            </a:endParaRPr>
          </a:p>
        </p:txBody>
      </p:sp>
      <p:sp>
        <p:nvSpPr>
          <p:cNvPr id="24" name="venkatesh-mohanram/&#10;qwen-fine-tuning">
            <a:extLst>
              <a:ext uri="{FF2B5EF4-FFF2-40B4-BE49-F238E27FC236}">
                <a16:creationId xmlns:a16="http://schemas.microsoft.com/office/drawing/2014/main" id="{074E6182-98F3-1AB2-020B-9251711448A2}"/>
              </a:ext>
            </a:extLst>
          </p:cNvPr>
          <p:cNvSpPr>
            <a:spLocks noGrp="1"/>
          </p:cNvSpPr>
          <p:nvPr/>
        </p:nvSpPr>
        <p:spPr>
          <a:xfrm>
            <a:off x="5981700" y="3181350"/>
            <a:ext cx="3171825" cy="466725"/>
          </a:xfrm>
          <a:prstGeom prst="rect">
            <a:avLst/>
          </a:prstGeom>
          <a:noFill/>
          <a:ln w="0">
            <a:noFill/>
          </a:ln>
        </p:spPr>
        <p:txBody>
          <a:bodyPr lIns="0" tIns="0" rIns="0" bIns="0">
            <a:noAutofit/>
          </a:bodyPr>
          <a:lstStyle/>
          <a:p>
            <a:pPr>
              <a:defRPr sz="1350" b="0">
                <a:solidFill>
                  <a:srgbClr val="64748B"/>
                </a:solidFill>
                <a:latin typeface="Calibri"/>
                <a:ea typeface="Calibri"/>
                <a:cs typeface="Calibri"/>
              </a:defRPr>
            </a:pPr>
            <a:r>
              <a:rPr lang="en-US" sz="1350" dirty="0">
                <a:solidFill>
                  <a:srgbClr val="64748B"/>
                </a:solidFill>
                <a:latin typeface="Calibri"/>
                <a:ea typeface="Calibri"/>
                <a:cs typeface="Calibri"/>
              </a:rPr>
              <a:t>https://</a:t>
            </a:r>
            <a:r>
              <a:rPr lang="en-US" sz="1350" dirty="0" err="1">
                <a:solidFill>
                  <a:srgbClr val="64748B"/>
                </a:solidFill>
                <a:latin typeface="Calibri"/>
                <a:ea typeface="Calibri"/>
                <a:cs typeface="Calibri"/>
              </a:rPr>
              <a:t>colab.research.google.com</a:t>
            </a:r>
            <a:endParaRPr sz="1350" b="0" dirty="0">
              <a:solidFill>
                <a:srgbClr val="64748B"/>
              </a:solidFill>
              <a:latin typeface="Calibri"/>
              <a:ea typeface="Calibri"/>
              <a:cs typeface="Calibri"/>
              <a:hlinkClick r:id="rId4"/>
            </a:endParaRPr>
          </a:p>
        </p:txBody>
      </p:sp>
    </p:spTree>
    <p:extLst>
      <p:ext uri="{BB962C8B-B14F-4D97-AF65-F5344CB8AC3E}">
        <p14:creationId xmlns:p14="http://schemas.microsoft.com/office/powerpoint/2010/main" val="2061924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19298-4CE8-48B2-AC7B-5B06FD0853EF}"/>
              </a:ext>
            </a:extLst>
          </p:cNvPr>
          <p:cNvSpPr>
            <a:spLocks noGrp="1"/>
          </p:cNvSpPr>
          <p:nvPr/>
        </p:nvSpPr>
        <p:spPr>
          <a:xfrm>
            <a:off x="0" y="0"/>
            <a:ext cx="9144000" cy="822960"/>
          </a:xfrm>
          <a:prstGeom prst="rect">
            <a:avLst/>
          </a:prstGeom>
          <a:solidFill>
            <a:srgbClr val="0D2137"/>
          </a:solidFill>
        </p:spPr>
        <p:txBody>
          <a:bodyPr/>
          <a:lstStyle/>
          <a:p>
            <a:endParaRPr lang="en-US"/>
          </a:p>
        </p:txBody>
      </p:sp>
      <p:sp>
        <p:nvSpPr>
          <p:cNvPr id="3" name="Text 1">
            <a:extLst>
              <a:ext uri="{FF2B5EF4-FFF2-40B4-BE49-F238E27FC236}">
                <a16:creationId xmlns:a16="http://schemas.microsoft.com/office/drawing/2014/main" id="{17307BFC-F017-4E92-A031-EAA0CB775AAC}"/>
              </a:ext>
            </a:extLst>
          </p:cNvPr>
          <p:cNvSpPr>
            <a:spLocks noGrp="1"/>
          </p:cNvSpPr>
          <p:nvPr/>
        </p:nvSpPr>
        <p:spPr>
          <a:xfrm>
            <a:off x="365760" y="104775"/>
            <a:ext cx="8420100" cy="352425"/>
          </a:xfrm>
          <a:prstGeom prst="rect">
            <a:avLst/>
          </a:prstGeom>
          <a:noFill/>
        </p:spPr>
        <p:txBody>
          <a:bodyPr wrap="square" lIns="0" tIns="0" rIns="0" bIns="0" anchor="ctr">
            <a:noAutofit/>
          </a:bodyPr>
          <a:lstStyle/>
          <a:p>
            <a:pPr marL="0" indent="0">
              <a:buNone/>
              <a:defRPr sz="2100" b="1">
                <a:solidFill>
                  <a:srgbClr val="FFFFFF"/>
                </a:solidFill>
                <a:latin typeface="Georgia"/>
                <a:ea typeface="Georgia"/>
                <a:cs typeface="Georgia"/>
              </a:defRPr>
            </a:pPr>
            <a:r>
              <a:rPr sz="2100" b="1">
                <a:solidFill>
                  <a:srgbClr val="FFFFFF"/>
                </a:solidFill>
                <a:latin typeface="Georgia"/>
                <a:ea typeface="Georgia"/>
                <a:cs typeface="Georgia"/>
              </a:rPr>
              <a:t>References &amp; Credits</a:t>
            </a:r>
            <a:endParaRPr sz="1800"/>
          </a:p>
        </p:txBody>
      </p:sp>
      <p:sp>
        <p:nvSpPr>
          <p:cNvPr id="4" name="Resources for further learning">
            <a:extLst>
              <a:ext uri="{FF2B5EF4-FFF2-40B4-BE49-F238E27FC236}">
                <a16:creationId xmlns:a16="http://schemas.microsoft.com/office/drawing/2014/main" id="{191E2E61-1A1A-4FE9-9086-3D025E29C2CF}"/>
              </a:ext>
            </a:extLst>
          </p:cNvPr>
          <p:cNvSpPr>
            <a:spLocks noGrp="1"/>
          </p:cNvSpPr>
          <p:nvPr/>
        </p:nvSpPr>
        <p:spPr>
          <a:xfrm>
            <a:off x="381000" y="485775"/>
            <a:ext cx="8382000" cy="276225"/>
          </a:xfrm>
          <a:prstGeom prst="rect">
            <a:avLst/>
          </a:prstGeom>
          <a:noFill/>
          <a:ln w="0">
            <a:noFill/>
          </a:ln>
        </p:spPr>
        <p:txBody>
          <a:bodyPr lIns="0" tIns="0" rIns="0" bIns="0">
            <a:noAutofit/>
          </a:bodyPr>
          <a:lstStyle/>
          <a:p>
            <a:pPr>
              <a:defRPr sz="1575" b="0">
                <a:solidFill>
                  <a:srgbClr val="F59E0B"/>
                </a:solidFill>
                <a:latin typeface="Calibri"/>
                <a:ea typeface="Calibri"/>
                <a:cs typeface="Calibri"/>
              </a:defRPr>
            </a:pPr>
            <a:r>
              <a:rPr sz="1575" b="0">
                <a:solidFill>
                  <a:srgbClr val="F59E0B"/>
                </a:solidFill>
                <a:latin typeface="Calibri"/>
                <a:ea typeface="Calibri"/>
                <a:cs typeface="Calibri"/>
              </a:rPr>
              <a:t>Resources for further learning</a:t>
            </a:r>
          </a:p>
        </p:txBody>
      </p:sp>
      <p:sp>
        <p:nvSpPr>
          <p:cNvPr id="5" name="https://www.youtube.com/watch?v=ZhAz268Hdpw">
            <a:extLst>
              <a:ext uri="{FF2B5EF4-FFF2-40B4-BE49-F238E27FC236}">
                <a16:creationId xmlns:a16="http://schemas.microsoft.com/office/drawing/2014/main" id="{487A5E00-76F0-4229-936C-088766B7B0EC}"/>
              </a:ext>
            </a:extLst>
          </p:cNvPr>
          <p:cNvSpPr>
            <a:spLocks noGrp="1"/>
          </p:cNvSpPr>
          <p:nvPr/>
        </p:nvSpPr>
        <p:spPr>
          <a:xfrm>
            <a:off x="523875" y="1711642"/>
            <a:ext cx="8096250" cy="381000"/>
          </a:xfrm>
          <a:prstGeom prst="rect">
            <a:avLst/>
          </a:prstGeom>
          <a:noFill/>
          <a:ln w="0">
            <a:noFill/>
          </a:ln>
        </p:spPr>
        <p:txBody>
          <a:bodyPr lIns="0" tIns="0" rIns="0" bIns="0">
            <a:noAutofit/>
          </a:bodyPr>
          <a:lstStyle/>
          <a:p>
            <a:pPr>
              <a:defRPr sz="1800" b="0">
                <a:solidFill>
                  <a:srgbClr val="065A82"/>
                </a:solidFill>
                <a:latin typeface="Calibri"/>
                <a:ea typeface="Calibri"/>
                <a:cs typeface="Calibri"/>
              </a:defRPr>
            </a:pPr>
            <a:r>
              <a:rPr sz="1800" b="0" dirty="0">
                <a:solidFill>
                  <a:srgbClr val="065A82"/>
                </a:solidFill>
                <a:latin typeface="Calibri"/>
                <a:ea typeface="Calibri"/>
                <a:cs typeface="Calibri"/>
                <a:hlinkClick r:id="rId3"/>
              </a:rPr>
              <a:t>https://www.youtube.com/watch?v=ZhAz268Hdpw</a:t>
            </a:r>
          </a:p>
        </p:txBody>
      </p:sp>
      <p:sp>
        <p:nvSpPr>
          <p:cNvPr id="6" name="https://www.youtube.com/watch?v=eMlx5fFNoYc">
            <a:extLst>
              <a:ext uri="{FF2B5EF4-FFF2-40B4-BE49-F238E27FC236}">
                <a16:creationId xmlns:a16="http://schemas.microsoft.com/office/drawing/2014/main" id="{58E6170F-3179-402F-88AE-E626488B9983}"/>
              </a:ext>
            </a:extLst>
          </p:cNvPr>
          <p:cNvSpPr>
            <a:spLocks noGrp="1"/>
          </p:cNvSpPr>
          <p:nvPr/>
        </p:nvSpPr>
        <p:spPr>
          <a:xfrm>
            <a:off x="523875" y="2152650"/>
            <a:ext cx="8096250" cy="381000"/>
          </a:xfrm>
          <a:prstGeom prst="rect">
            <a:avLst/>
          </a:prstGeom>
          <a:noFill/>
          <a:ln w="0">
            <a:noFill/>
          </a:ln>
        </p:spPr>
        <p:txBody>
          <a:bodyPr lIns="0" tIns="0" rIns="0" bIns="0">
            <a:noAutofit/>
          </a:bodyPr>
          <a:lstStyle/>
          <a:p>
            <a:pPr>
              <a:defRPr sz="1800" b="0">
                <a:solidFill>
                  <a:srgbClr val="065A82"/>
                </a:solidFill>
                <a:latin typeface="Calibri"/>
                <a:ea typeface="Calibri"/>
                <a:cs typeface="Calibri"/>
              </a:defRPr>
            </a:pPr>
            <a:r>
              <a:rPr sz="1800" b="0">
                <a:solidFill>
                  <a:srgbClr val="065A82"/>
                </a:solidFill>
                <a:latin typeface="Calibri"/>
                <a:ea typeface="Calibri"/>
                <a:cs typeface="Calibri"/>
                <a:hlinkClick r:id="rId4"/>
              </a:rPr>
              <a:t>https://www.youtube.com/watch?v=eMlx5fFNoYc</a:t>
            </a:r>
          </a:p>
        </p:txBody>
      </p:sp>
      <p:sp>
        <p:nvSpPr>
          <p:cNvPr id="7" name="https://www.youtube.com/watch?v=IIvORO248Zs">
            <a:extLst>
              <a:ext uri="{FF2B5EF4-FFF2-40B4-BE49-F238E27FC236}">
                <a16:creationId xmlns:a16="http://schemas.microsoft.com/office/drawing/2014/main" id="{07D9B369-0E37-4C88-805B-317E04F2523F}"/>
              </a:ext>
            </a:extLst>
          </p:cNvPr>
          <p:cNvSpPr>
            <a:spLocks noGrp="1"/>
          </p:cNvSpPr>
          <p:nvPr/>
        </p:nvSpPr>
        <p:spPr>
          <a:xfrm>
            <a:off x="523875" y="2540317"/>
            <a:ext cx="8096250" cy="381000"/>
          </a:xfrm>
          <a:prstGeom prst="rect">
            <a:avLst/>
          </a:prstGeom>
          <a:noFill/>
          <a:ln w="0">
            <a:noFill/>
          </a:ln>
        </p:spPr>
        <p:txBody>
          <a:bodyPr lIns="0" tIns="0" rIns="0" bIns="0">
            <a:noAutofit/>
          </a:bodyPr>
          <a:lstStyle/>
          <a:p>
            <a:pPr>
              <a:defRPr sz="1800" b="0">
                <a:solidFill>
                  <a:srgbClr val="065A82"/>
                </a:solidFill>
                <a:latin typeface="Calibri"/>
                <a:ea typeface="Calibri"/>
                <a:cs typeface="Calibri"/>
              </a:defRPr>
            </a:pPr>
            <a:r>
              <a:rPr sz="1800" b="0" dirty="0">
                <a:solidFill>
                  <a:srgbClr val="065A82"/>
                </a:solidFill>
                <a:latin typeface="Calibri"/>
                <a:ea typeface="Calibri"/>
                <a:cs typeface="Calibri"/>
                <a:hlinkClick r:id="rId5"/>
              </a:rPr>
              <a:t>https://www.youtube.com/watch?v=IIvORO248Zs</a:t>
            </a:r>
          </a:p>
        </p:txBody>
      </p:sp>
      <p:sp>
        <p:nvSpPr>
          <p:cNvPr id="8" name="https://poloclub.github.io/transformer-explainer/">
            <a:extLst>
              <a:ext uri="{FF2B5EF4-FFF2-40B4-BE49-F238E27FC236}">
                <a16:creationId xmlns:a16="http://schemas.microsoft.com/office/drawing/2014/main" id="{9F47CA4B-7CB7-45E8-AC50-9398587D13AD}"/>
              </a:ext>
            </a:extLst>
          </p:cNvPr>
          <p:cNvSpPr>
            <a:spLocks noGrp="1"/>
          </p:cNvSpPr>
          <p:nvPr/>
        </p:nvSpPr>
        <p:spPr>
          <a:xfrm>
            <a:off x="523875" y="2921317"/>
            <a:ext cx="8096250" cy="381000"/>
          </a:xfrm>
          <a:prstGeom prst="rect">
            <a:avLst/>
          </a:prstGeom>
          <a:noFill/>
          <a:ln w="0">
            <a:noFill/>
          </a:ln>
        </p:spPr>
        <p:txBody>
          <a:bodyPr lIns="0" tIns="0" rIns="0" bIns="0">
            <a:noAutofit/>
          </a:bodyPr>
          <a:lstStyle/>
          <a:p>
            <a:pPr>
              <a:defRPr sz="1800" b="0">
                <a:solidFill>
                  <a:srgbClr val="065A82"/>
                </a:solidFill>
                <a:latin typeface="Calibri"/>
                <a:ea typeface="Calibri"/>
                <a:cs typeface="Calibri"/>
              </a:defRPr>
            </a:pPr>
            <a:r>
              <a:rPr sz="1800" b="0" dirty="0">
                <a:solidFill>
                  <a:srgbClr val="065A82"/>
                </a:solidFill>
                <a:latin typeface="Calibri"/>
                <a:ea typeface="Calibri"/>
                <a:cs typeface="Calibri"/>
                <a:hlinkClick r:id="rId6"/>
              </a:rPr>
              <a:t>https://poloclub.github.io/transformer-explainer/</a:t>
            </a:r>
          </a:p>
        </p:txBody>
      </p:sp>
    </p:spTree>
    <p:extLst>
      <p:ext uri="{BB962C8B-B14F-4D97-AF65-F5344CB8AC3E}">
        <p14:creationId xmlns:p14="http://schemas.microsoft.com/office/powerpoint/2010/main" val="2061924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ECEF4BE-2C0C-478C-9E1B-3332D4452AE5}"/>
              </a:ext>
            </a:extLst>
          </p:cNvPr>
          <p:cNvSpPr>
            <a:spLocks noGrp="1"/>
          </p:cNvSpPr>
          <p:nvPr/>
        </p:nvSpPr>
        <p:spPr>
          <a:xfrm>
            <a:off x="0" y="0"/>
            <a:ext cx="365760" cy="5143500"/>
          </a:xfrm>
          <a:prstGeom prst="rect">
            <a:avLst/>
          </a:prstGeom>
          <a:solidFill>
            <a:srgbClr val="F59E0B"/>
          </a:solidFill>
        </p:spPr>
        <p:txBody>
          <a:bodyPr/>
          <a:lstStyle/>
          <a:p>
            <a:endParaRPr lang="en-US"/>
          </a:p>
        </p:txBody>
      </p:sp>
      <p:sp>
        <p:nvSpPr>
          <p:cNvPr id="3" name="Shape 1">
            <a:extLst>
              <a:ext uri="{FF2B5EF4-FFF2-40B4-BE49-F238E27FC236}">
                <a16:creationId xmlns:a16="http://schemas.microsoft.com/office/drawing/2014/main" id="{EB5BB9C3-761F-4145-B974-3EAB16627A6C}"/>
              </a:ext>
            </a:extLst>
          </p:cNvPr>
          <p:cNvSpPr>
            <a:spLocks noGrp="1"/>
          </p:cNvSpPr>
          <p:nvPr/>
        </p:nvSpPr>
        <p:spPr>
          <a:xfrm>
            <a:off x="6858000" y="-731520"/>
            <a:ext cx="3657600" cy="3657600"/>
          </a:xfrm>
          <a:prstGeom prst="ellipse">
            <a:avLst/>
          </a:prstGeom>
          <a:solidFill>
            <a:srgbClr val="065A82">
              <a:alpha val="40000"/>
            </a:srgbClr>
          </a:solidFill>
        </p:spPr>
        <p:txBody>
          <a:bodyPr/>
          <a:lstStyle/>
          <a:p>
            <a:endParaRPr lang="en-US"/>
          </a:p>
        </p:txBody>
      </p:sp>
      <p:sp>
        <p:nvSpPr>
          <p:cNvPr id="4" name="Shape 2">
            <a:extLst>
              <a:ext uri="{FF2B5EF4-FFF2-40B4-BE49-F238E27FC236}">
                <a16:creationId xmlns:a16="http://schemas.microsoft.com/office/drawing/2014/main" id="{6119ECBF-F232-4C68-87DD-5D317FC75901}"/>
              </a:ext>
            </a:extLst>
          </p:cNvPr>
          <p:cNvSpPr>
            <a:spLocks noGrp="1"/>
          </p:cNvSpPr>
          <p:nvPr/>
        </p:nvSpPr>
        <p:spPr>
          <a:xfrm>
            <a:off x="7772400" y="2286000"/>
            <a:ext cx="2286000" cy="2286000"/>
          </a:xfrm>
          <a:prstGeom prst="ellipse">
            <a:avLst/>
          </a:prstGeom>
          <a:solidFill>
            <a:srgbClr val="1C7293">
              <a:alpha val="50000"/>
            </a:srgbClr>
          </a:solidFill>
        </p:spPr>
        <p:txBody>
          <a:bodyPr/>
          <a:lstStyle/>
          <a:p>
            <a:endParaRPr lang="en-US"/>
          </a:p>
        </p:txBody>
      </p:sp>
      <p:pic>
        <p:nvPicPr>
          <p:cNvPr id="15" name="Image 0"/>
          <p:cNvPicPr>
            <a:picLocks noChangeAspect="1"/>
          </p:cNvPicPr>
          <p:nvPr/>
        </p:nvPicPr>
        <p:blipFill>
          <a:blip r:embed="rId3"/>
          <a:stretch>
            <a:fillRect/>
          </a:stretch>
        </p:blipFill>
        <p:spPr>
          <a:xfrm>
            <a:off x="7132320" y="914400"/>
            <a:ext cx="1645920" cy="1645920"/>
          </a:xfrm>
          <a:prstGeom prst="rect">
            <a:avLst/>
          </a:prstGeom>
        </p:spPr>
      </p:pic>
      <p:sp>
        <p:nvSpPr>
          <p:cNvPr id="6" name="Text 3">
            <a:extLst>
              <a:ext uri="{FF2B5EF4-FFF2-40B4-BE49-F238E27FC236}">
                <a16:creationId xmlns:a16="http://schemas.microsoft.com/office/drawing/2014/main" id="{2720397C-500B-4966-86EC-71A7513AE3C4}"/>
              </a:ext>
            </a:extLst>
          </p:cNvPr>
          <p:cNvSpPr>
            <a:spLocks noGrp="1"/>
          </p:cNvSpPr>
          <p:nvPr/>
        </p:nvSpPr>
        <p:spPr>
          <a:xfrm>
            <a:off x="640080" y="502920"/>
            <a:ext cx="5943600" cy="365760"/>
          </a:xfrm>
          <a:prstGeom prst="rect">
            <a:avLst/>
          </a:prstGeom>
          <a:noFill/>
        </p:spPr>
        <p:txBody>
          <a:bodyPr wrap="square" lIns="0" tIns="0" rIns="0" bIns="0" anchor="ctr"/>
          <a:lstStyle/>
          <a:p>
            <a:pPr marL="0" indent="0">
              <a:buNone/>
            </a:pPr>
            <a:r>
              <a:rPr sz="1100" b="1" spc="300">
                <a:solidFill>
                  <a:srgbClr val="F59E0B"/>
                </a:solidFill>
                <a:latin typeface="Calibri"/>
                <a:ea typeface="Calibri"/>
                <a:cs typeface="Calibri"/>
              </a:rPr>
              <a:t>IEEE TECHNICAL SESSION</a:t>
            </a:r>
            <a:endParaRPr sz="1100"/>
          </a:p>
        </p:txBody>
      </p:sp>
      <p:sp>
        <p:nvSpPr>
          <p:cNvPr id="7" name="Text 4">
            <a:extLst>
              <a:ext uri="{FF2B5EF4-FFF2-40B4-BE49-F238E27FC236}">
                <a16:creationId xmlns:a16="http://schemas.microsoft.com/office/drawing/2014/main" id="{B18B9009-65FC-4D4A-972A-157502A1FE56}"/>
              </a:ext>
            </a:extLst>
          </p:cNvPr>
          <p:cNvSpPr>
            <a:spLocks noGrp="1"/>
          </p:cNvSpPr>
          <p:nvPr/>
        </p:nvSpPr>
        <p:spPr>
          <a:xfrm>
            <a:off x="640080" y="1390650"/>
            <a:ext cx="6191250" cy="819150"/>
          </a:xfrm>
          <a:prstGeom prst="rect">
            <a:avLst/>
          </a:prstGeom>
          <a:noFill/>
        </p:spPr>
        <p:txBody>
          <a:bodyPr wrap="square" lIns="0" tIns="0" rIns="0" bIns="0" anchor="ctr">
            <a:noAutofit/>
          </a:bodyPr>
          <a:lstStyle/>
          <a:p>
            <a:pPr marL="0" indent="0">
              <a:buNone/>
              <a:defRPr sz="4800" b="1">
                <a:solidFill>
                  <a:srgbClr val="FFFFFF"/>
                </a:solidFill>
                <a:latin typeface="Georgia"/>
                <a:ea typeface="Georgia"/>
                <a:cs typeface="Georgia"/>
              </a:defRPr>
            </a:pPr>
            <a:r>
              <a:rPr sz="4800" b="1">
                <a:solidFill>
                  <a:srgbClr val="FFFFFF"/>
                </a:solidFill>
                <a:latin typeface="Georgia"/>
                <a:ea typeface="Georgia"/>
                <a:cs typeface="Georgia"/>
              </a:rPr>
              <a:t>Thank you</a:t>
            </a:r>
            <a:endParaRPr sz="4000"/>
          </a:p>
        </p:txBody>
      </p:sp>
      <p:sp>
        <p:nvSpPr>
          <p:cNvPr id="8" name="Text 5">
            <a:extLst>
              <a:ext uri="{FF2B5EF4-FFF2-40B4-BE49-F238E27FC236}">
                <a16:creationId xmlns:a16="http://schemas.microsoft.com/office/drawing/2014/main" id="{E376A970-E3C9-410C-A6B9-3972CDC4C00E}"/>
              </a:ext>
            </a:extLst>
          </p:cNvPr>
          <p:cNvSpPr>
            <a:spLocks noGrp="1"/>
          </p:cNvSpPr>
          <p:nvPr/>
        </p:nvSpPr>
        <p:spPr>
          <a:xfrm>
            <a:off x="640080" y="2514600"/>
            <a:ext cx="5715000" cy="600075"/>
          </a:xfrm>
          <a:prstGeom prst="rect">
            <a:avLst/>
          </a:prstGeom>
          <a:noFill/>
        </p:spPr>
        <p:txBody>
          <a:bodyPr wrap="square" lIns="0" tIns="0" rIns="0" bIns="0" anchor="ctr">
            <a:noAutofit/>
          </a:bodyPr>
          <a:lstStyle/>
          <a:p>
            <a:pPr marL="0" indent="0">
              <a:buNone/>
              <a:defRPr sz="3300">
                <a:solidFill>
                  <a:srgbClr val="F59E0B"/>
                </a:solidFill>
                <a:latin typeface="Calibri"/>
                <a:ea typeface="Calibri"/>
                <a:cs typeface="Calibri"/>
              </a:defRPr>
            </a:pPr>
            <a:r>
              <a:rPr sz="3300" i="1">
                <a:solidFill>
                  <a:srgbClr val="F59E0B"/>
                </a:solidFill>
                <a:latin typeface="Calibri"/>
                <a:ea typeface="Calibri"/>
                <a:cs typeface="Calibri"/>
              </a:rPr>
              <a:t>Q&amp;A</a:t>
            </a:r>
            <a:endParaRPr sz="2000"/>
          </a:p>
        </p:txBody>
      </p:sp>
      <p:sp>
        <p:nvSpPr>
          <p:cNvPr id="9" name="Shape 6">
            <a:extLst>
              <a:ext uri="{FF2B5EF4-FFF2-40B4-BE49-F238E27FC236}">
                <a16:creationId xmlns:a16="http://schemas.microsoft.com/office/drawing/2014/main" id="{CBB2DA6B-C626-4932-9D88-DFB83288CB14}"/>
              </a:ext>
            </a:extLst>
          </p:cNvPr>
          <p:cNvSpPr>
            <a:spLocks noGrp="1"/>
          </p:cNvSpPr>
          <p:nvPr/>
        </p:nvSpPr>
        <p:spPr>
          <a:xfrm>
            <a:off x="640080" y="3474720"/>
            <a:ext cx="5029200" cy="45720"/>
          </a:xfrm>
          <a:prstGeom prst="rect">
            <a:avLst/>
          </a:prstGeom>
          <a:solidFill>
            <a:srgbClr val="1C7293"/>
          </a:solidFill>
        </p:spPr>
        <p:txBody>
          <a:bodyPr/>
          <a:lstStyle/>
          <a:p>
            <a:endParaRPr lang="en-US"/>
          </a:p>
        </p:txBody>
      </p:sp>
      <p:sp>
        <p:nvSpPr>
          <p:cNvPr id="10" name="Text 7">
            <a:extLst>
              <a:ext uri="{FF2B5EF4-FFF2-40B4-BE49-F238E27FC236}">
                <a16:creationId xmlns:a16="http://schemas.microsoft.com/office/drawing/2014/main" id="{14FAF3F3-6CF1-4D97-A5BC-ECCC2E4FB8F9}"/>
              </a:ext>
            </a:extLst>
          </p:cNvPr>
          <p:cNvSpPr>
            <a:spLocks noGrp="1"/>
          </p:cNvSpPr>
          <p:nvPr/>
        </p:nvSpPr>
        <p:spPr>
          <a:xfrm>
            <a:off x="640080" y="3914775"/>
            <a:ext cx="6000750" cy="428625"/>
          </a:xfrm>
          <a:prstGeom prst="rect">
            <a:avLst/>
          </a:prstGeom>
          <a:noFill/>
        </p:spPr>
        <p:txBody>
          <a:bodyPr wrap="square" lIns="0" tIns="0" rIns="0" bIns="0" anchor="ctr">
            <a:noAutofit/>
          </a:bodyPr>
          <a:lstStyle/>
          <a:p>
            <a:pPr marL="0" indent="0">
              <a:buNone/>
              <a:defRPr sz="1650">
                <a:solidFill>
                  <a:srgbClr val="BCD0E0"/>
                </a:solidFill>
                <a:latin typeface="Calibri"/>
                <a:ea typeface="Calibri"/>
                <a:cs typeface="Calibri"/>
              </a:defRPr>
            </a:pPr>
            <a:r>
              <a:rPr sz="1650">
                <a:solidFill>
                  <a:srgbClr val="BCD0E0"/>
                </a:solidFill>
                <a:latin typeface="Calibri"/>
                <a:ea typeface="Calibri"/>
                <a:cs typeface="Calibri"/>
              </a:rPr>
              <a:t>Venkatesh Mohanram</a:t>
            </a:r>
            <a:endParaRPr sz="1300"/>
          </a:p>
        </p:txBody>
      </p:sp>
    </p:spTree>
    <p:extLst>
      <p:ext uri="{BB962C8B-B14F-4D97-AF65-F5344CB8AC3E}">
        <p14:creationId xmlns:p14="http://schemas.microsoft.com/office/powerpoint/2010/main" val="1125435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31</TotalTime>
  <Words>16077</Words>
  <Application>Microsoft Macintosh PowerPoint</Application>
  <DocSecurity>0</DocSecurity>
  <PresentationFormat>On-screen Show (16:9)</PresentationFormat>
  <Paragraphs>954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Venkatesh Mohanram</cp:lastModifiedBy>
  <cp:revision>12</cp:revision>
  <dcterms:created xsi:type="dcterms:W3CDTF">2026-10-19T20:02:59Z</dcterms:created>
  <dcterms:modified xsi:type="dcterms:W3CDTF">2026-10-19T21:21:07Z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Office Theme:4</vt:lpwstr>
  </property>
  <property fmtid="{D5CDD505-2E9C-101B-9397-08002B2CF9AE}" pid="5" name="ClassificationContentMarkingHeaderText">
    <vt:lpwstr>Confidential - Oracle Restricted \Employees Only</vt:lpwstr>
  </property>
</Properties>
</file>